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C648C3-4146-45C8-8AC1-81EAC208F0D3}" v="27" dt="2026-09-17T16:35:34.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3447" autoAdjust="0"/>
  </p:normalViewPr>
  <p:slideViewPr>
    <p:cSldViewPr snapToGrid="0" snapToObjects="1">
      <p:cViewPr varScale="1">
        <p:scale>
          <a:sx n="63" d="100"/>
          <a:sy n="63" d="100"/>
        </p:scale>
        <p:origin x="8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ra Elizabeth Villamarin Mendez" userId="aec40f8d-d04b-44fb-9d76-6d86c6acb92d" providerId="ADAL" clId="{543B53C6-AB9C-4B6F-AC93-78F0324FCE23}"/>
    <pc:docChg chg="undo custSel modSld">
      <pc:chgData name="Sandra Elizabeth Villamarin Mendez" userId="aec40f8d-d04b-44fb-9d76-6d86c6acb92d" providerId="ADAL" clId="{543B53C6-AB9C-4B6F-AC93-78F0324FCE23}" dt="2026-09-17T16:59:39.522" v="1738" actId="20577"/>
      <pc:docMkLst>
        <pc:docMk/>
      </pc:docMkLst>
      <pc:sldChg chg="addSp delSp modSp mod">
        <pc:chgData name="Sandra Elizabeth Villamarin Mendez" userId="aec40f8d-d04b-44fb-9d76-6d86c6acb92d" providerId="ADAL" clId="{543B53C6-AB9C-4B6F-AC93-78F0324FCE23}" dt="2026-09-17T16:43:13.550" v="1726" actId="20577"/>
        <pc:sldMkLst>
          <pc:docMk/>
          <pc:sldMk cId="0" sldId="258"/>
        </pc:sldMkLst>
        <pc:spChg chg="mod">
          <ac:chgData name="Sandra Elizabeth Villamarin Mendez" userId="aec40f8d-d04b-44fb-9d76-6d86c6acb92d" providerId="ADAL" clId="{543B53C6-AB9C-4B6F-AC93-78F0324FCE23}" dt="2026-09-17T16:43:13.550" v="1726" actId="20577"/>
          <ac:spMkLst>
            <pc:docMk/>
            <pc:sldMk cId="0" sldId="258"/>
            <ac:spMk id="6" creationId="{00000000-0000-0000-0000-000000000000}"/>
          </ac:spMkLst>
        </pc:spChg>
        <pc:spChg chg="mod">
          <ac:chgData name="Sandra Elizabeth Villamarin Mendez" userId="aec40f8d-d04b-44fb-9d76-6d86c6acb92d" providerId="ADAL" clId="{543B53C6-AB9C-4B6F-AC93-78F0324FCE23}" dt="2026-09-16T17:56:52.938" v="72" actId="20577"/>
          <ac:spMkLst>
            <pc:docMk/>
            <pc:sldMk cId="0" sldId="258"/>
            <ac:spMk id="14" creationId="{00000000-0000-0000-0000-000000000000}"/>
          </ac:spMkLst>
        </pc:spChg>
        <pc:spChg chg="mod">
          <ac:chgData name="Sandra Elizabeth Villamarin Mendez" userId="aec40f8d-d04b-44fb-9d76-6d86c6acb92d" providerId="ADAL" clId="{543B53C6-AB9C-4B6F-AC93-78F0324FCE23}" dt="2026-09-16T17:58:10.836" v="85" actId="20577"/>
          <ac:spMkLst>
            <pc:docMk/>
            <pc:sldMk cId="0" sldId="258"/>
            <ac:spMk id="18" creationId="{00000000-0000-0000-0000-000000000000}"/>
          </ac:spMkLst>
        </pc:spChg>
        <pc:spChg chg="mod">
          <ac:chgData name="Sandra Elizabeth Villamarin Mendez" userId="aec40f8d-d04b-44fb-9d76-6d86c6acb92d" providerId="ADAL" clId="{543B53C6-AB9C-4B6F-AC93-78F0324FCE23}" dt="2026-09-16T18:00:24.367" v="144" actId="20577"/>
          <ac:spMkLst>
            <pc:docMk/>
            <pc:sldMk cId="0" sldId="258"/>
            <ac:spMk id="24" creationId="{00000000-0000-0000-0000-000000000000}"/>
          </ac:spMkLst>
        </pc:spChg>
        <pc:spChg chg="mod">
          <ac:chgData name="Sandra Elizabeth Villamarin Mendez" userId="aec40f8d-d04b-44fb-9d76-6d86c6acb92d" providerId="ADAL" clId="{543B53C6-AB9C-4B6F-AC93-78F0324FCE23}" dt="2026-09-16T18:00:49.604" v="159" actId="20577"/>
          <ac:spMkLst>
            <pc:docMk/>
            <pc:sldMk cId="0" sldId="258"/>
            <ac:spMk id="27" creationId="{00000000-0000-0000-0000-000000000000}"/>
          </ac:spMkLst>
        </pc:spChg>
        <pc:spChg chg="add del mod">
          <ac:chgData name="Sandra Elizabeth Villamarin Mendez" userId="aec40f8d-d04b-44fb-9d76-6d86c6acb92d" providerId="ADAL" clId="{543B53C6-AB9C-4B6F-AC93-78F0324FCE23}" dt="2026-09-17T16:19:04.237" v="1500"/>
          <ac:spMkLst>
            <pc:docMk/>
            <pc:sldMk cId="0" sldId="258"/>
            <ac:spMk id="30" creationId="{5918332E-BA83-56F8-6230-927D1354ED9E}"/>
          </ac:spMkLst>
        </pc:spChg>
      </pc:sldChg>
      <pc:sldChg chg="addSp delSp modSp mod">
        <pc:chgData name="Sandra Elizabeth Villamarin Mendez" userId="aec40f8d-d04b-44fb-9d76-6d86c6acb92d" providerId="ADAL" clId="{543B53C6-AB9C-4B6F-AC93-78F0324FCE23}" dt="2026-09-17T16:47:31.232" v="1731" actId="108"/>
        <pc:sldMkLst>
          <pc:docMk/>
          <pc:sldMk cId="0" sldId="259"/>
        </pc:sldMkLst>
        <pc:spChg chg="add del">
          <ac:chgData name="Sandra Elizabeth Villamarin Mendez" userId="aec40f8d-d04b-44fb-9d76-6d86c6acb92d" providerId="ADAL" clId="{543B53C6-AB9C-4B6F-AC93-78F0324FCE23}" dt="2026-09-16T19:46:29.582" v="168" actId="478"/>
          <ac:spMkLst>
            <pc:docMk/>
            <pc:sldMk cId="0" sldId="259"/>
            <ac:spMk id="30" creationId="{00000000-0000-0000-0000-000000000000}"/>
          </ac:spMkLst>
        </pc:spChg>
        <pc:spChg chg="add del">
          <ac:chgData name="Sandra Elizabeth Villamarin Mendez" userId="aec40f8d-d04b-44fb-9d76-6d86c6acb92d" providerId="ADAL" clId="{543B53C6-AB9C-4B6F-AC93-78F0324FCE23}" dt="2026-09-16T19:46:30.421" v="171" actId="478"/>
          <ac:spMkLst>
            <pc:docMk/>
            <pc:sldMk cId="0" sldId="259"/>
            <ac:spMk id="31" creationId="{00000000-0000-0000-0000-000000000000}"/>
          </ac:spMkLst>
        </pc:spChg>
        <pc:spChg chg="add del mod">
          <ac:chgData name="Sandra Elizabeth Villamarin Mendez" userId="aec40f8d-d04b-44fb-9d76-6d86c6acb92d" providerId="ADAL" clId="{543B53C6-AB9C-4B6F-AC93-78F0324FCE23}" dt="2026-09-17T16:47:31.232" v="1731" actId="108"/>
          <ac:spMkLst>
            <pc:docMk/>
            <pc:sldMk cId="0" sldId="259"/>
            <ac:spMk id="32" creationId="{00000000-0000-0000-0000-000000000000}"/>
          </ac:spMkLst>
        </pc:spChg>
        <pc:spChg chg="mod">
          <ac:chgData name="Sandra Elizabeth Villamarin Mendez" userId="aec40f8d-d04b-44fb-9d76-6d86c6acb92d" providerId="ADAL" clId="{543B53C6-AB9C-4B6F-AC93-78F0324FCE23}" dt="2026-09-16T19:50:09.405" v="417" actId="20577"/>
          <ac:spMkLst>
            <pc:docMk/>
            <pc:sldMk cId="0" sldId="259"/>
            <ac:spMk id="33" creationId="{00000000-0000-0000-0000-000000000000}"/>
          </ac:spMkLst>
        </pc:spChg>
      </pc:sldChg>
      <pc:sldChg chg="addSp delSp modSp mod">
        <pc:chgData name="Sandra Elizabeth Villamarin Mendez" userId="aec40f8d-d04b-44fb-9d76-6d86c6acb92d" providerId="ADAL" clId="{543B53C6-AB9C-4B6F-AC93-78F0324FCE23}" dt="2026-09-16T22:10:09.976" v="1221" actId="20577"/>
        <pc:sldMkLst>
          <pc:docMk/>
          <pc:sldMk cId="0" sldId="260"/>
        </pc:sldMkLst>
        <pc:spChg chg="mod">
          <ac:chgData name="Sandra Elizabeth Villamarin Mendez" userId="aec40f8d-d04b-44fb-9d76-6d86c6acb92d" providerId="ADAL" clId="{543B53C6-AB9C-4B6F-AC93-78F0324FCE23}" dt="2026-09-16T22:10:09.976" v="1221" actId="20577"/>
          <ac:spMkLst>
            <pc:docMk/>
            <pc:sldMk cId="0" sldId="260"/>
            <ac:spMk id="2"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3"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4"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5"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6"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7" creationId="{00000000-0000-0000-0000-000000000000}"/>
          </ac:spMkLst>
        </pc:spChg>
        <pc:spChg chg="mod">
          <ac:chgData name="Sandra Elizabeth Villamarin Mendez" userId="aec40f8d-d04b-44fb-9d76-6d86c6acb92d" providerId="ADAL" clId="{543B53C6-AB9C-4B6F-AC93-78F0324FCE23}" dt="2026-09-16T19:55:54.678" v="459" actId="1036"/>
          <ac:spMkLst>
            <pc:docMk/>
            <pc:sldMk cId="0" sldId="260"/>
            <ac:spMk id="8" creationId="{00000000-0000-0000-0000-000000000000}"/>
          </ac:spMkLst>
        </pc:spChg>
        <pc:spChg chg="add mod">
          <ac:chgData name="Sandra Elizabeth Villamarin Mendez" userId="aec40f8d-d04b-44fb-9d76-6d86c6acb92d" providerId="ADAL" clId="{543B53C6-AB9C-4B6F-AC93-78F0324FCE23}" dt="2026-09-16T19:56:10.676" v="465" actId="14100"/>
          <ac:spMkLst>
            <pc:docMk/>
            <pc:sldMk cId="0" sldId="260"/>
            <ac:spMk id="12" creationId="{9EC7FD07-C959-870B-ECBD-4D2D2A17ECE9}"/>
          </ac:spMkLst>
        </pc:spChg>
        <pc:spChg chg="add mod">
          <ac:chgData name="Sandra Elizabeth Villamarin Mendez" userId="aec40f8d-d04b-44fb-9d76-6d86c6acb92d" providerId="ADAL" clId="{543B53C6-AB9C-4B6F-AC93-78F0324FCE23}" dt="2026-09-16T20:02:02.188" v="475" actId="113"/>
          <ac:spMkLst>
            <pc:docMk/>
            <pc:sldMk cId="0" sldId="260"/>
            <ac:spMk id="14" creationId="{D9AFE78D-A6DB-1009-98B3-B27E429BD59B}"/>
          </ac:spMkLst>
        </pc:spChg>
        <pc:spChg chg="add mod">
          <ac:chgData name="Sandra Elizabeth Villamarin Mendez" userId="aec40f8d-d04b-44fb-9d76-6d86c6acb92d" providerId="ADAL" clId="{543B53C6-AB9C-4B6F-AC93-78F0324FCE23}" dt="2026-09-16T20:04:20.901" v="491"/>
          <ac:spMkLst>
            <pc:docMk/>
            <pc:sldMk cId="0" sldId="260"/>
            <ac:spMk id="16" creationId="{5167F1BA-9770-DFC7-0B3C-BB59D5ACE5B7}"/>
          </ac:spMkLst>
        </pc:spChg>
        <pc:picChg chg="add del">
          <ac:chgData name="Sandra Elizabeth Villamarin Mendez" userId="aec40f8d-d04b-44fb-9d76-6d86c6acb92d" providerId="ADAL" clId="{543B53C6-AB9C-4B6F-AC93-78F0324FCE23}" dt="2026-09-16T20:02:49.910" v="484" actId="22"/>
          <ac:picMkLst>
            <pc:docMk/>
            <pc:sldMk cId="0" sldId="260"/>
            <ac:picMk id="18" creationId="{A00D4DB6-A10F-299B-6B81-27C21E583E4D}"/>
          </ac:picMkLst>
        </pc:picChg>
      </pc:sldChg>
      <pc:sldChg chg="delSp modSp mod">
        <pc:chgData name="Sandra Elizabeth Villamarin Mendez" userId="aec40f8d-d04b-44fb-9d76-6d86c6acb92d" providerId="ADAL" clId="{543B53C6-AB9C-4B6F-AC93-78F0324FCE23}" dt="2026-09-17T16:52:44.874" v="1734" actId="478"/>
        <pc:sldMkLst>
          <pc:docMk/>
          <pc:sldMk cId="0" sldId="262"/>
        </pc:sldMkLst>
        <pc:spChg chg="del">
          <ac:chgData name="Sandra Elizabeth Villamarin Mendez" userId="aec40f8d-d04b-44fb-9d76-6d86c6acb92d" providerId="ADAL" clId="{543B53C6-AB9C-4B6F-AC93-78F0324FCE23}" dt="2026-09-17T16:52:44.874" v="1734" actId="478"/>
          <ac:spMkLst>
            <pc:docMk/>
            <pc:sldMk cId="0" sldId="262"/>
            <ac:spMk id="43" creationId="{00000000-0000-0000-0000-000000000000}"/>
          </ac:spMkLst>
        </pc:spChg>
        <pc:spChg chg="del mod">
          <ac:chgData name="Sandra Elizabeth Villamarin Mendez" userId="aec40f8d-d04b-44fb-9d76-6d86c6acb92d" providerId="ADAL" clId="{543B53C6-AB9C-4B6F-AC93-78F0324FCE23}" dt="2026-09-17T16:52:43.176" v="1733" actId="478"/>
          <ac:spMkLst>
            <pc:docMk/>
            <pc:sldMk cId="0" sldId="262"/>
            <ac:spMk id="44" creationId="{00000000-0000-0000-0000-000000000000}"/>
          </ac:spMkLst>
        </pc:spChg>
      </pc:sldChg>
      <pc:sldChg chg="addSp modSp mod">
        <pc:chgData name="Sandra Elizabeth Villamarin Mendez" userId="aec40f8d-d04b-44fb-9d76-6d86c6acb92d" providerId="ADAL" clId="{543B53C6-AB9C-4B6F-AC93-78F0324FCE23}" dt="2026-09-16T22:25:34.083" v="1439" actId="1076"/>
        <pc:sldMkLst>
          <pc:docMk/>
          <pc:sldMk cId="0" sldId="263"/>
        </pc:sldMkLst>
        <pc:spChg chg="add mod">
          <ac:chgData name="Sandra Elizabeth Villamarin Mendez" userId="aec40f8d-d04b-44fb-9d76-6d86c6acb92d" providerId="ADAL" clId="{543B53C6-AB9C-4B6F-AC93-78F0324FCE23}" dt="2026-09-16T22:25:34.083" v="1439" actId="1076"/>
          <ac:spMkLst>
            <pc:docMk/>
            <pc:sldMk cId="0" sldId="263"/>
            <ac:spMk id="13" creationId="{4799D82D-513E-33C6-8A63-87386BAE7A6A}"/>
          </ac:spMkLst>
        </pc:spChg>
        <pc:spChg chg="add mod">
          <ac:chgData name="Sandra Elizabeth Villamarin Mendez" userId="aec40f8d-d04b-44fb-9d76-6d86c6acb92d" providerId="ADAL" clId="{543B53C6-AB9C-4B6F-AC93-78F0324FCE23}" dt="2026-09-16T22:25:28.968" v="1438" actId="20577"/>
          <ac:spMkLst>
            <pc:docMk/>
            <pc:sldMk cId="0" sldId="263"/>
            <ac:spMk id="14" creationId="{9D47A613-4F8E-CEF7-328C-4DD0DF4F1662}"/>
          </ac:spMkLst>
        </pc:spChg>
      </pc:sldChg>
      <pc:sldChg chg="addSp modSp mod">
        <pc:chgData name="Sandra Elizabeth Villamarin Mendez" userId="aec40f8d-d04b-44fb-9d76-6d86c6acb92d" providerId="ADAL" clId="{543B53C6-AB9C-4B6F-AC93-78F0324FCE23}" dt="2026-09-17T16:59:39.522" v="1738" actId="20577"/>
        <pc:sldMkLst>
          <pc:docMk/>
          <pc:sldMk cId="0" sldId="264"/>
        </pc:sldMkLst>
        <pc:spChg chg="mod">
          <ac:chgData name="Sandra Elizabeth Villamarin Mendez" userId="aec40f8d-d04b-44fb-9d76-6d86c6acb92d" providerId="ADAL" clId="{543B53C6-AB9C-4B6F-AC93-78F0324FCE23}" dt="2026-09-17T16:59:39.522" v="1738" actId="20577"/>
          <ac:spMkLst>
            <pc:docMk/>
            <pc:sldMk cId="0" sldId="264"/>
            <ac:spMk id="7" creationId="{00000000-0000-0000-0000-000000000000}"/>
          </ac:spMkLst>
        </pc:spChg>
        <pc:spChg chg="mod">
          <ac:chgData name="Sandra Elizabeth Villamarin Mendez" userId="aec40f8d-d04b-44fb-9d76-6d86c6acb92d" providerId="ADAL" clId="{543B53C6-AB9C-4B6F-AC93-78F0324FCE23}" dt="2026-09-16T20:27:16.616" v="531" actId="20577"/>
          <ac:spMkLst>
            <pc:docMk/>
            <pc:sldMk cId="0" sldId="264"/>
            <ac:spMk id="10" creationId="{00000000-0000-0000-0000-000000000000}"/>
          </ac:spMkLst>
        </pc:spChg>
        <pc:spChg chg="mod">
          <ac:chgData name="Sandra Elizabeth Villamarin Mendez" userId="aec40f8d-d04b-44fb-9d76-6d86c6acb92d" providerId="ADAL" clId="{543B53C6-AB9C-4B6F-AC93-78F0324FCE23}" dt="2026-09-16T20:34:48.683" v="568" actId="108"/>
          <ac:spMkLst>
            <pc:docMk/>
            <pc:sldMk cId="0" sldId="264"/>
            <ac:spMk id="20" creationId="{00000000-0000-0000-0000-000000000000}"/>
          </ac:spMkLst>
        </pc:spChg>
        <pc:spChg chg="mod">
          <ac:chgData name="Sandra Elizabeth Villamarin Mendez" userId="aec40f8d-d04b-44fb-9d76-6d86c6acb92d" providerId="ADAL" clId="{543B53C6-AB9C-4B6F-AC93-78F0324FCE23}" dt="2026-09-16T20:35:40.464" v="603" actId="20577"/>
          <ac:spMkLst>
            <pc:docMk/>
            <pc:sldMk cId="0" sldId="264"/>
            <ac:spMk id="21" creationId="{00000000-0000-0000-0000-000000000000}"/>
          </ac:spMkLst>
        </pc:spChg>
        <pc:spChg chg="add mod">
          <ac:chgData name="Sandra Elizabeth Villamarin Mendez" userId="aec40f8d-d04b-44fb-9d76-6d86c6acb92d" providerId="ADAL" clId="{543B53C6-AB9C-4B6F-AC93-78F0324FCE23}" dt="2026-09-16T20:32:22.982" v="549" actId="1076"/>
          <ac:spMkLst>
            <pc:docMk/>
            <pc:sldMk cId="0" sldId="264"/>
            <ac:spMk id="25" creationId="{7BFC9642-58EB-8389-6D3D-3B9C03BDC99F}"/>
          </ac:spMkLst>
        </pc:spChg>
      </pc:sldChg>
      <pc:sldChg chg="addSp delSp modSp mod">
        <pc:chgData name="Sandra Elizabeth Villamarin Mendez" userId="aec40f8d-d04b-44fb-9d76-6d86c6acb92d" providerId="ADAL" clId="{543B53C6-AB9C-4B6F-AC93-78F0324FCE23}" dt="2026-09-16T20:48:46.875" v="639" actId="113"/>
        <pc:sldMkLst>
          <pc:docMk/>
          <pc:sldMk cId="0" sldId="265"/>
        </pc:sldMkLst>
        <pc:spChg chg="mod">
          <ac:chgData name="Sandra Elizabeth Villamarin Mendez" userId="aec40f8d-d04b-44fb-9d76-6d86c6acb92d" providerId="ADAL" clId="{543B53C6-AB9C-4B6F-AC93-78F0324FCE23}" dt="2026-09-16T20:45:46.073" v="618" actId="1076"/>
          <ac:spMkLst>
            <pc:docMk/>
            <pc:sldMk cId="0" sldId="265"/>
            <ac:spMk id="11" creationId="{00000000-0000-0000-0000-000000000000}"/>
          </ac:spMkLst>
        </pc:spChg>
        <pc:graphicFrameChg chg="mod">
          <ac:chgData name="Sandra Elizabeth Villamarin Mendez" userId="aec40f8d-d04b-44fb-9d76-6d86c6acb92d" providerId="ADAL" clId="{543B53C6-AB9C-4B6F-AC93-78F0324FCE23}" dt="2026-09-16T20:48:46.875" v="639" actId="113"/>
          <ac:graphicFrameMkLst>
            <pc:docMk/>
            <pc:sldMk cId="0" sldId="265"/>
            <ac:graphicFrameMk id="10" creationId="{00000000-0000-0000-0000-000000000000}"/>
          </ac:graphicFrameMkLst>
        </pc:graphicFrameChg>
        <pc:picChg chg="add del mod">
          <ac:chgData name="Sandra Elizabeth Villamarin Mendez" userId="aec40f8d-d04b-44fb-9d76-6d86c6acb92d" providerId="ADAL" clId="{543B53C6-AB9C-4B6F-AC93-78F0324FCE23}" dt="2026-09-16T20:46:50.891" v="622" actId="478"/>
          <ac:picMkLst>
            <pc:docMk/>
            <pc:sldMk cId="0" sldId="265"/>
            <ac:picMk id="14" creationId="{6BE93D0F-D60A-9FAE-F211-BE82F89F6308}"/>
          </ac:picMkLst>
        </pc:picChg>
        <pc:picChg chg="add del mod">
          <ac:chgData name="Sandra Elizabeth Villamarin Mendez" userId="aec40f8d-d04b-44fb-9d76-6d86c6acb92d" providerId="ADAL" clId="{543B53C6-AB9C-4B6F-AC93-78F0324FCE23}" dt="2026-09-16T20:47:05.329" v="630" actId="478"/>
          <ac:picMkLst>
            <pc:docMk/>
            <pc:sldMk cId="0" sldId="265"/>
            <ac:picMk id="15" creationId="{2A7A5C2D-58F6-C9D1-C532-4BA8A2EA453F}"/>
          </ac:picMkLst>
        </pc:picChg>
        <pc:picChg chg="add mod">
          <ac:chgData name="Sandra Elizabeth Villamarin Mendez" userId="aec40f8d-d04b-44fb-9d76-6d86c6acb92d" providerId="ADAL" clId="{543B53C6-AB9C-4B6F-AC93-78F0324FCE23}" dt="2026-09-16T20:48:41.113" v="636" actId="1076"/>
          <ac:picMkLst>
            <pc:docMk/>
            <pc:sldMk cId="0" sldId="265"/>
            <ac:picMk id="16" creationId="{02A9038B-8F9D-9347-84A2-CCC5C012B621}"/>
          </ac:picMkLst>
        </pc:picChg>
      </pc:sldChg>
      <pc:sldChg chg="modSp mod">
        <pc:chgData name="Sandra Elizabeth Villamarin Mendez" userId="aec40f8d-d04b-44fb-9d76-6d86c6acb92d" providerId="ADAL" clId="{543B53C6-AB9C-4B6F-AC93-78F0324FCE23}" dt="2026-09-17T04:01:33.753" v="1490" actId="20577"/>
        <pc:sldMkLst>
          <pc:docMk/>
          <pc:sldMk cId="0" sldId="266"/>
        </pc:sldMkLst>
        <pc:spChg chg="mod">
          <ac:chgData name="Sandra Elizabeth Villamarin Mendez" userId="aec40f8d-d04b-44fb-9d76-6d86c6acb92d" providerId="ADAL" clId="{543B53C6-AB9C-4B6F-AC93-78F0324FCE23}" dt="2026-09-17T04:01:24.663" v="1485" actId="20577"/>
          <ac:spMkLst>
            <pc:docMk/>
            <pc:sldMk cId="0" sldId="266"/>
            <ac:spMk id="3" creationId="{00000000-0000-0000-0000-000000000000}"/>
          </ac:spMkLst>
        </pc:spChg>
        <pc:spChg chg="mod">
          <ac:chgData name="Sandra Elizabeth Villamarin Mendez" userId="aec40f8d-d04b-44fb-9d76-6d86c6acb92d" providerId="ADAL" clId="{543B53C6-AB9C-4B6F-AC93-78F0324FCE23}" dt="2026-09-17T04:01:33.753" v="1490" actId="20577"/>
          <ac:spMkLst>
            <pc:docMk/>
            <pc:sldMk cId="0" sldId="266"/>
            <ac:spMk id="10" creationId="{00000000-0000-0000-0000-000000000000}"/>
          </ac:spMkLst>
        </pc:spChg>
        <pc:spChg chg="mod">
          <ac:chgData name="Sandra Elizabeth Villamarin Mendez" userId="aec40f8d-d04b-44fb-9d76-6d86c6acb92d" providerId="ADAL" clId="{543B53C6-AB9C-4B6F-AC93-78F0324FCE23}" dt="2026-09-16T21:01:30.474" v="815" actId="20577"/>
          <ac:spMkLst>
            <pc:docMk/>
            <pc:sldMk cId="0" sldId="266"/>
            <ac:spMk id="12" creationId="{00000000-0000-0000-0000-000000000000}"/>
          </ac:spMkLst>
        </pc:spChg>
        <pc:spChg chg="mod">
          <ac:chgData name="Sandra Elizabeth Villamarin Mendez" userId="aec40f8d-d04b-44fb-9d76-6d86c6acb92d" providerId="ADAL" clId="{543B53C6-AB9C-4B6F-AC93-78F0324FCE23}" dt="2026-09-16T21:09:37.749" v="845" actId="20577"/>
          <ac:spMkLst>
            <pc:docMk/>
            <pc:sldMk cId="0" sldId="266"/>
            <ac:spMk id="13" creationId="{00000000-0000-0000-0000-000000000000}"/>
          </ac:spMkLst>
        </pc:spChg>
      </pc:sldChg>
      <pc:sldChg chg="modSp mod">
        <pc:chgData name="Sandra Elizabeth Villamarin Mendez" userId="aec40f8d-d04b-44fb-9d76-6d86c6acb92d" providerId="ADAL" clId="{543B53C6-AB9C-4B6F-AC93-78F0324FCE23}" dt="2026-09-16T21:10:50.048" v="856" actId="20577"/>
        <pc:sldMkLst>
          <pc:docMk/>
          <pc:sldMk cId="0" sldId="267"/>
        </pc:sldMkLst>
        <pc:spChg chg="mod">
          <ac:chgData name="Sandra Elizabeth Villamarin Mendez" userId="aec40f8d-d04b-44fb-9d76-6d86c6acb92d" providerId="ADAL" clId="{543B53C6-AB9C-4B6F-AC93-78F0324FCE23}" dt="2026-09-16T21:10:50.048" v="856" actId="20577"/>
          <ac:spMkLst>
            <pc:docMk/>
            <pc:sldMk cId="0" sldId="267"/>
            <ac:spMk id="21" creationId="{00000000-0000-0000-0000-000000000000}"/>
          </ac:spMkLst>
        </pc:spChg>
      </pc:sldChg>
      <pc:sldChg chg="addSp modSp mod">
        <pc:chgData name="Sandra Elizabeth Villamarin Mendez" userId="aec40f8d-d04b-44fb-9d76-6d86c6acb92d" providerId="ADAL" clId="{543B53C6-AB9C-4B6F-AC93-78F0324FCE23}" dt="2026-09-16T21:12:50.733" v="879" actId="14100"/>
        <pc:sldMkLst>
          <pc:docMk/>
          <pc:sldMk cId="0" sldId="268"/>
        </pc:sldMkLst>
        <pc:spChg chg="add mod">
          <ac:chgData name="Sandra Elizabeth Villamarin Mendez" userId="aec40f8d-d04b-44fb-9d76-6d86c6acb92d" providerId="ADAL" clId="{543B53C6-AB9C-4B6F-AC93-78F0324FCE23}" dt="2026-09-16T21:11:47.356" v="875" actId="1076"/>
          <ac:spMkLst>
            <pc:docMk/>
            <pc:sldMk cId="0" sldId="268"/>
            <ac:spMk id="27" creationId="{FB7D60B9-9EB4-8602-1C3B-CD7F813FFBAA}"/>
          </ac:spMkLst>
        </pc:spChg>
        <pc:picChg chg="mod">
          <ac:chgData name="Sandra Elizabeth Villamarin Mendez" userId="aec40f8d-d04b-44fb-9d76-6d86c6acb92d" providerId="ADAL" clId="{543B53C6-AB9C-4B6F-AC93-78F0324FCE23}" dt="2026-09-16T21:12:50.733" v="879" actId="14100"/>
          <ac:picMkLst>
            <pc:docMk/>
            <pc:sldMk cId="0" sldId="268"/>
            <ac:picMk id="22" creationId="{00000000-0000-0000-0000-000000000000}"/>
          </ac:picMkLst>
        </pc:picChg>
      </pc:sldChg>
      <pc:sldChg chg="modSp mod">
        <pc:chgData name="Sandra Elizabeth Villamarin Mendez" userId="aec40f8d-d04b-44fb-9d76-6d86c6acb92d" providerId="ADAL" clId="{543B53C6-AB9C-4B6F-AC93-78F0324FCE23}" dt="2026-09-16T21:33:08.354" v="919" actId="5793"/>
        <pc:sldMkLst>
          <pc:docMk/>
          <pc:sldMk cId="0" sldId="269"/>
        </pc:sldMkLst>
        <pc:spChg chg="mod">
          <ac:chgData name="Sandra Elizabeth Villamarin Mendez" userId="aec40f8d-d04b-44fb-9d76-6d86c6acb92d" providerId="ADAL" clId="{543B53C6-AB9C-4B6F-AC93-78F0324FCE23}" dt="2026-09-16T21:33:08.354" v="919" actId="5793"/>
          <ac:spMkLst>
            <pc:docMk/>
            <pc:sldMk cId="0" sldId="269"/>
            <ac:spMk id="21" creationId="{00000000-0000-0000-0000-000000000000}"/>
          </ac:spMkLst>
        </pc:spChg>
      </pc:sldChg>
      <pc:sldChg chg="addSp modSp mod">
        <pc:chgData name="Sandra Elizabeth Villamarin Mendez" userId="aec40f8d-d04b-44fb-9d76-6d86c6acb92d" providerId="ADAL" clId="{543B53C6-AB9C-4B6F-AC93-78F0324FCE23}" dt="2026-09-16T21:58:02.391" v="1055" actId="20577"/>
        <pc:sldMkLst>
          <pc:docMk/>
          <pc:sldMk cId="0" sldId="270"/>
        </pc:sldMkLst>
        <pc:spChg chg="mod">
          <ac:chgData name="Sandra Elizabeth Villamarin Mendez" userId="aec40f8d-d04b-44fb-9d76-6d86c6acb92d" providerId="ADAL" clId="{543B53C6-AB9C-4B6F-AC93-78F0324FCE23}" dt="2026-09-16T21:38:09.989" v="942" actId="20577"/>
          <ac:spMkLst>
            <pc:docMk/>
            <pc:sldMk cId="0" sldId="270"/>
            <ac:spMk id="12" creationId="{00000000-0000-0000-0000-000000000000}"/>
          </ac:spMkLst>
        </pc:spChg>
        <pc:spChg chg="mod">
          <ac:chgData name="Sandra Elizabeth Villamarin Mendez" userId="aec40f8d-d04b-44fb-9d76-6d86c6acb92d" providerId="ADAL" clId="{543B53C6-AB9C-4B6F-AC93-78F0324FCE23}" dt="2026-09-16T21:43:27.135" v="946" actId="1076"/>
          <ac:spMkLst>
            <pc:docMk/>
            <pc:sldMk cId="0" sldId="270"/>
            <ac:spMk id="17" creationId="{00000000-0000-0000-0000-000000000000}"/>
          </ac:spMkLst>
        </pc:spChg>
        <pc:spChg chg="mod">
          <ac:chgData name="Sandra Elizabeth Villamarin Mendez" userId="aec40f8d-d04b-44fb-9d76-6d86c6acb92d" providerId="ADAL" clId="{543B53C6-AB9C-4B6F-AC93-78F0324FCE23}" dt="2026-09-16T21:45:59.098" v="966" actId="20577"/>
          <ac:spMkLst>
            <pc:docMk/>
            <pc:sldMk cId="0" sldId="270"/>
            <ac:spMk id="31" creationId="{00000000-0000-0000-0000-000000000000}"/>
          </ac:spMkLst>
        </pc:spChg>
        <pc:spChg chg="mod">
          <ac:chgData name="Sandra Elizabeth Villamarin Mendez" userId="aec40f8d-d04b-44fb-9d76-6d86c6acb92d" providerId="ADAL" clId="{543B53C6-AB9C-4B6F-AC93-78F0324FCE23}" dt="2026-09-16T21:46:25.390" v="1008" actId="20577"/>
          <ac:spMkLst>
            <pc:docMk/>
            <pc:sldMk cId="0" sldId="270"/>
            <ac:spMk id="32" creationId="{00000000-0000-0000-0000-000000000000}"/>
          </ac:spMkLst>
        </pc:spChg>
        <pc:spChg chg="mod">
          <ac:chgData name="Sandra Elizabeth Villamarin Mendez" userId="aec40f8d-d04b-44fb-9d76-6d86c6acb92d" providerId="ADAL" clId="{543B53C6-AB9C-4B6F-AC93-78F0324FCE23}" dt="2026-09-16T21:46:38.225" v="1009" actId="1076"/>
          <ac:spMkLst>
            <pc:docMk/>
            <pc:sldMk cId="0" sldId="270"/>
            <ac:spMk id="33" creationId="{00000000-0000-0000-0000-000000000000}"/>
          </ac:spMkLst>
        </pc:spChg>
        <pc:spChg chg="mod">
          <ac:chgData name="Sandra Elizabeth Villamarin Mendez" userId="aec40f8d-d04b-44fb-9d76-6d86c6acb92d" providerId="ADAL" clId="{543B53C6-AB9C-4B6F-AC93-78F0324FCE23}" dt="2026-09-16T21:58:02.391" v="1055" actId="20577"/>
          <ac:spMkLst>
            <pc:docMk/>
            <pc:sldMk cId="0" sldId="270"/>
            <ac:spMk id="37" creationId="{00000000-0000-0000-0000-000000000000}"/>
          </ac:spMkLst>
        </pc:spChg>
        <pc:picChg chg="add mod">
          <ac:chgData name="Sandra Elizabeth Villamarin Mendez" userId="aec40f8d-d04b-44fb-9d76-6d86c6acb92d" providerId="ADAL" clId="{543B53C6-AB9C-4B6F-AC93-78F0324FCE23}" dt="2026-09-16T21:43:37.689" v="952" actId="1076"/>
          <ac:picMkLst>
            <pc:docMk/>
            <pc:sldMk cId="0" sldId="270"/>
            <ac:picMk id="46" creationId="{4E521057-21BA-8417-ED2B-2413C58DB13C}"/>
          </ac:picMkLst>
        </pc:picChg>
      </pc:sldChg>
      <pc:sldChg chg="modSp mod">
        <pc:chgData name="Sandra Elizabeth Villamarin Mendez" userId="aec40f8d-d04b-44fb-9d76-6d86c6acb92d" providerId="ADAL" clId="{543B53C6-AB9C-4B6F-AC93-78F0324FCE23}" dt="2026-09-16T22:06:26.155" v="1194" actId="20577"/>
        <pc:sldMkLst>
          <pc:docMk/>
          <pc:sldMk cId="0" sldId="271"/>
        </pc:sldMkLst>
        <pc:spChg chg="mod">
          <ac:chgData name="Sandra Elizabeth Villamarin Mendez" userId="aec40f8d-d04b-44fb-9d76-6d86c6acb92d" providerId="ADAL" clId="{543B53C6-AB9C-4B6F-AC93-78F0324FCE23}" dt="2026-09-16T21:58:37.920" v="1065" actId="20577"/>
          <ac:spMkLst>
            <pc:docMk/>
            <pc:sldMk cId="0" sldId="271"/>
            <ac:spMk id="2" creationId="{00000000-0000-0000-0000-000000000000}"/>
          </ac:spMkLst>
        </pc:spChg>
        <pc:spChg chg="mod">
          <ac:chgData name="Sandra Elizabeth Villamarin Mendez" userId="aec40f8d-d04b-44fb-9d76-6d86c6acb92d" providerId="ADAL" clId="{543B53C6-AB9C-4B6F-AC93-78F0324FCE23}" dt="2026-09-16T21:58:53.505" v="1066" actId="20577"/>
          <ac:spMkLst>
            <pc:docMk/>
            <pc:sldMk cId="0" sldId="271"/>
            <ac:spMk id="3" creationId="{00000000-0000-0000-0000-000000000000}"/>
          </ac:spMkLst>
        </pc:spChg>
        <pc:spChg chg="mod">
          <ac:chgData name="Sandra Elizabeth Villamarin Mendez" userId="aec40f8d-d04b-44fb-9d76-6d86c6acb92d" providerId="ADAL" clId="{543B53C6-AB9C-4B6F-AC93-78F0324FCE23}" dt="2026-09-16T22:06:26.155" v="1194" actId="20577"/>
          <ac:spMkLst>
            <pc:docMk/>
            <pc:sldMk cId="0" sldId="271"/>
            <ac:spMk id="20" creationId="{00000000-0000-0000-0000-000000000000}"/>
          </ac:spMkLst>
        </pc:spChg>
      </pc:sldChg>
      <pc:sldChg chg="modSp mod">
        <pc:chgData name="Sandra Elizabeth Villamarin Mendez" userId="aec40f8d-d04b-44fb-9d76-6d86c6acb92d" providerId="ADAL" clId="{543B53C6-AB9C-4B6F-AC93-78F0324FCE23}" dt="2026-09-17T16:23:43.088" v="1539" actId="20577"/>
        <pc:sldMkLst>
          <pc:docMk/>
          <pc:sldMk cId="0" sldId="272"/>
        </pc:sldMkLst>
        <pc:spChg chg="mod">
          <ac:chgData name="Sandra Elizabeth Villamarin Mendez" userId="aec40f8d-d04b-44fb-9d76-6d86c6acb92d" providerId="ADAL" clId="{543B53C6-AB9C-4B6F-AC93-78F0324FCE23}" dt="2026-09-16T22:07:08.592" v="1198" actId="403"/>
          <ac:spMkLst>
            <pc:docMk/>
            <pc:sldMk cId="0" sldId="272"/>
            <ac:spMk id="6" creationId="{00000000-0000-0000-0000-000000000000}"/>
          </ac:spMkLst>
        </pc:spChg>
        <pc:spChg chg="mod">
          <ac:chgData name="Sandra Elizabeth Villamarin Mendez" userId="aec40f8d-d04b-44fb-9d76-6d86c6acb92d" providerId="ADAL" clId="{543B53C6-AB9C-4B6F-AC93-78F0324FCE23}" dt="2026-09-16T22:07:02.028" v="1196" actId="403"/>
          <ac:spMkLst>
            <pc:docMk/>
            <pc:sldMk cId="0" sldId="272"/>
            <ac:spMk id="7" creationId="{00000000-0000-0000-0000-000000000000}"/>
          </ac:spMkLst>
        </pc:spChg>
        <pc:spChg chg="mod">
          <ac:chgData name="Sandra Elizabeth Villamarin Mendez" userId="aec40f8d-d04b-44fb-9d76-6d86c6acb92d" providerId="ADAL" clId="{543B53C6-AB9C-4B6F-AC93-78F0324FCE23}" dt="2026-09-16T22:07:11.719" v="1200" actId="403"/>
          <ac:spMkLst>
            <pc:docMk/>
            <pc:sldMk cId="0" sldId="272"/>
            <ac:spMk id="11" creationId="{00000000-0000-0000-0000-000000000000}"/>
          </ac:spMkLst>
        </pc:spChg>
        <pc:spChg chg="mod">
          <ac:chgData name="Sandra Elizabeth Villamarin Mendez" userId="aec40f8d-d04b-44fb-9d76-6d86c6acb92d" providerId="ADAL" clId="{543B53C6-AB9C-4B6F-AC93-78F0324FCE23}" dt="2026-09-16T22:07:15.392" v="1202" actId="403"/>
          <ac:spMkLst>
            <pc:docMk/>
            <pc:sldMk cId="0" sldId="272"/>
            <ac:spMk id="12" creationId="{00000000-0000-0000-0000-000000000000}"/>
          </ac:spMkLst>
        </pc:spChg>
        <pc:spChg chg="mod">
          <ac:chgData name="Sandra Elizabeth Villamarin Mendez" userId="aec40f8d-d04b-44fb-9d76-6d86c6acb92d" providerId="ADAL" clId="{543B53C6-AB9C-4B6F-AC93-78F0324FCE23}" dt="2026-09-16T22:07:18.027" v="1204" actId="403"/>
          <ac:spMkLst>
            <pc:docMk/>
            <pc:sldMk cId="0" sldId="272"/>
            <ac:spMk id="16" creationId="{00000000-0000-0000-0000-000000000000}"/>
          </ac:spMkLst>
        </pc:spChg>
        <pc:spChg chg="mod">
          <ac:chgData name="Sandra Elizabeth Villamarin Mendez" userId="aec40f8d-d04b-44fb-9d76-6d86c6acb92d" providerId="ADAL" clId="{543B53C6-AB9C-4B6F-AC93-78F0324FCE23}" dt="2026-09-17T16:23:43.088" v="1539" actId="20577"/>
          <ac:spMkLst>
            <pc:docMk/>
            <pc:sldMk cId="0" sldId="272"/>
            <ac:spMk id="17" creationId="{00000000-0000-0000-0000-000000000000}"/>
          </ac:spMkLst>
        </pc:spChg>
      </pc:sldChg>
      <pc:sldChg chg="addSp delSp modSp mod">
        <pc:chgData name="Sandra Elizabeth Villamarin Mendez" userId="aec40f8d-d04b-44fb-9d76-6d86c6acb92d" providerId="ADAL" clId="{543B53C6-AB9C-4B6F-AC93-78F0324FCE23}" dt="2026-09-17T16:31:52.555" v="1692" actId="14100"/>
        <pc:sldMkLst>
          <pc:docMk/>
          <pc:sldMk cId="0" sldId="273"/>
        </pc:sldMkLst>
        <pc:spChg chg="mod">
          <ac:chgData name="Sandra Elizabeth Villamarin Mendez" userId="aec40f8d-d04b-44fb-9d76-6d86c6acb92d" providerId="ADAL" clId="{543B53C6-AB9C-4B6F-AC93-78F0324FCE23}" dt="2026-09-17T16:28:57.570" v="1657" actId="20577"/>
          <ac:spMkLst>
            <pc:docMk/>
            <pc:sldMk cId="0" sldId="273"/>
            <ac:spMk id="5" creationId="{00000000-0000-0000-0000-000000000000}"/>
          </ac:spMkLst>
        </pc:spChg>
        <pc:spChg chg="mod">
          <ac:chgData name="Sandra Elizabeth Villamarin Mendez" userId="aec40f8d-d04b-44fb-9d76-6d86c6acb92d" providerId="ADAL" clId="{543B53C6-AB9C-4B6F-AC93-78F0324FCE23}" dt="2026-09-16T22:10:35.146" v="1223" actId="403"/>
          <ac:spMkLst>
            <pc:docMk/>
            <pc:sldMk cId="0" sldId="273"/>
            <ac:spMk id="6" creationId="{00000000-0000-0000-0000-000000000000}"/>
          </ac:spMkLst>
        </pc:spChg>
        <pc:spChg chg="mod">
          <ac:chgData name="Sandra Elizabeth Villamarin Mendez" userId="aec40f8d-d04b-44fb-9d76-6d86c6acb92d" providerId="ADAL" clId="{543B53C6-AB9C-4B6F-AC93-78F0324FCE23}" dt="2026-09-17T16:28:32.280" v="1655" actId="20577"/>
          <ac:spMkLst>
            <pc:docMk/>
            <pc:sldMk cId="0" sldId="273"/>
            <ac:spMk id="7" creationId="{00000000-0000-0000-0000-000000000000}"/>
          </ac:spMkLst>
        </pc:spChg>
        <pc:spChg chg="mod">
          <ac:chgData name="Sandra Elizabeth Villamarin Mendez" userId="aec40f8d-d04b-44fb-9d76-6d86c6acb92d" providerId="ADAL" clId="{543B53C6-AB9C-4B6F-AC93-78F0324FCE23}" dt="2026-09-17T16:31:52.555" v="1692" actId="14100"/>
          <ac:spMkLst>
            <pc:docMk/>
            <pc:sldMk cId="0" sldId="273"/>
            <ac:spMk id="8" creationId="{00000000-0000-0000-0000-000000000000}"/>
          </ac:spMkLst>
        </pc:spChg>
        <pc:spChg chg="add del mod">
          <ac:chgData name="Sandra Elizabeth Villamarin Mendez" userId="aec40f8d-d04b-44fb-9d76-6d86c6acb92d" providerId="ADAL" clId="{543B53C6-AB9C-4B6F-AC93-78F0324FCE23}" dt="2026-09-17T16:29:04.260" v="1661" actId="20577"/>
          <ac:spMkLst>
            <pc:docMk/>
            <pc:sldMk cId="0" sldId="273"/>
            <ac:spMk id="10" creationId="{00000000-0000-0000-0000-000000000000}"/>
          </ac:spMkLst>
        </pc:spChg>
        <pc:spChg chg="mod">
          <ac:chgData name="Sandra Elizabeth Villamarin Mendez" userId="aec40f8d-d04b-44fb-9d76-6d86c6acb92d" providerId="ADAL" clId="{543B53C6-AB9C-4B6F-AC93-78F0324FCE23}" dt="2026-09-16T22:10:35.146" v="1223" actId="403"/>
          <ac:spMkLst>
            <pc:docMk/>
            <pc:sldMk cId="0" sldId="273"/>
            <ac:spMk id="11" creationId="{00000000-0000-0000-0000-000000000000}"/>
          </ac:spMkLst>
        </pc:spChg>
        <pc:spChg chg="mod">
          <ac:chgData name="Sandra Elizabeth Villamarin Mendez" userId="aec40f8d-d04b-44fb-9d76-6d86c6acb92d" providerId="ADAL" clId="{543B53C6-AB9C-4B6F-AC93-78F0324FCE23}" dt="2026-09-17T16:31:46.620" v="1691" actId="14100"/>
          <ac:spMkLst>
            <pc:docMk/>
            <pc:sldMk cId="0" sldId="273"/>
            <ac:spMk id="12" creationId="{00000000-0000-0000-0000-000000000000}"/>
          </ac:spMkLst>
        </pc:spChg>
      </pc:sldChg>
      <pc:sldChg chg="delSp modSp mod">
        <pc:chgData name="Sandra Elizabeth Villamarin Mendez" userId="aec40f8d-d04b-44fb-9d76-6d86c6acb92d" providerId="ADAL" clId="{543B53C6-AB9C-4B6F-AC93-78F0324FCE23}" dt="2026-09-17T16:35:34.179" v="1711"/>
        <pc:sldMkLst>
          <pc:docMk/>
          <pc:sldMk cId="0" sldId="274"/>
        </pc:sldMkLst>
        <pc:spChg chg="mod">
          <ac:chgData name="Sandra Elizabeth Villamarin Mendez" userId="aec40f8d-d04b-44fb-9d76-6d86c6acb92d" providerId="ADAL" clId="{543B53C6-AB9C-4B6F-AC93-78F0324FCE23}" dt="2026-09-17T16:34:06.523" v="1709" actId="20577"/>
          <ac:spMkLst>
            <pc:docMk/>
            <pc:sldMk cId="0" sldId="274"/>
            <ac:spMk id="5" creationId="{00000000-0000-0000-0000-000000000000}"/>
          </ac:spMkLst>
        </pc:spChg>
        <pc:spChg chg="mod">
          <ac:chgData name="Sandra Elizabeth Villamarin Mendez" userId="aec40f8d-d04b-44fb-9d76-6d86c6acb92d" providerId="ADAL" clId="{543B53C6-AB9C-4B6F-AC93-78F0324FCE23}" dt="2026-09-17T16:35:34.179" v="1711"/>
          <ac:spMkLst>
            <pc:docMk/>
            <pc:sldMk cId="0" sldId="274"/>
            <ac:spMk id="10" creationId="{00000000-0000-0000-0000-000000000000}"/>
          </ac:spMkLst>
        </pc:spChg>
        <pc:spChg chg="mod">
          <ac:chgData name="Sandra Elizabeth Villamarin Mendez" userId="aec40f8d-d04b-44fb-9d76-6d86c6acb92d" providerId="ADAL" clId="{543B53C6-AB9C-4B6F-AC93-78F0324FCE23}" dt="2026-09-16T22:19:17.505" v="1358" actId="1076"/>
          <ac:spMkLst>
            <pc:docMk/>
            <pc:sldMk cId="0" sldId="274"/>
            <ac:spMk id="19" creationId="{00000000-0000-0000-0000-000000000000}"/>
          </ac:spMkLst>
        </pc:spChg>
        <pc:spChg chg="mod">
          <ac:chgData name="Sandra Elizabeth Villamarin Mendez" userId="aec40f8d-d04b-44fb-9d76-6d86c6acb92d" providerId="ADAL" clId="{543B53C6-AB9C-4B6F-AC93-78F0324FCE23}" dt="2026-09-16T22:19:30.009" v="1359" actId="20577"/>
          <ac:spMkLst>
            <pc:docMk/>
            <pc:sldMk cId="0" sldId="274"/>
            <ac:spMk id="20" creationId="{00000000-0000-0000-0000-000000000000}"/>
          </ac:spMkLst>
        </pc:spChg>
        <pc:spChg chg="mod">
          <ac:chgData name="Sandra Elizabeth Villamarin Mendez" userId="aec40f8d-d04b-44fb-9d76-6d86c6acb92d" providerId="ADAL" clId="{543B53C6-AB9C-4B6F-AC93-78F0324FCE23}" dt="2026-09-16T22:27:46.710" v="1454" actId="1076"/>
          <ac:spMkLst>
            <pc:docMk/>
            <pc:sldMk cId="0" sldId="274"/>
            <ac:spMk id="21" creationId="{00000000-0000-0000-0000-000000000000}"/>
          </ac:spMkLst>
        </pc:spChg>
        <pc:spChg chg="del">
          <ac:chgData name="Sandra Elizabeth Villamarin Mendez" userId="aec40f8d-d04b-44fb-9d76-6d86c6acb92d" providerId="ADAL" clId="{543B53C6-AB9C-4B6F-AC93-78F0324FCE23}" dt="2026-09-16T22:11:50.193" v="1305" actId="478"/>
          <ac:spMkLst>
            <pc:docMk/>
            <pc:sldMk cId="0" sldId="274"/>
            <ac:spMk id="22" creationId="{00000000-0000-0000-0000-000000000000}"/>
          </ac:spMkLst>
        </pc:spChg>
      </pc:sldChg>
      <pc:sldChg chg="delSp modSp mod">
        <pc:chgData name="Sandra Elizabeth Villamarin Mendez" userId="aec40f8d-d04b-44fb-9d76-6d86c6acb92d" providerId="ADAL" clId="{543B53C6-AB9C-4B6F-AC93-78F0324FCE23}" dt="2026-09-16T22:12:28.496" v="1328" actId="1076"/>
        <pc:sldMkLst>
          <pc:docMk/>
          <pc:sldMk cId="0" sldId="275"/>
        </pc:sldMkLst>
        <pc:spChg chg="mod">
          <ac:chgData name="Sandra Elizabeth Villamarin Mendez" userId="aec40f8d-d04b-44fb-9d76-6d86c6acb92d" providerId="ADAL" clId="{543B53C6-AB9C-4B6F-AC93-78F0324FCE23}" dt="2026-09-16T22:12:25.198" v="1327" actId="14100"/>
          <ac:spMkLst>
            <pc:docMk/>
            <pc:sldMk cId="0" sldId="275"/>
            <ac:spMk id="6" creationId="{00000000-0000-0000-0000-000000000000}"/>
          </ac:spMkLst>
        </pc:spChg>
        <pc:spChg chg="del">
          <ac:chgData name="Sandra Elizabeth Villamarin Mendez" userId="aec40f8d-d04b-44fb-9d76-6d86c6acb92d" providerId="ADAL" clId="{543B53C6-AB9C-4B6F-AC93-78F0324FCE23}" dt="2026-09-16T22:12:13.576" v="1309" actId="478"/>
          <ac:spMkLst>
            <pc:docMk/>
            <pc:sldMk cId="0" sldId="275"/>
            <ac:spMk id="7" creationId="{00000000-0000-0000-0000-000000000000}"/>
          </ac:spMkLst>
        </pc:spChg>
        <pc:spChg chg="del">
          <ac:chgData name="Sandra Elizabeth Villamarin Mendez" userId="aec40f8d-d04b-44fb-9d76-6d86c6acb92d" providerId="ADAL" clId="{543B53C6-AB9C-4B6F-AC93-78F0324FCE23}" dt="2026-09-16T22:12:12.551" v="1308" actId="478"/>
          <ac:spMkLst>
            <pc:docMk/>
            <pc:sldMk cId="0" sldId="275"/>
            <ac:spMk id="8" creationId="{00000000-0000-0000-0000-000000000000}"/>
          </ac:spMkLst>
        </pc:spChg>
        <pc:spChg chg="del">
          <ac:chgData name="Sandra Elizabeth Villamarin Mendez" userId="aec40f8d-d04b-44fb-9d76-6d86c6acb92d" providerId="ADAL" clId="{543B53C6-AB9C-4B6F-AC93-78F0324FCE23}" dt="2026-09-16T22:12:11.529" v="1307" actId="478"/>
          <ac:spMkLst>
            <pc:docMk/>
            <pc:sldMk cId="0" sldId="275"/>
            <ac:spMk id="9" creationId="{00000000-0000-0000-0000-000000000000}"/>
          </ac:spMkLst>
        </pc:spChg>
        <pc:spChg chg="del">
          <ac:chgData name="Sandra Elizabeth Villamarin Mendez" userId="aec40f8d-d04b-44fb-9d76-6d86c6acb92d" providerId="ADAL" clId="{543B53C6-AB9C-4B6F-AC93-78F0324FCE23}" dt="2026-09-16T22:12:10.231" v="1306" actId="478"/>
          <ac:spMkLst>
            <pc:docMk/>
            <pc:sldMk cId="0" sldId="275"/>
            <ac:spMk id="10" creationId="{00000000-0000-0000-0000-000000000000}"/>
          </ac:spMkLst>
        </pc:spChg>
        <pc:spChg chg="mod">
          <ac:chgData name="Sandra Elizabeth Villamarin Mendez" userId="aec40f8d-d04b-44fb-9d76-6d86c6acb92d" providerId="ADAL" clId="{543B53C6-AB9C-4B6F-AC93-78F0324FCE23}" dt="2026-09-16T22:12:28.496" v="1328" actId="1076"/>
          <ac:spMkLst>
            <pc:docMk/>
            <pc:sldMk cId="0" sldId="275"/>
            <ac:spMk id="11"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 Cumplimiento</c:v>
                </c:pt>
              </c:strCache>
            </c:strRef>
          </c:tx>
          <c:spPr>
            <a:solidFill>
              <a:srgbClr val="C0392B"/>
            </a:solidFill>
            <a:effectLst/>
          </c:spPr>
          <c:invertIfNegative val="0"/>
          <c:dPt>
            <c:idx val="0"/>
            <c:invertIfNegative val="0"/>
            <c:bubble3D val="0"/>
            <c:extLst>
              <c:ext xmlns:c16="http://schemas.microsoft.com/office/drawing/2014/chart" uri="{C3380CC4-5D6E-409C-BE32-E72D297353CC}">
                <c16:uniqueId val="{00000001-809F-4DD2-8E18-FA52547A87F8}"/>
              </c:ext>
            </c:extLst>
          </c:dPt>
          <c:dPt>
            <c:idx val="1"/>
            <c:invertIfNegative val="0"/>
            <c:bubble3D val="0"/>
            <c:extLst>
              <c:ext xmlns:c16="http://schemas.microsoft.com/office/drawing/2014/chart" uri="{C3380CC4-5D6E-409C-BE32-E72D297353CC}">
                <c16:uniqueId val="{00000003-809F-4DD2-8E18-FA52547A87F8}"/>
              </c:ext>
            </c:extLst>
          </c:dPt>
          <c:dPt>
            <c:idx val="2"/>
            <c:invertIfNegative val="0"/>
            <c:bubble3D val="0"/>
            <c:extLst>
              <c:ext xmlns:c16="http://schemas.microsoft.com/office/drawing/2014/chart" uri="{C3380CC4-5D6E-409C-BE32-E72D297353CC}">
                <c16:uniqueId val="{00000005-809F-4DD2-8E18-FA52547A87F8}"/>
              </c:ext>
            </c:extLst>
          </c:dPt>
          <c:dPt>
            <c:idx val="3"/>
            <c:invertIfNegative val="0"/>
            <c:bubble3D val="0"/>
            <c:extLst>
              <c:ext xmlns:c16="http://schemas.microsoft.com/office/drawing/2014/chart" uri="{C3380CC4-5D6E-409C-BE32-E72D297353CC}">
                <c16:uniqueId val="{00000007-809F-4DD2-8E18-FA52547A87F8}"/>
              </c:ext>
            </c:extLst>
          </c:dPt>
          <c:dPt>
            <c:idx val="4"/>
            <c:invertIfNegative val="0"/>
            <c:bubble3D val="0"/>
            <c:extLst>
              <c:ext xmlns:c16="http://schemas.microsoft.com/office/drawing/2014/chart" uri="{C3380CC4-5D6E-409C-BE32-E72D297353CC}">
                <c16:uniqueId val="{00000009-809F-4DD2-8E18-FA52547A87F8}"/>
              </c:ext>
            </c:extLst>
          </c:dPt>
          <c:dPt>
            <c:idx val="5"/>
            <c:invertIfNegative val="0"/>
            <c:bubble3D val="0"/>
            <c:extLst>
              <c:ext xmlns:c16="http://schemas.microsoft.com/office/drawing/2014/chart" uri="{C3380CC4-5D6E-409C-BE32-E72D297353CC}">
                <c16:uniqueId val="{0000000B-809F-4DD2-8E18-FA52547A87F8}"/>
              </c:ext>
            </c:extLst>
          </c:dPt>
          <c:dPt>
            <c:idx val="6"/>
            <c:invertIfNegative val="0"/>
            <c:bubble3D val="0"/>
            <c:spPr>
              <a:solidFill>
                <a:srgbClr val="D68910"/>
              </a:solidFill>
              <a:effectLst/>
            </c:spPr>
            <c:extLst>
              <c:ext xmlns:c16="http://schemas.microsoft.com/office/drawing/2014/chart" uri="{C3380CC4-5D6E-409C-BE32-E72D297353CC}">
                <c16:uniqueId val="{0000000D-809F-4DD2-8E18-FA52547A87F8}"/>
              </c:ext>
            </c:extLst>
          </c:dPt>
          <c:dPt>
            <c:idx val="7"/>
            <c:invertIfNegative val="0"/>
            <c:bubble3D val="0"/>
            <c:spPr>
              <a:solidFill>
                <a:srgbClr val="D68910"/>
              </a:solidFill>
              <a:effectLst/>
            </c:spPr>
            <c:extLst>
              <c:ext xmlns:c16="http://schemas.microsoft.com/office/drawing/2014/chart" uri="{C3380CC4-5D6E-409C-BE32-E72D297353CC}">
                <c16:uniqueId val="{0000000F-809F-4DD2-8E18-FA52547A87F8}"/>
              </c:ext>
            </c:extLst>
          </c:dPt>
          <c:dPt>
            <c:idx val="8"/>
            <c:invertIfNegative val="0"/>
            <c:bubble3D val="0"/>
            <c:spPr>
              <a:solidFill>
                <a:srgbClr val="D68910"/>
              </a:solidFill>
              <a:effectLst/>
            </c:spPr>
            <c:extLst>
              <c:ext xmlns:c16="http://schemas.microsoft.com/office/drawing/2014/chart" uri="{C3380CC4-5D6E-409C-BE32-E72D297353CC}">
                <c16:uniqueId val="{00000011-809F-4DD2-8E18-FA52547A87F8}"/>
              </c:ext>
            </c:extLst>
          </c:dPt>
          <c:dPt>
            <c:idx val="9"/>
            <c:invertIfNegative val="0"/>
            <c:bubble3D val="0"/>
            <c:spPr>
              <a:solidFill>
                <a:srgbClr val="D68910"/>
              </a:solidFill>
              <a:effectLst/>
            </c:spPr>
            <c:extLst>
              <c:ext xmlns:c16="http://schemas.microsoft.com/office/drawing/2014/chart" uri="{C3380CC4-5D6E-409C-BE32-E72D297353CC}">
                <c16:uniqueId val="{00000013-809F-4DD2-8E18-FA52547A87F8}"/>
              </c:ext>
            </c:extLst>
          </c:dPt>
          <c:dPt>
            <c:idx val="10"/>
            <c:invertIfNegative val="0"/>
            <c:bubble3D val="0"/>
            <c:spPr>
              <a:solidFill>
                <a:srgbClr val="D68910"/>
              </a:solidFill>
              <a:effectLst/>
            </c:spPr>
            <c:extLst>
              <c:ext xmlns:c16="http://schemas.microsoft.com/office/drawing/2014/chart" uri="{C3380CC4-5D6E-409C-BE32-E72D297353CC}">
                <c16:uniqueId val="{00000015-809F-4DD2-8E18-FA52547A87F8}"/>
              </c:ext>
            </c:extLst>
          </c:dPt>
          <c:dPt>
            <c:idx val="11"/>
            <c:invertIfNegative val="0"/>
            <c:bubble3D val="0"/>
            <c:spPr>
              <a:solidFill>
                <a:srgbClr val="1E8449"/>
              </a:solidFill>
              <a:effectLst/>
            </c:spPr>
            <c:extLst>
              <c:ext xmlns:c16="http://schemas.microsoft.com/office/drawing/2014/chart" uri="{C3380CC4-5D6E-409C-BE32-E72D297353CC}">
                <c16:uniqueId val="{00000017-809F-4DD2-8E18-FA52547A87F8}"/>
              </c:ext>
            </c:extLst>
          </c:dPt>
          <c:dPt>
            <c:idx val="12"/>
            <c:invertIfNegative val="0"/>
            <c:bubble3D val="0"/>
            <c:spPr>
              <a:solidFill>
                <a:srgbClr val="1E8449"/>
              </a:solidFill>
              <a:effectLst/>
            </c:spPr>
            <c:extLst>
              <c:ext xmlns:c16="http://schemas.microsoft.com/office/drawing/2014/chart" uri="{C3380CC4-5D6E-409C-BE32-E72D297353CC}">
                <c16:uniqueId val="{00000019-809F-4DD2-8E18-FA52547A87F8}"/>
              </c:ext>
            </c:extLst>
          </c:dPt>
          <c:dPt>
            <c:idx val="13"/>
            <c:invertIfNegative val="0"/>
            <c:bubble3D val="0"/>
            <c:spPr>
              <a:solidFill>
                <a:srgbClr val="1E8449"/>
              </a:solidFill>
              <a:effectLst/>
            </c:spPr>
            <c:extLst>
              <c:ext xmlns:c16="http://schemas.microsoft.com/office/drawing/2014/chart" uri="{C3380CC4-5D6E-409C-BE32-E72D297353CC}">
                <c16:uniqueId val="{0000001B-809F-4DD2-8E18-FA52547A87F8}"/>
              </c:ext>
            </c:extLst>
          </c:dPt>
          <c:dPt>
            <c:idx val="14"/>
            <c:invertIfNegative val="0"/>
            <c:bubble3D val="0"/>
            <c:spPr>
              <a:solidFill>
                <a:srgbClr val="1E8449"/>
              </a:solidFill>
              <a:effectLst/>
            </c:spPr>
            <c:extLst>
              <c:ext xmlns:c16="http://schemas.microsoft.com/office/drawing/2014/chart" uri="{C3380CC4-5D6E-409C-BE32-E72D297353CC}">
                <c16:uniqueId val="{0000001D-809F-4DD2-8E18-FA52547A87F8}"/>
              </c:ext>
            </c:extLst>
          </c:dPt>
          <c:dPt>
            <c:idx val="15"/>
            <c:invertIfNegative val="0"/>
            <c:bubble3D val="0"/>
            <c:spPr>
              <a:solidFill>
                <a:srgbClr val="1E8449"/>
              </a:solidFill>
              <a:effectLst/>
            </c:spPr>
            <c:extLst>
              <c:ext xmlns:c16="http://schemas.microsoft.com/office/drawing/2014/chart" uri="{C3380CC4-5D6E-409C-BE32-E72D297353CC}">
                <c16:uniqueId val="{0000001F-809F-4DD2-8E18-FA52547A87F8}"/>
              </c:ext>
            </c:extLst>
          </c:dPt>
          <c:cat>
            <c:strRef>
              <c:f>Sheet1!$A$2:$A$17</c:f>
              <c:strCache>
                <c:ptCount val="16"/>
                <c:pt idx="0">
                  <c:v>Ambato</c:v>
                </c:pt>
                <c:pt idx="1">
                  <c:v>Demás*</c:v>
                </c:pt>
                <c:pt idx="2">
                  <c:v>Machala</c:v>
                </c:pt>
                <c:pt idx="3">
                  <c:v>S. Domingo</c:v>
                </c:pt>
                <c:pt idx="4">
                  <c:v>S. Elena</c:v>
                </c:pt>
                <c:pt idx="5">
                  <c:v>Chone</c:v>
                </c:pt>
                <c:pt idx="6">
                  <c:v>Quito</c:v>
                </c:pt>
                <c:pt idx="7">
                  <c:v>Manta</c:v>
                </c:pt>
                <c:pt idx="8">
                  <c:v>Riobamba</c:v>
                </c:pt>
                <c:pt idx="9">
                  <c:v>Ibarra</c:v>
                </c:pt>
                <c:pt idx="10">
                  <c:v>Portoviejo</c:v>
                </c:pt>
                <c:pt idx="11">
                  <c:v>Guayaquil</c:v>
                </c:pt>
                <c:pt idx="12">
                  <c:v>Tulcán</c:v>
                </c:pt>
                <c:pt idx="13">
                  <c:v>Cuenca</c:v>
                </c:pt>
                <c:pt idx="14">
                  <c:v>Guaranda</c:v>
                </c:pt>
                <c:pt idx="15">
                  <c:v>Loja</c:v>
                </c:pt>
              </c:strCache>
            </c:strRef>
          </c:cat>
          <c:val>
            <c:numRef>
              <c:f>Sheet1!$B$2:$B$17</c:f>
              <c:numCache>
                <c:formatCode>General</c:formatCode>
                <c:ptCount val="16"/>
                <c:pt idx="0">
                  <c:v>25.3</c:v>
                </c:pt>
                <c:pt idx="1">
                  <c:v>44</c:v>
                </c:pt>
                <c:pt idx="2">
                  <c:v>50.3</c:v>
                </c:pt>
                <c:pt idx="3">
                  <c:v>54.5</c:v>
                </c:pt>
                <c:pt idx="4">
                  <c:v>63.2</c:v>
                </c:pt>
                <c:pt idx="5">
                  <c:v>65.2</c:v>
                </c:pt>
                <c:pt idx="6">
                  <c:v>72</c:v>
                </c:pt>
                <c:pt idx="7">
                  <c:v>77.599999999999994</c:v>
                </c:pt>
                <c:pt idx="8">
                  <c:v>80.900000000000006</c:v>
                </c:pt>
                <c:pt idx="9">
                  <c:v>89.9</c:v>
                </c:pt>
                <c:pt idx="10">
                  <c:v>98.4</c:v>
                </c:pt>
                <c:pt idx="11">
                  <c:v>102.5</c:v>
                </c:pt>
                <c:pt idx="12">
                  <c:v>105.6</c:v>
                </c:pt>
                <c:pt idx="13">
                  <c:v>108</c:v>
                </c:pt>
                <c:pt idx="14">
                  <c:v>119</c:v>
                </c:pt>
                <c:pt idx="15">
                  <c:v>128.19999999999999</c:v>
                </c:pt>
              </c:numCache>
            </c:numRef>
          </c:val>
          <c:extLst>
            <c:ext xmlns:c16="http://schemas.microsoft.com/office/drawing/2014/chart" uri="{C3380CC4-5D6E-409C-BE32-E72D297353CC}">
              <c16:uniqueId val="{00000020-809F-4DD2-8E18-FA52547A87F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584"/>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9F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84"/>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1" i="0" u="none" strike="noStrike">
                <a:solidFill>
                  <a:srgbClr val="1E2761"/>
                </a:solidFill>
                <a:latin typeface="Calibri"/>
              </a:defRPr>
            </a:pPr>
            <a:r>
              <a:rPr lang="es-MX" sz="1300" b="1" i="0" u="none" strike="noStrike">
                <a:solidFill>
                  <a:srgbClr val="1E2761"/>
                </a:solidFill>
                <a:latin typeface="Calibri"/>
              </a:rPr>
              <a:t>% Mala Venta por Canal de Venta</a:t>
            </a:r>
          </a:p>
        </c:rich>
      </c:tx>
      <c:overlay val="0"/>
    </c:title>
    <c:autoTitleDeleted val="0"/>
    <c:plotArea>
      <c:layout/>
      <c:barChart>
        <c:barDir val="col"/>
        <c:grouping val="clustered"/>
        <c:varyColors val="0"/>
        <c:ser>
          <c:idx val="0"/>
          <c:order val="0"/>
          <c:tx>
            <c:strRef>
              <c:f>Sheet1!$B$1</c:f>
              <c:strCache>
                <c:ptCount val="1"/>
                <c:pt idx="0">
                  <c:v>% Mala Venta</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48EC-4AAE-92C7-D07E012E06F4}"/>
              </c:ext>
            </c:extLst>
          </c:dPt>
          <c:dPt>
            <c:idx val="1"/>
            <c:invertIfNegative val="0"/>
            <c:bubble3D val="0"/>
            <c:spPr>
              <a:solidFill>
                <a:srgbClr val="D68910"/>
              </a:solidFill>
              <a:effectLst/>
            </c:spPr>
            <c:extLst>
              <c:ext xmlns:c16="http://schemas.microsoft.com/office/drawing/2014/chart" uri="{C3380CC4-5D6E-409C-BE32-E72D297353CC}">
                <c16:uniqueId val="{00000003-48EC-4AAE-92C7-D07E012E06F4}"/>
              </c:ext>
            </c:extLst>
          </c:dPt>
          <c:dPt>
            <c:idx val="2"/>
            <c:invertIfNegative val="0"/>
            <c:bubble3D val="0"/>
            <c:spPr>
              <a:solidFill>
                <a:srgbClr val="D68910"/>
              </a:solidFill>
              <a:effectLst/>
            </c:spPr>
            <c:extLst>
              <c:ext xmlns:c16="http://schemas.microsoft.com/office/drawing/2014/chart" uri="{C3380CC4-5D6E-409C-BE32-E72D297353CC}">
                <c16:uniqueId val="{00000005-48EC-4AAE-92C7-D07E012E06F4}"/>
              </c:ext>
            </c:extLst>
          </c:dPt>
          <c:dPt>
            <c:idx val="3"/>
            <c:invertIfNegative val="0"/>
            <c:bubble3D val="0"/>
            <c:spPr>
              <a:solidFill>
                <a:srgbClr val="C0392B"/>
              </a:solidFill>
              <a:effectLst/>
            </c:spPr>
            <c:extLst>
              <c:ext xmlns:c16="http://schemas.microsoft.com/office/drawing/2014/chart" uri="{C3380CC4-5D6E-409C-BE32-E72D297353CC}">
                <c16:uniqueId val="{00000007-48EC-4AAE-92C7-D07E012E06F4}"/>
              </c:ext>
            </c:extLst>
          </c:dPt>
          <c:dLbls>
            <c:numFmt formatCode="0&quot;%&quot;" sourceLinked="0"/>
            <c:spPr>
              <a:noFill/>
              <a:ln>
                <a:noFill/>
              </a:ln>
              <a:effectLst/>
            </c:spPr>
            <c:txPr>
              <a:bodyPr/>
              <a:lstStyle/>
              <a:p>
                <a:pPr>
                  <a:defRPr sz="1000" b="0" i="0" u="none" strike="noStrike">
                    <a:solidFill>
                      <a:srgbClr val="1E2761"/>
                    </a:solidFill>
                    <a:latin typeface="Arial"/>
                  </a:defRPr>
                </a:pPr>
                <a:endParaRPr lang="es-EC"/>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Otros</c:v>
                </c:pt>
                <c:pt idx="1">
                  <c:v>Televentas</c:v>
                </c:pt>
                <c:pt idx="2">
                  <c:v>Distribuidores</c:v>
                </c:pt>
                <c:pt idx="3">
                  <c:v>Venta Directa</c:v>
                </c:pt>
              </c:strCache>
            </c:strRef>
          </c:cat>
          <c:val>
            <c:numRef>
              <c:f>Sheet1!$B$2:$B$5</c:f>
              <c:numCache>
                <c:formatCode>General</c:formatCode>
                <c:ptCount val="4"/>
                <c:pt idx="0">
                  <c:v>16.100000000000001</c:v>
                </c:pt>
                <c:pt idx="1">
                  <c:v>18.5</c:v>
                </c:pt>
                <c:pt idx="2">
                  <c:v>17.2</c:v>
                </c:pt>
                <c:pt idx="3">
                  <c:v>20.399999999999999</c:v>
                </c:pt>
              </c:numCache>
            </c:numRef>
          </c:val>
          <c:extLst>
            <c:ext xmlns:c16="http://schemas.microsoft.com/office/drawing/2014/chart" uri="{C3380CC4-5D6E-409C-BE32-E72D297353CC}">
              <c16:uniqueId val="{00000008-48EC-4AAE-92C7-D07E012E06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58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626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784080" y="-1097280"/>
            <a:ext cx="3840480" cy="3840480"/>
          </a:xfrm>
          <a:prstGeom prst="ellipse">
            <a:avLst/>
          </a:prstGeom>
          <a:solidFill>
            <a:srgbClr val="141B45"/>
          </a:solidFill>
          <a:ln w="12700">
            <a:solidFill>
              <a:srgbClr val="141B45"/>
            </a:solidFill>
            <a:prstDash val="solid"/>
          </a:ln>
        </p:spPr>
        <p:txBody>
          <a:bodyPr/>
          <a:lstStyle/>
          <a:p>
            <a:endParaRPr lang="es-EC"/>
          </a:p>
        </p:txBody>
      </p:sp>
      <p:sp>
        <p:nvSpPr>
          <p:cNvPr id="3" name="Text 1"/>
          <p:cNvSpPr txBox="1"/>
          <p:nvPr/>
        </p:nvSpPr>
        <p:spPr>
          <a:xfrm>
            <a:off x="9784080" y="-1097280"/>
            <a:ext cx="3840480" cy="3840480"/>
          </a:xfrm>
          <a:prstGeom prst="rect">
            <a:avLst/>
          </a:prstGeom>
          <a:noFill/>
          <a:ln/>
        </p:spPr>
        <p:txBody>
          <a:bodyPr wrap="square" rtlCol="0" anchor="ctr"/>
          <a:lstStyle/>
          <a:p>
            <a:pPr marL="0" indent="0" algn="ctr">
              <a:buNone/>
            </a:pPr>
            <a:endParaRPr lang="en-US" sz="100" dirty="0"/>
          </a:p>
        </p:txBody>
      </p:sp>
      <p:sp>
        <p:nvSpPr>
          <p:cNvPr id="4" name="Shape 2"/>
          <p:cNvSpPr/>
          <p:nvPr/>
        </p:nvSpPr>
        <p:spPr>
          <a:xfrm>
            <a:off x="10789920" y="5120640"/>
            <a:ext cx="2926080" cy="2926080"/>
          </a:xfrm>
          <a:prstGeom prst="ellipse">
            <a:avLst/>
          </a:prstGeom>
          <a:solidFill>
            <a:srgbClr val="141B45"/>
          </a:solidFill>
          <a:ln w="12700">
            <a:solidFill>
              <a:srgbClr val="141B45"/>
            </a:solidFill>
            <a:prstDash val="solid"/>
          </a:ln>
        </p:spPr>
        <p:txBody>
          <a:bodyPr/>
          <a:lstStyle/>
          <a:p>
            <a:endParaRPr lang="es-EC"/>
          </a:p>
        </p:txBody>
      </p:sp>
      <p:sp>
        <p:nvSpPr>
          <p:cNvPr id="5" name="Text 3"/>
          <p:cNvSpPr txBox="1"/>
          <p:nvPr/>
        </p:nvSpPr>
        <p:spPr>
          <a:xfrm>
            <a:off x="10789920" y="5120640"/>
            <a:ext cx="2926080" cy="2926080"/>
          </a:xfrm>
          <a:prstGeom prst="rect">
            <a:avLst/>
          </a:prstGeom>
          <a:noFill/>
          <a:ln/>
        </p:spPr>
        <p:txBody>
          <a:bodyPr wrap="square" rtlCol="0" anchor="ctr"/>
          <a:lstStyle/>
          <a:p>
            <a:pPr marL="0" indent="0" algn="ctr">
              <a:buNone/>
            </a:pPr>
            <a:endParaRPr lang="en-US" sz="100" dirty="0"/>
          </a:p>
        </p:txBody>
      </p:sp>
      <p:pic>
        <p:nvPicPr>
          <p:cNvPr id="6" name="Image 0" descr="/home/claude/pptx_build/celerity_logo.png"/>
          <p:cNvPicPr>
            <a:picLocks noChangeAspect="1"/>
          </p:cNvPicPr>
          <p:nvPr/>
        </p:nvPicPr>
        <p:blipFill>
          <a:blip r:embed="rId3"/>
          <a:stretch>
            <a:fillRect/>
          </a:stretch>
        </p:blipFill>
        <p:spPr>
          <a:xfrm>
            <a:off x="685800" y="1234440"/>
            <a:ext cx="2194560" cy="566928"/>
          </a:xfrm>
          <a:prstGeom prst="rect">
            <a:avLst/>
          </a:prstGeom>
        </p:spPr>
      </p:pic>
      <p:sp>
        <p:nvSpPr>
          <p:cNvPr id="7" name="Text 4"/>
          <p:cNvSpPr txBox="1"/>
          <p:nvPr/>
        </p:nvSpPr>
        <p:spPr>
          <a:xfrm>
            <a:off x="731520" y="1920240"/>
            <a:ext cx="9601200" cy="18288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Diseño de un Sistema de Metas</a:t>
            </a:r>
            <a:endParaRPr lang="en-US" sz="4000" dirty="0"/>
          </a:p>
          <a:p>
            <a:pPr marL="0" indent="0">
              <a:buNone/>
            </a:pPr>
            <a:r>
              <a:rPr lang="en-US" sz="4000" b="1" dirty="0">
                <a:solidFill>
                  <a:srgbClr val="FFFFFF"/>
                </a:solidFill>
                <a:latin typeface="Cambria" pitchFamily="34" charset="0"/>
                <a:ea typeface="Cambria" pitchFamily="34" charset="-122"/>
                <a:cs typeface="Cambria" pitchFamily="34" charset="-120"/>
              </a:rPr>
              <a:t>y Compensaciones</a:t>
            </a:r>
            <a:endParaRPr lang="en-US" sz="4000" dirty="0"/>
          </a:p>
        </p:txBody>
      </p:sp>
      <p:sp>
        <p:nvSpPr>
          <p:cNvPr id="8" name="Text 5"/>
          <p:cNvSpPr txBox="1"/>
          <p:nvPr/>
        </p:nvSpPr>
        <p:spPr>
          <a:xfrm>
            <a:off x="731520" y="3703320"/>
            <a:ext cx="9144000" cy="45720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Caso de Uso — Gobierno de Datos  |  Data Business Analyst</a:t>
            </a:r>
            <a:endParaRPr lang="en-US" sz="1800" dirty="0"/>
          </a:p>
        </p:txBody>
      </p:sp>
      <p:sp>
        <p:nvSpPr>
          <p:cNvPr id="9" name="Shape 6"/>
          <p:cNvSpPr/>
          <p:nvPr/>
        </p:nvSpPr>
        <p:spPr>
          <a:xfrm>
            <a:off x="731520" y="4343400"/>
            <a:ext cx="2926080" cy="0"/>
          </a:xfrm>
          <a:prstGeom prst="line">
            <a:avLst/>
          </a:prstGeom>
          <a:noFill/>
          <a:ln w="19050">
            <a:solidFill>
              <a:srgbClr val="CADCFC"/>
            </a:solidFill>
            <a:prstDash val="solid"/>
          </a:ln>
        </p:spPr>
        <p:txBody>
          <a:bodyPr/>
          <a:lstStyle/>
          <a:p>
            <a:endParaRPr lang="es-EC"/>
          </a:p>
        </p:txBody>
      </p:sp>
      <p:sp>
        <p:nvSpPr>
          <p:cNvPr id="10" name="Text 7"/>
          <p:cNvSpPr txBox="1"/>
          <p:nvPr/>
        </p:nvSpPr>
        <p:spPr>
          <a:xfrm>
            <a:off x="731520" y="4572000"/>
            <a:ext cx="7315200" cy="822960"/>
          </a:xfrm>
          <a:prstGeom prst="rect">
            <a:avLst/>
          </a:prstGeom>
          <a:noFill/>
          <a:ln/>
        </p:spPr>
        <p:txBody>
          <a:bodyPr wrap="square" rtlCol="0" anchor="ctr"/>
          <a:lstStyle/>
          <a:p>
            <a:pPr marL="0" indent="0">
              <a:lnSpc>
                <a:spcPct val="130000"/>
              </a:lnSpc>
              <a:buNone/>
            </a:pPr>
            <a:r>
              <a:rPr lang="en-US" sz="1400" b="1" dirty="0">
                <a:solidFill>
                  <a:srgbClr val="CADCFC"/>
                </a:solidFill>
                <a:latin typeface="Calibri" pitchFamily="34" charset="0"/>
                <a:ea typeface="Calibri" pitchFamily="34" charset="-122"/>
                <a:cs typeface="Calibri" pitchFamily="34" charset="-120"/>
              </a:rPr>
              <a:t>Candidata:  </a:t>
            </a:r>
            <a:r>
              <a:rPr lang="en-US" sz="1400" dirty="0">
                <a:solidFill>
                  <a:srgbClr val="FFFFFF"/>
                </a:solidFill>
                <a:latin typeface="Calibri" pitchFamily="34" charset="0"/>
                <a:ea typeface="Calibri" pitchFamily="34" charset="-122"/>
                <a:cs typeface="Calibri" pitchFamily="34" charset="-120"/>
              </a:rPr>
              <a:t>Sandra Villamarín Méndez
</a:t>
            </a:r>
            <a:r>
              <a:rPr lang="en-US" sz="1400" b="1" dirty="0">
                <a:solidFill>
                  <a:srgbClr val="CADCFC"/>
                </a:solidFill>
                <a:latin typeface="Calibri" pitchFamily="34" charset="0"/>
                <a:ea typeface="Calibri" pitchFamily="34" charset="-122"/>
                <a:cs typeface="Calibri" pitchFamily="34" charset="-120"/>
              </a:rPr>
              <a:t>Posición:  </a:t>
            </a:r>
            <a:r>
              <a:rPr lang="en-US" sz="1400" dirty="0">
                <a:solidFill>
                  <a:srgbClr val="FFFFFF"/>
                </a:solidFill>
                <a:latin typeface="Calibri" pitchFamily="34" charset="0"/>
                <a:ea typeface="Calibri" pitchFamily="34" charset="-122"/>
                <a:cs typeface="Calibri" pitchFamily="34" charset="-120"/>
              </a:rPr>
              <a:t>Data Business Analyst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Contexto y Objetivo del Caso</a:t>
            </a:r>
            <a:endParaRPr lang="en-US" sz="3000" dirty="0"/>
          </a:p>
        </p:txBody>
      </p:sp>
      <p:sp>
        <p:nvSpPr>
          <p:cNvPr id="3" name="Shape 1"/>
          <p:cNvSpPr/>
          <p:nvPr/>
        </p:nvSpPr>
        <p:spPr>
          <a:xfrm>
            <a:off x="548640" y="1417320"/>
            <a:ext cx="11064240" cy="1051560"/>
          </a:xfrm>
          <a:prstGeom prst="roundRect">
            <a:avLst>
              <a:gd name="adj" fmla="val 6957"/>
            </a:avLst>
          </a:prstGeom>
          <a:solidFill>
            <a:srgbClr val="1E2761"/>
          </a:solidFill>
          <a:ln w="12700">
            <a:solidFill>
              <a:srgbClr val="1E2761"/>
            </a:solidFill>
            <a:prstDash val="solid"/>
          </a:ln>
        </p:spPr>
        <p:txBody>
          <a:bodyPr/>
          <a:lstStyle/>
          <a:p>
            <a:endParaRPr lang="es-EC"/>
          </a:p>
        </p:txBody>
      </p:sp>
      <p:sp>
        <p:nvSpPr>
          <p:cNvPr id="4" name="Text 2"/>
          <p:cNvSpPr txBox="1"/>
          <p:nvPr/>
        </p:nvSpPr>
        <p:spPr>
          <a:xfrm>
            <a:off x="777240" y="1536192"/>
            <a:ext cx="2103120"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19.4%</a:t>
            </a:r>
            <a:endParaRPr lang="en-US" sz="3400" dirty="0"/>
          </a:p>
        </p:txBody>
      </p:sp>
      <p:sp>
        <p:nvSpPr>
          <p:cNvPr id="5" name="Text 3"/>
          <p:cNvSpPr txBox="1"/>
          <p:nvPr/>
        </p:nvSpPr>
        <p:spPr>
          <a:xfrm>
            <a:off x="3017520" y="1536192"/>
            <a:ext cx="8412480" cy="822960"/>
          </a:xfrm>
          <a:prstGeom prst="rect">
            <a:avLst/>
          </a:prstGeom>
          <a:noFill/>
          <a:ln/>
        </p:spPr>
        <p:txBody>
          <a:bodyPr wrap="square" rtlCol="0" anchor="ctr"/>
          <a:lstStyle/>
          <a:p>
            <a:pPr marL="0" indent="0">
              <a:lnSpc>
                <a:spcPct val="125000"/>
              </a:lnSpc>
              <a:buNone/>
            </a:pPr>
            <a:r>
              <a:rPr lang="en-US" sz="1500" b="1" dirty="0">
                <a:solidFill>
                  <a:srgbClr val="FFFFFF"/>
                </a:solidFill>
                <a:latin typeface="Calibri" pitchFamily="34" charset="0"/>
                <a:ea typeface="Calibri" pitchFamily="34" charset="-122"/>
                <a:cs typeface="Calibri" pitchFamily="34" charset="-120"/>
              </a:rPr>
              <a:t>de las ventas registradas este año ya califican como “mala venta”.
</a:t>
            </a:r>
            <a:r>
              <a:rPr lang="en-US" sz="1500" i="1" dirty="0">
                <a:solidFill>
                  <a:srgbClr val="CADCFC"/>
                </a:solidFill>
                <a:latin typeface="Calibri" pitchFamily="34" charset="0"/>
                <a:ea typeface="Calibri" pitchFamily="34" charset="-122"/>
                <a:cs typeface="Calibri" pitchFamily="34" charset="-120"/>
              </a:rPr>
              <a:t>La pregunta no es cuánto vendimos — es cuánto de eso se va a quedar.</a:t>
            </a:r>
            <a:endParaRPr lang="en-US" sz="1500" dirty="0"/>
          </a:p>
        </p:txBody>
      </p:sp>
      <p:sp>
        <p:nvSpPr>
          <p:cNvPr id="6" name="Shape 4"/>
          <p:cNvSpPr/>
          <p:nvPr/>
        </p:nvSpPr>
        <p:spPr>
          <a:xfrm>
            <a:off x="548640" y="2606040"/>
            <a:ext cx="11064240" cy="566928"/>
          </a:xfrm>
          <a:prstGeom prst="roundRect">
            <a:avLst>
              <a:gd name="adj" fmla="val 9677"/>
            </a:avLst>
          </a:prstGeom>
          <a:solidFill>
            <a:srgbClr val="EAF1F8"/>
          </a:solidFill>
          <a:ln w="12700">
            <a:solidFill>
              <a:srgbClr val="EAF1F8"/>
            </a:solidFill>
            <a:prstDash val="solid"/>
          </a:ln>
        </p:spPr>
        <p:txBody>
          <a:bodyPr/>
          <a:lstStyle/>
          <a:p>
            <a:endParaRPr lang="es-EC"/>
          </a:p>
        </p:txBody>
      </p:sp>
      <p:sp>
        <p:nvSpPr>
          <p:cNvPr id="7" name="Text 5"/>
          <p:cNvSpPr txBox="1"/>
          <p:nvPr/>
        </p:nvSpPr>
        <p:spPr>
          <a:xfrm>
            <a:off x="777240" y="2606040"/>
            <a:ext cx="106070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Mensaje clave:  </a:t>
            </a:r>
            <a:r>
              <a:rPr lang="en-US" sz="1300" i="1" dirty="0">
                <a:solidFill>
                  <a:srgbClr val="1E2761"/>
                </a:solidFill>
                <a:latin typeface="Calibri" pitchFamily="34" charset="0"/>
                <a:ea typeface="Calibri" pitchFamily="34" charset="-122"/>
                <a:cs typeface="Calibri" pitchFamily="34" charset="-120"/>
              </a:rPr>
              <a:t>Vender más no es lo mismo que crecer. Este modelo está diseñado para pagar por lo segundo.</a:t>
            </a:r>
            <a:endParaRPr lang="en-US" sz="1300" dirty="0"/>
          </a:p>
        </p:txBody>
      </p:sp>
      <p:sp>
        <p:nvSpPr>
          <p:cNvPr id="8" name="Text 6"/>
          <p:cNvSpPr txBox="1"/>
          <p:nvPr/>
        </p:nvSpPr>
        <p:spPr>
          <a:xfrm>
            <a:off x="548640" y="3273552"/>
            <a:ext cx="11064240" cy="365760"/>
          </a:xfrm>
          <a:prstGeom prst="rect">
            <a:avLst/>
          </a:prstGeom>
          <a:noFill/>
          <a:ln/>
        </p:spPr>
        <p:txBody>
          <a:bodyPr wrap="square" rtlCol="0" anchor="ctr"/>
          <a:lstStyle/>
          <a:p>
            <a:pPr marL="0" indent="0">
              <a:buNone/>
            </a:pPr>
            <a:r>
              <a:rPr lang="en-US" sz="1050" b="1" i="1" dirty="0">
                <a:solidFill>
                  <a:srgbClr val="5B6584"/>
                </a:solidFill>
                <a:latin typeface="Calibri" pitchFamily="34" charset="0"/>
                <a:ea typeface="Calibri" pitchFamily="34" charset="-122"/>
                <a:cs typeface="Calibri" pitchFamily="34" charset="-120"/>
              </a:rPr>
              <a:t>Para quién es esto: </a:t>
            </a:r>
            <a:r>
              <a:rPr lang="en-US" sz="1050" i="1" dirty="0">
                <a:solidFill>
                  <a:srgbClr val="5B6584"/>
                </a:solidFill>
                <a:latin typeface="Calibri" pitchFamily="34" charset="0"/>
                <a:ea typeface="Calibri" pitchFamily="34" charset="-122"/>
                <a:cs typeface="Calibri" pitchFamily="34" charset="-120"/>
              </a:rPr>
              <a:t>Comercial necesita trazabilidad operativa  ·  Finanzas necesita alertas de desviación  ·  Gerencia General necesita un dashboard mensual con indicadores estratégicos.</a:t>
            </a:r>
            <a:endParaRPr lang="en-US" sz="1050" dirty="0"/>
          </a:p>
        </p:txBody>
      </p:sp>
      <p:sp>
        <p:nvSpPr>
          <p:cNvPr id="9" name="Shape 7"/>
          <p:cNvSpPr/>
          <p:nvPr/>
        </p:nvSpPr>
        <p:spPr>
          <a:xfrm>
            <a:off x="548640" y="379476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10" name="Shape 8"/>
          <p:cNvSpPr/>
          <p:nvPr/>
        </p:nvSpPr>
        <p:spPr>
          <a:xfrm>
            <a:off x="749808" y="3977640"/>
            <a:ext cx="384048" cy="384048"/>
          </a:xfrm>
          <a:prstGeom prst="ellipse">
            <a:avLst/>
          </a:prstGeom>
          <a:solidFill>
            <a:srgbClr val="1E2761"/>
          </a:solidFill>
          <a:ln w="12700">
            <a:solidFill>
              <a:srgbClr val="1E2761"/>
            </a:solidFill>
            <a:prstDash val="solid"/>
          </a:ln>
        </p:spPr>
        <p:txBody>
          <a:bodyPr/>
          <a:lstStyle/>
          <a:p>
            <a:endParaRPr lang="es-EC"/>
          </a:p>
        </p:txBody>
      </p:sp>
      <p:sp>
        <p:nvSpPr>
          <p:cNvPr id="11" name="Text 9"/>
          <p:cNvSpPr txBox="1"/>
          <p:nvPr/>
        </p:nvSpPr>
        <p:spPr>
          <a:xfrm>
            <a:off x="749808" y="397764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1280160" y="393192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Ventas e Ingresos</a:t>
            </a:r>
            <a:endParaRPr lang="en-US" sz="1250" dirty="0"/>
          </a:p>
        </p:txBody>
      </p:sp>
      <p:sp>
        <p:nvSpPr>
          <p:cNvPr id="13" name="Text 11"/>
          <p:cNvSpPr txBox="1"/>
          <p:nvPr/>
        </p:nvSpPr>
        <p:spPr>
          <a:xfrm>
            <a:off x="777240" y="441655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Volumen y monto generado por vendedor</a:t>
            </a:r>
            <a:endParaRPr lang="en-US" sz="1000" dirty="0"/>
          </a:p>
        </p:txBody>
      </p:sp>
      <p:sp>
        <p:nvSpPr>
          <p:cNvPr id="14" name="Shape 12"/>
          <p:cNvSpPr/>
          <p:nvPr/>
        </p:nvSpPr>
        <p:spPr>
          <a:xfrm>
            <a:off x="4297680" y="379476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15" name="Shape 13"/>
          <p:cNvSpPr/>
          <p:nvPr/>
        </p:nvSpPr>
        <p:spPr>
          <a:xfrm>
            <a:off x="4498848" y="3977640"/>
            <a:ext cx="384048" cy="384048"/>
          </a:xfrm>
          <a:prstGeom prst="ellipse">
            <a:avLst/>
          </a:prstGeom>
          <a:solidFill>
            <a:srgbClr val="1E2761"/>
          </a:solidFill>
          <a:ln w="12700">
            <a:solidFill>
              <a:srgbClr val="1E2761"/>
            </a:solidFill>
            <a:prstDash val="solid"/>
          </a:ln>
        </p:spPr>
        <p:txBody>
          <a:bodyPr/>
          <a:lstStyle/>
          <a:p>
            <a:endParaRPr lang="es-EC"/>
          </a:p>
        </p:txBody>
      </p:sp>
      <p:sp>
        <p:nvSpPr>
          <p:cNvPr id="16" name="Text 14"/>
          <p:cNvSpPr txBox="1"/>
          <p:nvPr/>
        </p:nvSpPr>
        <p:spPr>
          <a:xfrm>
            <a:off x="4498848" y="397764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5029200" y="393192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Cumplimiento de Meta</a:t>
            </a:r>
            <a:endParaRPr lang="en-US" sz="1250" dirty="0"/>
          </a:p>
        </p:txBody>
      </p:sp>
      <p:sp>
        <p:nvSpPr>
          <p:cNvPr id="18" name="Text 16"/>
          <p:cNvSpPr txBox="1"/>
          <p:nvPr/>
        </p:nvSpPr>
        <p:spPr>
          <a:xfrm>
            <a:off x="4526280" y="441655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Avance frente al objetivo anual (70,130 unid.)</a:t>
            </a:r>
            <a:endParaRPr lang="en-US" sz="1000" dirty="0"/>
          </a:p>
        </p:txBody>
      </p:sp>
      <p:sp>
        <p:nvSpPr>
          <p:cNvPr id="19" name="Shape 17"/>
          <p:cNvSpPr/>
          <p:nvPr/>
        </p:nvSpPr>
        <p:spPr>
          <a:xfrm>
            <a:off x="8046720" y="379476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20" name="Shape 18"/>
          <p:cNvSpPr/>
          <p:nvPr/>
        </p:nvSpPr>
        <p:spPr>
          <a:xfrm>
            <a:off x="8247888" y="3977640"/>
            <a:ext cx="384048" cy="384048"/>
          </a:xfrm>
          <a:prstGeom prst="ellipse">
            <a:avLst/>
          </a:prstGeom>
          <a:solidFill>
            <a:srgbClr val="1E2761"/>
          </a:solidFill>
          <a:ln w="12700">
            <a:solidFill>
              <a:srgbClr val="1E2761"/>
            </a:solidFill>
            <a:prstDash val="solid"/>
          </a:ln>
        </p:spPr>
        <p:txBody>
          <a:bodyPr/>
          <a:lstStyle/>
          <a:p>
            <a:endParaRPr lang="es-EC"/>
          </a:p>
        </p:txBody>
      </p:sp>
      <p:sp>
        <p:nvSpPr>
          <p:cNvPr id="21" name="Text 19"/>
          <p:cNvSpPr txBox="1"/>
          <p:nvPr/>
        </p:nvSpPr>
        <p:spPr>
          <a:xfrm>
            <a:off x="8247888" y="397764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778240" y="393192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Early Churn</a:t>
            </a:r>
            <a:endParaRPr lang="en-US" sz="1250" dirty="0"/>
          </a:p>
        </p:txBody>
      </p:sp>
      <p:sp>
        <p:nvSpPr>
          <p:cNvPr id="23" name="Text 21"/>
          <p:cNvSpPr txBox="1"/>
          <p:nvPr/>
        </p:nvSpPr>
        <p:spPr>
          <a:xfrm>
            <a:off x="8275320" y="441655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Clientes desactivados en los primeros 90 días</a:t>
            </a:r>
            <a:endParaRPr lang="en-US" sz="1000" dirty="0"/>
          </a:p>
        </p:txBody>
      </p:sp>
      <p:sp>
        <p:nvSpPr>
          <p:cNvPr id="24" name="Shape 22"/>
          <p:cNvSpPr/>
          <p:nvPr/>
        </p:nvSpPr>
        <p:spPr>
          <a:xfrm>
            <a:off x="548640" y="521208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25" name="Shape 23"/>
          <p:cNvSpPr/>
          <p:nvPr/>
        </p:nvSpPr>
        <p:spPr>
          <a:xfrm>
            <a:off x="749808" y="5394960"/>
            <a:ext cx="384048" cy="384048"/>
          </a:xfrm>
          <a:prstGeom prst="ellipse">
            <a:avLst/>
          </a:prstGeom>
          <a:solidFill>
            <a:srgbClr val="1E2761"/>
          </a:solidFill>
          <a:ln w="12700">
            <a:solidFill>
              <a:srgbClr val="1E2761"/>
            </a:solidFill>
            <a:prstDash val="solid"/>
          </a:ln>
        </p:spPr>
        <p:txBody>
          <a:bodyPr/>
          <a:lstStyle/>
          <a:p>
            <a:endParaRPr lang="es-EC"/>
          </a:p>
        </p:txBody>
      </p:sp>
      <p:sp>
        <p:nvSpPr>
          <p:cNvPr id="26" name="Text 24"/>
          <p:cNvSpPr txBox="1"/>
          <p:nvPr/>
        </p:nvSpPr>
        <p:spPr>
          <a:xfrm>
            <a:off x="749808" y="539496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1280160" y="534924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Incidentes</a:t>
            </a:r>
            <a:endParaRPr lang="en-US" sz="1250" dirty="0"/>
          </a:p>
        </p:txBody>
      </p:sp>
      <p:sp>
        <p:nvSpPr>
          <p:cNvPr id="28" name="Text 26"/>
          <p:cNvSpPr txBox="1"/>
          <p:nvPr/>
        </p:nvSpPr>
        <p:spPr>
          <a:xfrm>
            <a:off x="777240" y="583387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Requerimientos y quejas del cliente post-venta</a:t>
            </a:r>
            <a:endParaRPr lang="en-US" sz="1000" dirty="0"/>
          </a:p>
        </p:txBody>
      </p:sp>
      <p:sp>
        <p:nvSpPr>
          <p:cNvPr id="29" name="Shape 27"/>
          <p:cNvSpPr/>
          <p:nvPr/>
        </p:nvSpPr>
        <p:spPr>
          <a:xfrm>
            <a:off x="4297680" y="521208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30" name="Shape 28"/>
          <p:cNvSpPr/>
          <p:nvPr/>
        </p:nvSpPr>
        <p:spPr>
          <a:xfrm>
            <a:off x="4498848" y="5394960"/>
            <a:ext cx="384048" cy="384048"/>
          </a:xfrm>
          <a:prstGeom prst="ellipse">
            <a:avLst/>
          </a:prstGeom>
          <a:solidFill>
            <a:srgbClr val="1E2761"/>
          </a:solidFill>
          <a:ln w="12700">
            <a:solidFill>
              <a:srgbClr val="1E2761"/>
            </a:solidFill>
            <a:prstDash val="solid"/>
          </a:ln>
        </p:spPr>
        <p:txBody>
          <a:bodyPr/>
          <a:lstStyle/>
          <a:p>
            <a:endParaRPr lang="es-EC"/>
          </a:p>
        </p:txBody>
      </p:sp>
      <p:sp>
        <p:nvSpPr>
          <p:cNvPr id="31" name="Text 29"/>
          <p:cNvSpPr txBox="1"/>
          <p:nvPr/>
        </p:nvSpPr>
        <p:spPr>
          <a:xfrm>
            <a:off x="4498848" y="539496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txBox="1"/>
          <p:nvPr/>
        </p:nvSpPr>
        <p:spPr>
          <a:xfrm>
            <a:off x="5029200" y="534924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Beneficios del Cliente</a:t>
            </a:r>
            <a:endParaRPr lang="en-US" sz="1250" dirty="0"/>
          </a:p>
        </p:txBody>
      </p:sp>
      <p:sp>
        <p:nvSpPr>
          <p:cNvPr id="33" name="Text 31"/>
          <p:cNvSpPr txBox="1"/>
          <p:nvPr/>
        </p:nvSpPr>
        <p:spPr>
          <a:xfrm>
            <a:off x="4526280" y="583387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Discapacidad y tercera edad</a:t>
            </a:r>
            <a:endParaRPr lang="en-US" sz="1000" dirty="0"/>
          </a:p>
        </p:txBody>
      </p:sp>
      <p:sp>
        <p:nvSpPr>
          <p:cNvPr id="34" name="Shape 32"/>
          <p:cNvSpPr/>
          <p:nvPr/>
        </p:nvSpPr>
        <p:spPr>
          <a:xfrm>
            <a:off x="8046720" y="5212080"/>
            <a:ext cx="342900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35" name="Shape 33"/>
          <p:cNvSpPr/>
          <p:nvPr/>
        </p:nvSpPr>
        <p:spPr>
          <a:xfrm>
            <a:off x="8247888" y="5394960"/>
            <a:ext cx="384048" cy="384048"/>
          </a:xfrm>
          <a:prstGeom prst="ellipse">
            <a:avLst/>
          </a:prstGeom>
          <a:solidFill>
            <a:srgbClr val="1E2761"/>
          </a:solidFill>
          <a:ln w="12700">
            <a:solidFill>
              <a:srgbClr val="1E2761"/>
            </a:solidFill>
            <a:prstDash val="solid"/>
          </a:ln>
        </p:spPr>
        <p:txBody>
          <a:bodyPr/>
          <a:lstStyle/>
          <a:p>
            <a:endParaRPr lang="es-EC"/>
          </a:p>
        </p:txBody>
      </p:sp>
      <p:sp>
        <p:nvSpPr>
          <p:cNvPr id="36" name="Text 34"/>
          <p:cNvSpPr txBox="1"/>
          <p:nvPr/>
        </p:nvSpPr>
        <p:spPr>
          <a:xfrm>
            <a:off x="8247888" y="539496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8778240" y="5349240"/>
            <a:ext cx="251460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Rentabilidad y Riesgo</a:t>
            </a:r>
            <a:endParaRPr lang="en-US" sz="1250" dirty="0"/>
          </a:p>
        </p:txBody>
      </p:sp>
      <p:sp>
        <p:nvSpPr>
          <p:cNvPr id="38" name="Text 36"/>
          <p:cNvSpPr txBox="1"/>
          <p:nvPr/>
        </p:nvSpPr>
        <p:spPr>
          <a:xfrm>
            <a:off x="8275320" y="5833872"/>
            <a:ext cx="297180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Forma de pago y calidad de la venta</a:t>
            </a:r>
            <a:endParaRPr lang="en-US" sz="1000" dirty="0"/>
          </a:p>
        </p:txBody>
      </p:sp>
      <p:sp>
        <p:nvSpPr>
          <p:cNvPr id="39" name="Text 37"/>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40" name="Text 38"/>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Exploración de Datos — Primera Instancia (1/2)</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Antes de calcular una sola métrica, auditamos el archivo fuente completo.</a:t>
            </a:r>
            <a:endParaRPr lang="en-US" sz="1300" dirty="0"/>
          </a:p>
        </p:txBody>
      </p:sp>
      <p:sp>
        <p:nvSpPr>
          <p:cNvPr id="4" name="Shape 2"/>
          <p:cNvSpPr/>
          <p:nvPr/>
        </p:nvSpPr>
        <p:spPr>
          <a:xfrm>
            <a:off x="548640" y="1554480"/>
            <a:ext cx="3246120" cy="1371600"/>
          </a:xfrm>
          <a:prstGeom prst="roundRect">
            <a:avLst>
              <a:gd name="adj" fmla="val 5333"/>
            </a:avLst>
          </a:prstGeom>
          <a:solidFill>
            <a:srgbClr val="F4F6FB"/>
          </a:solidFill>
          <a:ln w="12700">
            <a:solidFill>
              <a:srgbClr val="F4F6FB"/>
            </a:solidFill>
            <a:prstDash val="solid"/>
          </a:ln>
        </p:spPr>
        <p:txBody>
          <a:bodyPr/>
          <a:lstStyle/>
          <a:p>
            <a:endParaRPr lang="es-EC"/>
          </a:p>
        </p:txBody>
      </p:sp>
      <p:sp>
        <p:nvSpPr>
          <p:cNvPr id="5" name="Text 3"/>
          <p:cNvSpPr txBox="1"/>
          <p:nvPr/>
        </p:nvSpPr>
        <p:spPr>
          <a:xfrm>
            <a:off x="548640" y="1691640"/>
            <a:ext cx="3246120" cy="59436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569,946</a:t>
            </a:r>
            <a:endParaRPr lang="en-US" sz="2600" dirty="0"/>
          </a:p>
        </p:txBody>
      </p:sp>
      <p:sp>
        <p:nvSpPr>
          <p:cNvPr id="6" name="Text 4"/>
          <p:cNvSpPr txBox="1"/>
          <p:nvPr/>
        </p:nvSpPr>
        <p:spPr>
          <a:xfrm>
            <a:off x="731520" y="2331720"/>
            <a:ext cx="2880360" cy="548640"/>
          </a:xfrm>
          <a:prstGeom prst="rect">
            <a:avLst/>
          </a:prstGeom>
          <a:noFill/>
          <a:ln/>
        </p:spPr>
        <p:txBody>
          <a:bodyPr wrap="square"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Filas en la hoja Excel del </a:t>
            </a:r>
            <a:r>
              <a:rPr lang="en-US" sz="1000" dirty="0" err="1">
                <a:solidFill>
                  <a:srgbClr val="5B6584"/>
                </a:solidFill>
                <a:latin typeface="Calibri" pitchFamily="34" charset="0"/>
                <a:ea typeface="Calibri" pitchFamily="34" charset="-122"/>
                <a:cs typeface="Calibri" pitchFamily="34" charset="-120"/>
              </a:rPr>
              <a:t>archivo</a:t>
            </a:r>
            <a:r>
              <a:rPr lang="en-US" sz="1000" dirty="0">
                <a:solidFill>
                  <a:srgbClr val="5B6584"/>
                </a:solidFill>
                <a:latin typeface="Calibri" pitchFamily="34" charset="0"/>
                <a:ea typeface="Calibri" pitchFamily="34" charset="-122"/>
                <a:cs typeface="Calibri" pitchFamily="34" charset="-120"/>
              </a:rPr>
              <a:t> / </a:t>
            </a:r>
            <a:r>
              <a:rPr lang="en-US" sz="1000" dirty="0" err="1">
                <a:solidFill>
                  <a:srgbClr val="5B6584"/>
                </a:solidFill>
                <a:latin typeface="Calibri" pitchFamily="34" charset="0"/>
                <a:ea typeface="Calibri" pitchFamily="34" charset="-122"/>
                <a:cs typeface="Calibri" pitchFamily="34" charset="-120"/>
              </a:rPr>
              <a:t>Existen</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filas</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en</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blanco</a:t>
            </a:r>
            <a:r>
              <a:rPr lang="en-US" sz="1000" dirty="0">
                <a:solidFill>
                  <a:srgbClr val="5B6584"/>
                </a:solidFill>
                <a:latin typeface="Calibri" pitchFamily="34" charset="0"/>
                <a:ea typeface="Calibri" pitchFamily="34" charset="-122"/>
                <a:cs typeface="Calibri" pitchFamily="34" charset="-120"/>
              </a:rPr>
              <a:t> con </a:t>
            </a:r>
            <a:r>
              <a:rPr lang="en-US" sz="1000" dirty="0" err="1">
                <a:solidFill>
                  <a:srgbClr val="5B6584"/>
                </a:solidFill>
                <a:latin typeface="Calibri" pitchFamily="34" charset="0"/>
                <a:ea typeface="Calibri" pitchFamily="34" charset="-122"/>
                <a:cs typeface="Calibri" pitchFamily="34" charset="-120"/>
              </a:rPr>
              <a:t>formato</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fecha</a:t>
            </a:r>
            <a:r>
              <a:rPr lang="en-US" sz="1000" dirty="0">
                <a:solidFill>
                  <a:srgbClr val="5B6584"/>
                </a:solidFill>
                <a:latin typeface="Calibri" pitchFamily="34" charset="0"/>
                <a:ea typeface="Calibri" pitchFamily="34" charset="-122"/>
                <a:cs typeface="Calibri" pitchFamily="34" charset="-120"/>
              </a:rPr>
              <a:t>)</a:t>
            </a:r>
            <a:endParaRPr lang="en-US" sz="1000" dirty="0"/>
          </a:p>
        </p:txBody>
      </p:sp>
      <p:sp>
        <p:nvSpPr>
          <p:cNvPr id="7" name="Shape 5"/>
          <p:cNvSpPr/>
          <p:nvPr/>
        </p:nvSpPr>
        <p:spPr>
          <a:xfrm rot="5400000">
            <a:off x="3849624" y="2057400"/>
            <a:ext cx="164592" cy="365760"/>
          </a:xfrm>
          <a:prstGeom prst="triangle">
            <a:avLst/>
          </a:prstGeom>
          <a:solidFill>
            <a:srgbClr val="1E2761"/>
          </a:solidFill>
          <a:ln w="12700">
            <a:solidFill>
              <a:srgbClr val="1E2761"/>
            </a:solidFill>
            <a:prstDash val="solid"/>
          </a:ln>
        </p:spPr>
        <p:txBody>
          <a:bodyPr/>
          <a:lstStyle/>
          <a:p>
            <a:endParaRPr lang="es-EC"/>
          </a:p>
        </p:txBody>
      </p:sp>
      <p:sp>
        <p:nvSpPr>
          <p:cNvPr id="8" name="Shape 6"/>
          <p:cNvSpPr/>
          <p:nvPr/>
        </p:nvSpPr>
        <p:spPr>
          <a:xfrm>
            <a:off x="4069080" y="1554480"/>
            <a:ext cx="3246120" cy="1371600"/>
          </a:xfrm>
          <a:prstGeom prst="roundRect">
            <a:avLst>
              <a:gd name="adj" fmla="val 5333"/>
            </a:avLst>
          </a:prstGeom>
          <a:solidFill>
            <a:srgbClr val="F4F6FB"/>
          </a:solidFill>
          <a:ln w="12700">
            <a:solidFill>
              <a:srgbClr val="F4F6FB"/>
            </a:solidFill>
            <a:prstDash val="solid"/>
          </a:ln>
        </p:spPr>
        <p:txBody>
          <a:bodyPr/>
          <a:lstStyle/>
          <a:p>
            <a:endParaRPr lang="es-EC"/>
          </a:p>
        </p:txBody>
      </p:sp>
      <p:sp>
        <p:nvSpPr>
          <p:cNvPr id="9" name="Text 7"/>
          <p:cNvSpPr txBox="1"/>
          <p:nvPr/>
        </p:nvSpPr>
        <p:spPr>
          <a:xfrm>
            <a:off x="4069080" y="1691640"/>
            <a:ext cx="3246120" cy="59436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54,855</a:t>
            </a:r>
            <a:endParaRPr lang="en-US" sz="2600" dirty="0"/>
          </a:p>
        </p:txBody>
      </p:sp>
      <p:sp>
        <p:nvSpPr>
          <p:cNvPr id="10" name="Text 8"/>
          <p:cNvSpPr txBox="1"/>
          <p:nvPr/>
        </p:nvSpPr>
        <p:spPr>
          <a:xfrm>
            <a:off x="4251960" y="2331720"/>
            <a:ext cx="2880360" cy="548640"/>
          </a:xfrm>
          <a:prstGeom prst="rect">
            <a:avLst/>
          </a:prstGeom>
          <a:noFill/>
          <a:ln/>
        </p:spPr>
        <p:txBody>
          <a:bodyPr wrap="square" rtlCol="0" anchor="ctr"/>
          <a:lstStyle/>
          <a:p>
            <a:pPr marL="0" indent="0" algn="ctr">
              <a:buNone/>
            </a:pPr>
            <a:r>
              <a:rPr lang="en-US" sz="1000" dirty="0">
                <a:solidFill>
                  <a:srgbClr val="5B6584"/>
                </a:solidFill>
                <a:latin typeface="Calibri" pitchFamily="34" charset="0"/>
                <a:ea typeface="Calibri" pitchFamily="34" charset="-122"/>
                <a:cs typeface="Calibri" pitchFamily="34" charset="-120"/>
              </a:rPr>
              <a:t>Registros con datos reales</a:t>
            </a:r>
            <a:endParaRPr lang="en-US" sz="1000" dirty="0"/>
          </a:p>
          <a:p>
            <a:pPr marL="0" indent="0" algn="ctr">
              <a:buNone/>
            </a:pPr>
            <a:r>
              <a:rPr lang="en-US" sz="1000" dirty="0">
                <a:solidFill>
                  <a:srgbClr val="5B6584"/>
                </a:solidFill>
                <a:latin typeface="Calibri" pitchFamily="34" charset="0"/>
                <a:ea typeface="Calibri" pitchFamily="34" charset="-122"/>
                <a:cs typeface="Calibri" pitchFamily="34" charset="-120"/>
              </a:rPr>
              <a:t>(el resto: relleno vacío)</a:t>
            </a:r>
            <a:endParaRPr lang="en-US" sz="1000" dirty="0"/>
          </a:p>
        </p:txBody>
      </p:sp>
      <p:sp>
        <p:nvSpPr>
          <p:cNvPr id="11" name="Shape 9"/>
          <p:cNvSpPr/>
          <p:nvPr/>
        </p:nvSpPr>
        <p:spPr>
          <a:xfrm rot="5400000">
            <a:off x="7370064" y="2057400"/>
            <a:ext cx="164592" cy="365760"/>
          </a:xfrm>
          <a:prstGeom prst="triangle">
            <a:avLst/>
          </a:prstGeom>
          <a:solidFill>
            <a:srgbClr val="1E2761"/>
          </a:solidFill>
          <a:ln w="12700">
            <a:solidFill>
              <a:srgbClr val="1E2761"/>
            </a:solidFill>
            <a:prstDash val="solid"/>
          </a:ln>
        </p:spPr>
        <p:txBody>
          <a:bodyPr/>
          <a:lstStyle/>
          <a:p>
            <a:endParaRPr lang="es-EC"/>
          </a:p>
        </p:txBody>
      </p:sp>
      <p:sp>
        <p:nvSpPr>
          <p:cNvPr id="12" name="Shape 10"/>
          <p:cNvSpPr/>
          <p:nvPr/>
        </p:nvSpPr>
        <p:spPr>
          <a:xfrm>
            <a:off x="7589520" y="1554480"/>
            <a:ext cx="3246120" cy="1371600"/>
          </a:xfrm>
          <a:prstGeom prst="roundRect">
            <a:avLst>
              <a:gd name="adj" fmla="val 5333"/>
            </a:avLst>
          </a:prstGeom>
          <a:solidFill>
            <a:srgbClr val="1E2761"/>
          </a:solidFill>
          <a:ln w="12700">
            <a:solidFill>
              <a:srgbClr val="1E2761"/>
            </a:solidFill>
            <a:prstDash val="solid"/>
          </a:ln>
        </p:spPr>
        <p:txBody>
          <a:bodyPr/>
          <a:lstStyle/>
          <a:p>
            <a:endParaRPr lang="es-EC"/>
          </a:p>
        </p:txBody>
      </p:sp>
      <p:sp>
        <p:nvSpPr>
          <p:cNvPr id="13" name="Text 11"/>
          <p:cNvSpPr txBox="1"/>
          <p:nvPr/>
        </p:nvSpPr>
        <p:spPr>
          <a:xfrm>
            <a:off x="7589520" y="1691640"/>
            <a:ext cx="3246120" cy="59436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54,824</a:t>
            </a:r>
            <a:endParaRPr lang="en-US" sz="2600" dirty="0"/>
          </a:p>
        </p:txBody>
      </p:sp>
      <p:sp>
        <p:nvSpPr>
          <p:cNvPr id="14" name="Text 12"/>
          <p:cNvSpPr txBox="1"/>
          <p:nvPr/>
        </p:nvSpPr>
        <p:spPr>
          <a:xfrm>
            <a:off x="7772400" y="2331720"/>
            <a:ext cx="2880360" cy="54864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Registros finales</a:t>
            </a:r>
            <a:endParaRPr lang="en-US" sz="1000" dirty="0"/>
          </a:p>
          <a:p>
            <a:pPr marL="0" indent="0" algn="ctr">
              <a:buNone/>
            </a:pPr>
            <a:r>
              <a:rPr lang="en-US" sz="1000" dirty="0">
                <a:solidFill>
                  <a:srgbClr val="CADCFC"/>
                </a:solidFill>
                <a:latin typeface="Calibri" pitchFamily="34" charset="0"/>
                <a:ea typeface="Calibri" pitchFamily="34" charset="-122"/>
                <a:cs typeface="Calibri" pitchFamily="34" charset="-120"/>
              </a:rPr>
              <a:t>(tras remover duplicados </a:t>
            </a:r>
            <a:r>
              <a:rPr lang="en-US" sz="1000" dirty="0" err="1">
                <a:solidFill>
                  <a:srgbClr val="CADCFC"/>
                </a:solidFill>
                <a:latin typeface="Calibri" pitchFamily="34" charset="0"/>
                <a:ea typeface="Calibri" pitchFamily="34" charset="-122"/>
                <a:cs typeface="Calibri" pitchFamily="34" charset="-120"/>
              </a:rPr>
              <a:t>exactos</a:t>
            </a:r>
            <a:r>
              <a:rPr lang="en-US" sz="1000" dirty="0">
                <a:solidFill>
                  <a:srgbClr val="CADCFC"/>
                </a:solidFill>
                <a:latin typeface="Calibri" pitchFamily="34" charset="0"/>
                <a:ea typeface="Calibri" pitchFamily="34" charset="-122"/>
                <a:cs typeface="Calibri" pitchFamily="34" charset="-120"/>
              </a:rPr>
              <a:t>)  </a:t>
            </a:r>
            <a:r>
              <a:rPr lang="en-US" sz="1000" dirty="0" err="1">
                <a:solidFill>
                  <a:srgbClr val="CADCFC"/>
                </a:solidFill>
                <a:latin typeface="Calibri" pitchFamily="34" charset="0"/>
                <a:ea typeface="Calibri" pitchFamily="34" charset="-122"/>
                <a:cs typeface="Calibri" pitchFamily="34" charset="-120"/>
              </a:rPr>
              <a:t>Duplicados</a:t>
            </a:r>
            <a:r>
              <a:rPr lang="en-US" sz="1000" dirty="0">
                <a:solidFill>
                  <a:srgbClr val="CADCFC"/>
                </a:solidFill>
                <a:latin typeface="Calibri" pitchFamily="34" charset="0"/>
                <a:ea typeface="Calibri" pitchFamily="34" charset="-122"/>
                <a:cs typeface="Calibri" pitchFamily="34" charset="-120"/>
              </a:rPr>
              <a:t> -31</a:t>
            </a:r>
            <a:endParaRPr lang="en-US" sz="1000" dirty="0"/>
          </a:p>
        </p:txBody>
      </p:sp>
      <p:sp>
        <p:nvSpPr>
          <p:cNvPr id="15" name="Text 13"/>
          <p:cNvSpPr txBox="1"/>
          <p:nvPr/>
        </p:nvSpPr>
        <p:spPr>
          <a:xfrm>
            <a:off x="548640" y="3246120"/>
            <a:ext cx="1097280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Novedades detectadas en el volumen y unicidad de los datos</a:t>
            </a:r>
            <a:endParaRPr lang="en-US" sz="1500" dirty="0"/>
          </a:p>
        </p:txBody>
      </p:sp>
      <p:sp>
        <p:nvSpPr>
          <p:cNvPr id="16" name="Shape 14"/>
          <p:cNvSpPr/>
          <p:nvPr/>
        </p:nvSpPr>
        <p:spPr>
          <a:xfrm>
            <a:off x="548640" y="3657600"/>
            <a:ext cx="539496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17" name="Text 15"/>
          <p:cNvSpPr txBox="1"/>
          <p:nvPr/>
        </p:nvSpPr>
        <p:spPr>
          <a:xfrm>
            <a:off x="777240" y="3767328"/>
            <a:ext cx="4937760" cy="3657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90% del archivo era relleno</a:t>
            </a:r>
            <a:endParaRPr lang="en-US" sz="1250" dirty="0"/>
          </a:p>
        </p:txBody>
      </p:sp>
      <p:sp>
        <p:nvSpPr>
          <p:cNvPr id="18" name="Text 16"/>
          <p:cNvSpPr txBox="1"/>
          <p:nvPr/>
        </p:nvSpPr>
        <p:spPr>
          <a:xfrm>
            <a:off x="777240" y="4133088"/>
            <a:ext cx="4937760" cy="68580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El Excel mostraba 569,946 filas, pero solo 54,855 tenían datos reales; el resto eran filas </a:t>
            </a:r>
            <a:r>
              <a:rPr lang="en-US" sz="1000" dirty="0" err="1">
                <a:solidFill>
                  <a:srgbClr val="5B6584"/>
                </a:solidFill>
                <a:latin typeface="Calibri" pitchFamily="34" charset="0"/>
                <a:ea typeface="Calibri" pitchFamily="34" charset="-122"/>
                <a:cs typeface="Calibri" pitchFamily="34" charset="-120"/>
              </a:rPr>
              <a:t>vacías</a:t>
            </a:r>
            <a:r>
              <a:rPr lang="en-US" sz="1000" dirty="0">
                <a:solidFill>
                  <a:srgbClr val="5B6584"/>
                </a:solidFill>
                <a:latin typeface="Calibri" pitchFamily="34" charset="0"/>
                <a:ea typeface="Calibri" pitchFamily="34" charset="-122"/>
                <a:cs typeface="Calibri" pitchFamily="34" charset="-120"/>
              </a:rPr>
              <a:t> con </a:t>
            </a:r>
            <a:r>
              <a:rPr lang="en-US" sz="1000" dirty="0" err="1">
                <a:solidFill>
                  <a:srgbClr val="5B6584"/>
                </a:solidFill>
                <a:latin typeface="Calibri" pitchFamily="34" charset="0"/>
                <a:ea typeface="Calibri" pitchFamily="34" charset="-122"/>
                <a:cs typeface="Calibri" pitchFamily="34" charset="-120"/>
              </a:rPr>
              <a:t>formato</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atado</a:t>
            </a:r>
            <a:r>
              <a:rPr lang="en-US" sz="1000" dirty="0">
                <a:solidFill>
                  <a:srgbClr val="5B6584"/>
                </a:solidFill>
                <a:latin typeface="Calibri" pitchFamily="34" charset="0"/>
                <a:ea typeface="Calibri" pitchFamily="34" charset="-122"/>
                <a:cs typeface="Calibri" pitchFamily="34" charset="-120"/>
              </a:rPr>
              <a:t>.</a:t>
            </a:r>
            <a:endParaRPr lang="en-US" sz="1000" dirty="0"/>
          </a:p>
        </p:txBody>
      </p:sp>
      <p:sp>
        <p:nvSpPr>
          <p:cNvPr id="19" name="Shape 17"/>
          <p:cNvSpPr/>
          <p:nvPr/>
        </p:nvSpPr>
        <p:spPr>
          <a:xfrm>
            <a:off x="6263640" y="3657600"/>
            <a:ext cx="539496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20" name="Text 18"/>
          <p:cNvSpPr txBox="1"/>
          <p:nvPr/>
        </p:nvSpPr>
        <p:spPr>
          <a:xfrm>
            <a:off x="6492240" y="3767328"/>
            <a:ext cx="4937760" cy="3657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31 filas 100% duplicadas</a:t>
            </a:r>
            <a:endParaRPr lang="en-US" sz="1250" dirty="0"/>
          </a:p>
        </p:txBody>
      </p:sp>
      <p:sp>
        <p:nvSpPr>
          <p:cNvPr id="21" name="Text 19"/>
          <p:cNvSpPr txBox="1"/>
          <p:nvPr/>
        </p:nvSpPr>
        <p:spPr>
          <a:xfrm>
            <a:off x="6492240" y="4133088"/>
            <a:ext cx="4937760" cy="68580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Mismo cliente, vendedor, fecha, plan y valores exactos. Se removieron antes de calcular metas y comisiones, para no inflar resultados.</a:t>
            </a:r>
            <a:endParaRPr lang="en-US" sz="1000" dirty="0"/>
          </a:p>
        </p:txBody>
      </p:sp>
      <p:sp>
        <p:nvSpPr>
          <p:cNvPr id="22" name="Shape 20"/>
          <p:cNvSpPr/>
          <p:nvPr/>
        </p:nvSpPr>
        <p:spPr>
          <a:xfrm>
            <a:off x="548640" y="5056632"/>
            <a:ext cx="539496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23" name="Text 21"/>
          <p:cNvSpPr txBox="1"/>
          <p:nvPr/>
        </p:nvSpPr>
        <p:spPr>
          <a:xfrm>
            <a:off x="777240" y="5166360"/>
            <a:ext cx="4937760" cy="3657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102 filas con el mismo patrón de nulos</a:t>
            </a:r>
            <a:endParaRPr lang="en-US" sz="1250" dirty="0"/>
          </a:p>
        </p:txBody>
      </p:sp>
      <p:sp>
        <p:nvSpPr>
          <p:cNvPr id="24" name="Text 22"/>
          <p:cNvSpPr txBox="1"/>
          <p:nvPr/>
        </p:nvSpPr>
        <p:spPr>
          <a:xfrm>
            <a:off x="777240" y="5532120"/>
            <a:ext cx="4937760" cy="685800"/>
          </a:xfrm>
          <a:prstGeom prst="rect">
            <a:avLst/>
          </a:prstGeom>
          <a:noFill/>
          <a:ln/>
        </p:spPr>
        <p:txBody>
          <a:bodyPr wrap="square" rtlCol="0" anchor="ctr"/>
          <a:lstStyle/>
          <a:p>
            <a:pPr marL="0" indent="0">
              <a:buNone/>
            </a:pPr>
            <a:r>
              <a:rPr lang="en-US" sz="1000" b="1" dirty="0">
                <a:solidFill>
                  <a:srgbClr val="5B6584"/>
                </a:solidFill>
                <a:latin typeface="Calibri" pitchFamily="34" charset="0"/>
                <a:ea typeface="Calibri" pitchFamily="34" charset="-122"/>
                <a:cs typeface="Calibri" pitchFamily="34" charset="-120"/>
              </a:rPr>
              <a:t>Generación</a:t>
            </a:r>
            <a:r>
              <a:rPr lang="en-US" sz="1000" dirty="0">
                <a:solidFill>
                  <a:srgbClr val="5B6584"/>
                </a:solidFill>
                <a:latin typeface="Calibri" pitchFamily="34" charset="0"/>
                <a:ea typeface="Calibri" pitchFamily="34" charset="-122"/>
                <a:cs typeface="Calibri" pitchFamily="34" charset="-120"/>
              </a:rPr>
              <a:t> y </a:t>
            </a:r>
            <a:r>
              <a:rPr lang="en-US" sz="1000" b="1" dirty="0">
                <a:solidFill>
                  <a:srgbClr val="5B6584"/>
                </a:solidFill>
                <a:latin typeface="Calibri" pitchFamily="34" charset="0"/>
                <a:ea typeface="Calibri" pitchFamily="34" charset="-122"/>
                <a:cs typeface="Calibri" pitchFamily="34" charset="-120"/>
              </a:rPr>
              <a:t>riesgo de pago</a:t>
            </a:r>
            <a:r>
              <a:rPr lang="en-US" sz="1000" dirty="0">
                <a:solidFill>
                  <a:srgbClr val="5B6584"/>
                </a:solidFill>
                <a:latin typeface="Calibri" pitchFamily="34" charset="0"/>
                <a:ea typeface="Calibri" pitchFamily="34" charset="-122"/>
                <a:cs typeface="Calibri" pitchFamily="34" charset="-120"/>
              </a:rPr>
              <a:t> faltan simultáneamente en las mismas filas — apunta a un lote de importación específico, no a nulos </a:t>
            </a:r>
            <a:r>
              <a:rPr lang="en-US" sz="1000" dirty="0" err="1">
                <a:solidFill>
                  <a:srgbClr val="5B6584"/>
                </a:solidFill>
                <a:latin typeface="Calibri" pitchFamily="34" charset="0"/>
                <a:ea typeface="Calibri" pitchFamily="34" charset="-122"/>
                <a:cs typeface="Calibri" pitchFamily="34" charset="-120"/>
              </a:rPr>
              <a:t>aleatorios</a:t>
            </a:r>
            <a:r>
              <a:rPr lang="en-US" sz="1000" dirty="0">
                <a:solidFill>
                  <a:srgbClr val="5B6584"/>
                </a:solidFill>
                <a:latin typeface="Calibri" pitchFamily="34" charset="0"/>
                <a:ea typeface="Calibri" pitchFamily="34" charset="-122"/>
                <a:cs typeface="Calibri" pitchFamily="34" charset="-120"/>
              </a:rPr>
              <a:t>. // </a:t>
            </a:r>
            <a:r>
              <a:rPr lang="en-US" sz="1000" dirty="0" err="1">
                <a:solidFill>
                  <a:srgbClr val="5B6584"/>
                </a:solidFill>
                <a:latin typeface="Calibri" pitchFamily="34" charset="0"/>
                <a:ea typeface="Calibri" pitchFamily="34" charset="-122"/>
                <a:cs typeface="Calibri" pitchFamily="34" charset="-120"/>
              </a:rPr>
              <a:t>problemas</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en</a:t>
            </a:r>
            <a:r>
              <a:rPr lang="en-US" sz="1000" dirty="0">
                <a:solidFill>
                  <a:srgbClr val="5B6584"/>
                </a:solidFill>
                <a:latin typeface="Calibri" pitchFamily="34" charset="0"/>
                <a:ea typeface="Calibri" pitchFamily="34" charset="-122"/>
                <a:cs typeface="Calibri" pitchFamily="34" charset="-120"/>
              </a:rPr>
              <a:t> la </a:t>
            </a:r>
            <a:r>
              <a:rPr lang="en-US" sz="1000" dirty="0" err="1">
                <a:solidFill>
                  <a:srgbClr val="5B6584"/>
                </a:solidFill>
                <a:latin typeface="Calibri" pitchFamily="34" charset="0"/>
                <a:ea typeface="Calibri" pitchFamily="34" charset="-122"/>
                <a:cs typeface="Calibri" pitchFamily="34" charset="-120"/>
              </a:rPr>
              <a:t>importación</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como</a:t>
            </a:r>
            <a:r>
              <a:rPr lang="en-US" sz="1000" dirty="0">
                <a:solidFill>
                  <a:srgbClr val="5B6584"/>
                </a:solidFill>
                <a:latin typeface="Calibri" pitchFamily="34" charset="0"/>
                <a:ea typeface="Calibri" pitchFamily="34" charset="-122"/>
                <a:cs typeface="Calibri" pitchFamily="34" charset="-120"/>
              </a:rPr>
              <a:t> un join roto</a:t>
            </a:r>
            <a:endParaRPr lang="en-US" sz="1000" dirty="0"/>
          </a:p>
        </p:txBody>
      </p:sp>
      <p:sp>
        <p:nvSpPr>
          <p:cNvPr id="25" name="Shape 23"/>
          <p:cNvSpPr/>
          <p:nvPr/>
        </p:nvSpPr>
        <p:spPr>
          <a:xfrm>
            <a:off x="6263640" y="5056632"/>
            <a:ext cx="5394960" cy="1234440"/>
          </a:xfrm>
          <a:prstGeom prst="roundRect">
            <a:avLst>
              <a:gd name="adj" fmla="val 5926"/>
            </a:avLst>
          </a:prstGeom>
          <a:solidFill>
            <a:srgbClr val="F4F6FB"/>
          </a:solidFill>
          <a:ln w="12700">
            <a:solidFill>
              <a:srgbClr val="F4F6FB"/>
            </a:solidFill>
            <a:prstDash val="solid"/>
          </a:ln>
        </p:spPr>
        <p:txBody>
          <a:bodyPr/>
          <a:lstStyle/>
          <a:p>
            <a:endParaRPr lang="es-EC"/>
          </a:p>
        </p:txBody>
      </p:sp>
      <p:sp>
        <p:nvSpPr>
          <p:cNvPr id="26" name="Text 24"/>
          <p:cNvSpPr txBox="1"/>
          <p:nvPr/>
        </p:nvSpPr>
        <p:spPr>
          <a:xfrm>
            <a:off x="6492240" y="5166360"/>
            <a:ext cx="4937760" cy="3657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1,247 códigos de cliente repetidos</a:t>
            </a:r>
            <a:endParaRPr lang="en-US" sz="1250" dirty="0"/>
          </a:p>
        </p:txBody>
      </p:sp>
      <p:sp>
        <p:nvSpPr>
          <p:cNvPr id="27" name="Text 25"/>
          <p:cNvSpPr txBox="1"/>
          <p:nvPr/>
        </p:nvSpPr>
        <p:spPr>
          <a:xfrm>
            <a:off x="6492240" y="5532120"/>
            <a:ext cx="4937760" cy="68580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La mayoría corresponde a múltiples servicios o reactivaciones legítimas del mismo cliente, no a error — se validó antes de </a:t>
            </a:r>
            <a:r>
              <a:rPr lang="en-US" sz="1000" dirty="0" err="1">
                <a:solidFill>
                  <a:srgbClr val="5B6584"/>
                </a:solidFill>
                <a:latin typeface="Calibri" pitchFamily="34" charset="0"/>
                <a:ea typeface="Calibri" pitchFamily="34" charset="-122"/>
                <a:cs typeface="Calibri" pitchFamily="34" charset="-120"/>
              </a:rPr>
              <a:t>descartar</a:t>
            </a:r>
            <a:r>
              <a:rPr lang="en-US" sz="1000" dirty="0">
                <a:solidFill>
                  <a:srgbClr val="5B6584"/>
                </a:solidFill>
                <a:latin typeface="Calibri" pitchFamily="34" charset="0"/>
                <a:ea typeface="Calibri" pitchFamily="34" charset="-122"/>
                <a:cs typeface="Calibri" pitchFamily="34" charset="-120"/>
              </a:rPr>
              <a:t> </a:t>
            </a:r>
            <a:r>
              <a:rPr lang="en-US" sz="1000" dirty="0" err="1">
                <a:solidFill>
                  <a:srgbClr val="5B6584"/>
                </a:solidFill>
                <a:latin typeface="Calibri" pitchFamily="34" charset="0"/>
                <a:ea typeface="Calibri" pitchFamily="34" charset="-122"/>
                <a:cs typeface="Calibri" pitchFamily="34" charset="-120"/>
              </a:rPr>
              <a:t>cualquiera</a:t>
            </a:r>
            <a:r>
              <a:rPr lang="en-US" sz="1000" dirty="0">
                <a:solidFill>
                  <a:srgbClr val="5B6584"/>
                </a:solidFill>
                <a:latin typeface="Calibri" pitchFamily="34" charset="0"/>
                <a:ea typeface="Calibri" pitchFamily="34" charset="-122"/>
                <a:cs typeface="Calibri" pitchFamily="34" charset="-120"/>
              </a:rPr>
              <a:t> de </a:t>
            </a:r>
            <a:r>
              <a:rPr lang="en-US" sz="1000" dirty="0" err="1">
                <a:solidFill>
                  <a:srgbClr val="5B6584"/>
                </a:solidFill>
                <a:latin typeface="Calibri" pitchFamily="34" charset="0"/>
                <a:ea typeface="Calibri" pitchFamily="34" charset="-122"/>
                <a:cs typeface="Calibri" pitchFamily="34" charset="-120"/>
              </a:rPr>
              <a:t>ellas</a:t>
            </a:r>
            <a:r>
              <a:rPr lang="en-US" sz="1000" dirty="0">
                <a:solidFill>
                  <a:srgbClr val="5B6584"/>
                </a:solidFill>
                <a:latin typeface="Calibri" pitchFamily="34" charset="0"/>
                <a:ea typeface="Calibri" pitchFamily="34" charset="-122"/>
                <a:cs typeface="Calibri" pitchFamily="34" charset="-120"/>
              </a:rPr>
              <a:t>.</a:t>
            </a:r>
            <a:endParaRPr lang="en-US" sz="1000" dirty="0"/>
          </a:p>
        </p:txBody>
      </p:sp>
      <p:sp>
        <p:nvSpPr>
          <p:cNvPr id="28" name="Text 26"/>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9" name="Text 27"/>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Exploración de Datos — Primera Instancia (2/2)</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Más allá de la limpieza técnica: hallazgos que cambian cómo se interpreta el negocio.</a:t>
            </a:r>
            <a:endParaRPr lang="en-US" sz="1300" dirty="0"/>
          </a:p>
        </p:txBody>
      </p:sp>
      <p:sp>
        <p:nvSpPr>
          <p:cNvPr id="4" name="Shape 2"/>
          <p:cNvSpPr/>
          <p:nvPr/>
        </p:nvSpPr>
        <p:spPr>
          <a:xfrm>
            <a:off x="548640" y="155448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5" name="Shape 3"/>
          <p:cNvSpPr/>
          <p:nvPr/>
        </p:nvSpPr>
        <p:spPr>
          <a:xfrm>
            <a:off x="749808" y="1737360"/>
            <a:ext cx="365760" cy="365760"/>
          </a:xfrm>
          <a:prstGeom prst="ellipse">
            <a:avLst/>
          </a:prstGeom>
          <a:solidFill>
            <a:srgbClr val="1E2761"/>
          </a:solidFill>
          <a:ln w="12700">
            <a:solidFill>
              <a:srgbClr val="1E2761"/>
            </a:solidFill>
            <a:prstDash val="solid"/>
          </a:ln>
        </p:spPr>
        <p:txBody>
          <a:bodyPr/>
          <a:lstStyle/>
          <a:p>
            <a:endParaRPr lang="es-EC"/>
          </a:p>
        </p:txBody>
      </p:sp>
      <p:sp>
        <p:nvSpPr>
          <p:cNvPr id="6" name="Text 4"/>
          <p:cNvSpPr txBox="1"/>
          <p:nvPr/>
        </p:nvSpPr>
        <p:spPr>
          <a:xfrm>
            <a:off x="749808" y="173736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31520" y="2212848"/>
            <a:ext cx="3154680" cy="5486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Inconsistencias de texto</a:t>
            </a:r>
            <a:endParaRPr lang="en-US" sz="1200" dirty="0"/>
          </a:p>
        </p:txBody>
      </p:sp>
      <p:sp>
        <p:nvSpPr>
          <p:cNvPr id="8" name="Text 6"/>
          <p:cNvSpPr txBox="1"/>
          <p:nvPr/>
        </p:nvSpPr>
        <p:spPr>
          <a:xfrm>
            <a:off x="731520" y="2724912"/>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“QUITO” vs “Quito”, y encoding roto en generación (“Generaci?n X”). Corregidas con fórmulas PROPER/TRIM y reglas de texto.</a:t>
            </a:r>
            <a:endParaRPr lang="en-US" sz="950" dirty="0"/>
          </a:p>
        </p:txBody>
      </p:sp>
      <p:sp>
        <p:nvSpPr>
          <p:cNvPr id="9" name="Shape 7"/>
          <p:cNvSpPr/>
          <p:nvPr/>
        </p:nvSpPr>
        <p:spPr>
          <a:xfrm>
            <a:off x="4325112" y="155448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0" name="Shape 8"/>
          <p:cNvSpPr/>
          <p:nvPr/>
        </p:nvSpPr>
        <p:spPr>
          <a:xfrm>
            <a:off x="4526280" y="1737360"/>
            <a:ext cx="365760" cy="365760"/>
          </a:xfrm>
          <a:prstGeom prst="ellipse">
            <a:avLst/>
          </a:prstGeom>
          <a:solidFill>
            <a:srgbClr val="1E2761"/>
          </a:solidFill>
          <a:ln w="12700">
            <a:solidFill>
              <a:srgbClr val="1E2761"/>
            </a:solidFill>
            <a:prstDash val="solid"/>
          </a:ln>
        </p:spPr>
        <p:txBody>
          <a:bodyPr/>
          <a:lstStyle/>
          <a:p>
            <a:endParaRPr lang="es-EC"/>
          </a:p>
        </p:txBody>
      </p:sp>
      <p:sp>
        <p:nvSpPr>
          <p:cNvPr id="11" name="Text 9"/>
          <p:cNvSpPr txBox="1"/>
          <p:nvPr/>
        </p:nvSpPr>
        <p:spPr>
          <a:xfrm>
            <a:off x="4526280" y="173736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4507992" y="2212848"/>
            <a:ext cx="3154680" cy="5486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Fechas imposibles</a:t>
            </a:r>
            <a:endParaRPr lang="en-US" sz="1200" dirty="0"/>
          </a:p>
        </p:txBody>
      </p:sp>
      <p:sp>
        <p:nvSpPr>
          <p:cNvPr id="13" name="Text 11"/>
          <p:cNvSpPr txBox="1"/>
          <p:nvPr/>
        </p:nvSpPr>
        <p:spPr>
          <a:xfrm>
            <a:off x="4507992" y="2724912"/>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Nacimientos registrados en 1900 y activaciones de servicio en 2031. Excluidas del cálculo de edad y de antigüedad.</a:t>
            </a:r>
            <a:endParaRPr lang="en-US" sz="950" dirty="0"/>
          </a:p>
        </p:txBody>
      </p:sp>
      <p:sp>
        <p:nvSpPr>
          <p:cNvPr id="14" name="Shape 12"/>
          <p:cNvSpPr/>
          <p:nvPr/>
        </p:nvSpPr>
        <p:spPr>
          <a:xfrm>
            <a:off x="8101584" y="155448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5" name="Shape 13"/>
          <p:cNvSpPr/>
          <p:nvPr/>
        </p:nvSpPr>
        <p:spPr>
          <a:xfrm>
            <a:off x="8302752" y="1737360"/>
            <a:ext cx="365760" cy="365760"/>
          </a:xfrm>
          <a:prstGeom prst="ellipse">
            <a:avLst/>
          </a:prstGeom>
          <a:solidFill>
            <a:srgbClr val="1E2761"/>
          </a:solidFill>
          <a:ln w="12700">
            <a:solidFill>
              <a:srgbClr val="1E2761"/>
            </a:solidFill>
            <a:prstDash val="solid"/>
          </a:ln>
        </p:spPr>
        <p:txBody>
          <a:bodyPr/>
          <a:lstStyle/>
          <a:p>
            <a:endParaRPr lang="es-EC"/>
          </a:p>
        </p:txBody>
      </p:sp>
      <p:sp>
        <p:nvSpPr>
          <p:cNvPr id="16" name="Text 14"/>
          <p:cNvSpPr txBox="1"/>
          <p:nvPr/>
        </p:nvSpPr>
        <p:spPr>
          <a:xfrm>
            <a:off x="8302752" y="1737360"/>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284464" y="2212848"/>
            <a:ext cx="3154680" cy="5486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Sin campo de discapacidad</a:t>
            </a:r>
            <a:endParaRPr lang="en-US" sz="1200" dirty="0"/>
          </a:p>
        </p:txBody>
      </p:sp>
      <p:sp>
        <p:nvSpPr>
          <p:cNvPr id="18" name="Text 16"/>
          <p:cNvSpPr txBox="1"/>
          <p:nvPr/>
        </p:nvSpPr>
        <p:spPr>
          <a:xfrm>
            <a:off x="8284464" y="2724912"/>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El caso lo pide como criterio de compensación, pero el dataset no lo contiene — no se puede aplicar tal como está.</a:t>
            </a:r>
            <a:endParaRPr lang="en-US" sz="950" dirty="0"/>
          </a:p>
        </p:txBody>
      </p:sp>
      <p:sp>
        <p:nvSpPr>
          <p:cNvPr id="19" name="Shape 17"/>
          <p:cNvSpPr/>
          <p:nvPr/>
        </p:nvSpPr>
        <p:spPr>
          <a:xfrm>
            <a:off x="548640" y="3721608"/>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20" name="Shape 18"/>
          <p:cNvSpPr/>
          <p:nvPr/>
        </p:nvSpPr>
        <p:spPr>
          <a:xfrm>
            <a:off x="749808" y="3904488"/>
            <a:ext cx="365760" cy="365760"/>
          </a:xfrm>
          <a:prstGeom prst="ellipse">
            <a:avLst/>
          </a:prstGeom>
          <a:solidFill>
            <a:srgbClr val="1E2761"/>
          </a:solidFill>
          <a:ln w="12700">
            <a:solidFill>
              <a:srgbClr val="1E2761"/>
            </a:solidFill>
            <a:prstDash val="solid"/>
          </a:ln>
        </p:spPr>
        <p:txBody>
          <a:bodyPr/>
          <a:lstStyle/>
          <a:p>
            <a:endParaRPr lang="es-EC"/>
          </a:p>
        </p:txBody>
      </p:sp>
      <p:sp>
        <p:nvSpPr>
          <p:cNvPr id="21" name="Text 19"/>
          <p:cNvSpPr txBox="1"/>
          <p:nvPr/>
        </p:nvSpPr>
        <p:spPr>
          <a:xfrm>
            <a:off x="749808" y="390448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731520" y="4379976"/>
            <a:ext cx="3154680" cy="5486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Códigos “ADR+ciudad” anómalos</a:t>
            </a:r>
            <a:endParaRPr lang="en-US" sz="1200" dirty="0"/>
          </a:p>
        </p:txBody>
      </p:sp>
      <p:sp>
        <p:nvSpPr>
          <p:cNvPr id="23" name="Text 21"/>
          <p:cNvSpPr txBox="1"/>
          <p:nvPr/>
        </p:nvSpPr>
        <p:spPr>
          <a:xfrm>
            <a:off x="731520" y="4892040"/>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Concentran un volumen de venta desproporcionado — parecen ventas de canal digital cargadas a un código genérico, no a un vendedor individual.</a:t>
            </a:r>
            <a:endParaRPr lang="en-US" sz="950" dirty="0"/>
          </a:p>
        </p:txBody>
      </p:sp>
      <p:sp>
        <p:nvSpPr>
          <p:cNvPr id="24" name="Shape 22"/>
          <p:cNvSpPr/>
          <p:nvPr/>
        </p:nvSpPr>
        <p:spPr>
          <a:xfrm>
            <a:off x="4325112" y="3721608"/>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25" name="Shape 23"/>
          <p:cNvSpPr/>
          <p:nvPr/>
        </p:nvSpPr>
        <p:spPr>
          <a:xfrm>
            <a:off x="4526280" y="3904488"/>
            <a:ext cx="365760" cy="365760"/>
          </a:xfrm>
          <a:prstGeom prst="ellipse">
            <a:avLst/>
          </a:prstGeom>
          <a:solidFill>
            <a:srgbClr val="1E2761"/>
          </a:solidFill>
          <a:ln w="12700">
            <a:solidFill>
              <a:srgbClr val="1E2761"/>
            </a:solidFill>
            <a:prstDash val="solid"/>
          </a:ln>
        </p:spPr>
        <p:txBody>
          <a:bodyPr/>
          <a:lstStyle/>
          <a:p>
            <a:endParaRPr lang="es-EC"/>
          </a:p>
        </p:txBody>
      </p:sp>
      <p:sp>
        <p:nvSpPr>
          <p:cNvPr id="26" name="Text 24"/>
          <p:cNvSpPr txBox="1"/>
          <p:nvPr/>
        </p:nvSpPr>
        <p:spPr>
          <a:xfrm>
            <a:off x="4526280" y="390448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4507992" y="4379976"/>
            <a:ext cx="3154680" cy="5486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283 vendedores sin coordinador</a:t>
            </a:r>
            <a:endParaRPr lang="en-US" sz="1200" dirty="0"/>
          </a:p>
        </p:txBody>
      </p:sp>
      <p:sp>
        <p:nvSpPr>
          <p:cNvPr id="28" name="Text 26"/>
          <p:cNvSpPr txBox="1"/>
          <p:nvPr/>
        </p:nvSpPr>
        <p:spPr>
          <a:xfrm>
            <a:off x="4507992" y="4892040"/>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En Guayaquil, aparecen con coordinador “No definido” — un vacío de gobernanza que impide asignar metas con claridad.</a:t>
            </a:r>
            <a:endParaRPr lang="en-US" sz="950" dirty="0"/>
          </a:p>
        </p:txBody>
      </p:sp>
      <p:sp>
        <p:nvSpPr>
          <p:cNvPr id="29" name="Shape 27"/>
          <p:cNvSpPr/>
          <p:nvPr/>
        </p:nvSpPr>
        <p:spPr>
          <a:xfrm>
            <a:off x="8101584" y="3721608"/>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30" name="Shape 28"/>
          <p:cNvSpPr/>
          <p:nvPr/>
        </p:nvSpPr>
        <p:spPr>
          <a:xfrm>
            <a:off x="8302752" y="3904488"/>
            <a:ext cx="365760" cy="365760"/>
          </a:xfrm>
          <a:prstGeom prst="ellipse">
            <a:avLst/>
          </a:prstGeom>
          <a:solidFill>
            <a:srgbClr val="1E2761"/>
          </a:solidFill>
          <a:ln w="12700">
            <a:solidFill>
              <a:srgbClr val="1E2761"/>
            </a:solidFill>
            <a:prstDash val="solid"/>
          </a:ln>
        </p:spPr>
        <p:txBody>
          <a:bodyPr/>
          <a:lstStyle/>
          <a:p>
            <a:endParaRPr lang="es-EC"/>
          </a:p>
        </p:txBody>
      </p:sp>
      <p:sp>
        <p:nvSpPr>
          <p:cNvPr id="31" name="Text 29"/>
          <p:cNvSpPr txBox="1"/>
          <p:nvPr/>
        </p:nvSpPr>
        <p:spPr>
          <a:xfrm>
            <a:off x="8302752" y="3904488"/>
            <a:ext cx="36576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txBox="1"/>
          <p:nvPr/>
        </p:nvSpPr>
        <p:spPr>
          <a:xfrm>
            <a:off x="8284464" y="4307332"/>
            <a:ext cx="3154680" cy="548640"/>
          </a:xfrm>
          <a:prstGeom prst="rect">
            <a:avLst/>
          </a:prstGeom>
          <a:noFill/>
          <a:ln/>
        </p:spPr>
        <p:txBody>
          <a:bodyPr wrap="square" rtlCol="0" anchor="ctr"/>
          <a:lstStyle/>
          <a:p>
            <a:r>
              <a:rPr lang="es-EC" sz="1200" b="1" dirty="0">
                <a:solidFill>
                  <a:srgbClr val="1E2761"/>
                </a:solidFill>
                <a:latin typeface="Calibri" pitchFamily="34" charset="0"/>
                <a:ea typeface="Calibri" pitchFamily="34" charset="-122"/>
                <a:cs typeface="Calibri" pitchFamily="34" charset="-120"/>
              </a:rPr>
              <a:t>59.7% de divergencia</a:t>
            </a:r>
            <a:r>
              <a:rPr lang="es-EC" sz="1200" b="1" dirty="0"/>
              <a:t>: </a:t>
            </a:r>
            <a:r>
              <a:rPr lang="es-EC" sz="1200" b="1" dirty="0">
                <a:solidFill>
                  <a:srgbClr val="1E2761"/>
                </a:solidFill>
                <a:latin typeface="Calibri" pitchFamily="34" charset="0"/>
                <a:ea typeface="Calibri" pitchFamily="34" charset="-122"/>
                <a:cs typeface="Calibri" pitchFamily="34" charset="-120"/>
              </a:rPr>
              <a:t>ciudad del vendedor ≠ geografía del cliente</a:t>
            </a:r>
            <a:endParaRPr lang="en-US" sz="1200" b="1" dirty="0">
              <a:solidFill>
                <a:srgbClr val="1E2761"/>
              </a:solidFill>
              <a:latin typeface="Calibri" pitchFamily="34" charset="0"/>
              <a:ea typeface="Calibri" pitchFamily="34" charset="-122"/>
              <a:cs typeface="Calibri" pitchFamily="34" charset="-120"/>
            </a:endParaRPr>
          </a:p>
        </p:txBody>
      </p:sp>
      <p:sp>
        <p:nvSpPr>
          <p:cNvPr id="33" name="Text 31"/>
          <p:cNvSpPr txBox="1"/>
          <p:nvPr/>
        </p:nvSpPr>
        <p:spPr>
          <a:xfrm>
            <a:off x="8284464" y="4892040"/>
            <a:ext cx="3154680" cy="73152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El campo </a:t>
            </a:r>
            <a:r>
              <a:rPr lang="en-US" sz="950" dirty="0" err="1">
                <a:solidFill>
                  <a:srgbClr val="5B6584"/>
                </a:solidFill>
                <a:latin typeface="Calibri" pitchFamily="34" charset="0"/>
                <a:ea typeface="Calibri" pitchFamily="34" charset="-122"/>
                <a:cs typeface="Calibri" pitchFamily="34" charset="-120"/>
              </a:rPr>
              <a:t>usado</a:t>
            </a:r>
            <a:r>
              <a:rPr lang="en-US" sz="950" dirty="0">
                <a:solidFill>
                  <a:srgbClr val="5B6584"/>
                </a:solidFill>
                <a:latin typeface="Calibri" pitchFamily="34" charset="0"/>
                <a:ea typeface="Calibri" pitchFamily="34" charset="-122"/>
                <a:cs typeface="Calibri" pitchFamily="34" charset="-120"/>
              </a:rPr>
              <a:t> para </a:t>
            </a:r>
            <a:r>
              <a:rPr lang="en-US" sz="950" dirty="0" err="1">
                <a:solidFill>
                  <a:srgbClr val="5B6584"/>
                </a:solidFill>
                <a:latin typeface="Calibri" pitchFamily="34" charset="0"/>
                <a:ea typeface="Calibri" pitchFamily="34" charset="-122"/>
                <a:cs typeface="Calibri" pitchFamily="34" charset="-120"/>
              </a:rPr>
              <a:t>asignar</a:t>
            </a:r>
            <a:r>
              <a:rPr lang="en-US" sz="950" dirty="0">
                <a:solidFill>
                  <a:srgbClr val="5B6584"/>
                </a:solidFill>
                <a:latin typeface="Calibri" pitchFamily="34" charset="0"/>
                <a:ea typeface="Calibri" pitchFamily="34" charset="-122"/>
                <a:cs typeface="Calibri" pitchFamily="34" charset="-120"/>
              </a:rPr>
              <a:t> las </a:t>
            </a:r>
            <a:r>
              <a:rPr lang="en-US" sz="950" dirty="0" err="1">
                <a:solidFill>
                  <a:srgbClr val="5B6584"/>
                </a:solidFill>
                <a:latin typeface="Calibri" pitchFamily="34" charset="0"/>
                <a:ea typeface="Calibri" pitchFamily="34" charset="-122"/>
                <a:cs typeface="Calibri" pitchFamily="34" charset="-120"/>
              </a:rPr>
              <a:t>metas</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ciudad_vendedor</a:t>
            </a:r>
            <a:r>
              <a:rPr lang="en-US" sz="950" dirty="0">
                <a:solidFill>
                  <a:srgbClr val="5B6584"/>
                </a:solidFill>
                <a:latin typeface="Calibri" pitchFamily="34" charset="0"/>
                <a:ea typeface="Calibri" pitchFamily="34" charset="-122"/>
                <a:cs typeface="Calibri" pitchFamily="34" charset="-120"/>
              </a:rPr>
              <a:t>) y la </a:t>
            </a:r>
            <a:r>
              <a:rPr lang="en-US" sz="950" dirty="0" err="1">
                <a:solidFill>
                  <a:srgbClr val="5B6584"/>
                </a:solidFill>
                <a:latin typeface="Calibri" pitchFamily="34" charset="0"/>
                <a:ea typeface="Calibri" pitchFamily="34" charset="-122"/>
                <a:cs typeface="Calibri" pitchFamily="34" charset="-120"/>
              </a:rPr>
              <a:t>ubicación</a:t>
            </a:r>
            <a:r>
              <a:rPr lang="en-US" sz="950" dirty="0">
                <a:solidFill>
                  <a:srgbClr val="5B6584"/>
                </a:solidFill>
                <a:latin typeface="Calibri" pitchFamily="34" charset="0"/>
                <a:ea typeface="Calibri" pitchFamily="34" charset="-122"/>
                <a:cs typeface="Calibri" pitchFamily="34" charset="-120"/>
              </a:rPr>
              <a:t> real del </a:t>
            </a:r>
            <a:r>
              <a:rPr lang="en-US" sz="950" dirty="0" err="1">
                <a:solidFill>
                  <a:srgbClr val="5B6584"/>
                </a:solidFill>
                <a:latin typeface="Calibri" pitchFamily="34" charset="0"/>
                <a:ea typeface="Calibri" pitchFamily="34" charset="-122"/>
                <a:cs typeface="Calibri" pitchFamily="34" charset="-120"/>
              </a:rPr>
              <a:t>servicio</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des_geografía_oracle</a:t>
            </a:r>
            <a:r>
              <a:rPr lang="en-US" sz="950" dirty="0">
                <a:solidFill>
                  <a:srgbClr val="5B6584"/>
                </a:solidFill>
                <a:latin typeface="Calibri" pitchFamily="34" charset="0"/>
                <a:ea typeface="Calibri" pitchFamily="34" charset="-122"/>
                <a:cs typeface="Calibri" pitchFamily="34" charset="-120"/>
              </a:rPr>
              <a:t>) no </a:t>
            </a:r>
            <a:r>
              <a:rPr lang="en-US" sz="950" dirty="0" err="1">
                <a:solidFill>
                  <a:srgbClr val="5B6584"/>
                </a:solidFill>
                <a:latin typeface="Calibri" pitchFamily="34" charset="0"/>
                <a:ea typeface="Calibri" pitchFamily="34" charset="-122"/>
                <a:cs typeface="Calibri" pitchFamily="34" charset="-120"/>
              </a:rPr>
              <a:t>coinciden</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en</a:t>
            </a:r>
            <a:r>
              <a:rPr lang="en-US" sz="950" dirty="0">
                <a:solidFill>
                  <a:srgbClr val="5B6584"/>
                </a:solidFill>
                <a:latin typeface="Calibri" pitchFamily="34" charset="0"/>
                <a:ea typeface="Calibri" pitchFamily="34" charset="-122"/>
                <a:cs typeface="Calibri" pitchFamily="34" charset="-120"/>
              </a:rPr>
              <a:t> 6 de </a:t>
            </a:r>
            <a:r>
              <a:rPr lang="en-US" sz="950" dirty="0" err="1">
                <a:solidFill>
                  <a:srgbClr val="5B6584"/>
                </a:solidFill>
                <a:latin typeface="Calibri" pitchFamily="34" charset="0"/>
                <a:ea typeface="Calibri" pitchFamily="34" charset="-122"/>
                <a:cs typeface="Calibri" pitchFamily="34" charset="-120"/>
              </a:rPr>
              <a:t>cada</a:t>
            </a:r>
            <a:r>
              <a:rPr lang="en-US" sz="950" dirty="0">
                <a:solidFill>
                  <a:srgbClr val="5B6584"/>
                </a:solidFill>
                <a:latin typeface="Calibri" pitchFamily="34" charset="0"/>
                <a:ea typeface="Calibri" pitchFamily="34" charset="-122"/>
                <a:cs typeface="Calibri" pitchFamily="34" charset="-120"/>
              </a:rPr>
              <a:t> 10 </a:t>
            </a:r>
            <a:r>
              <a:rPr lang="en-US" sz="950" dirty="0" err="1">
                <a:solidFill>
                  <a:srgbClr val="5B6584"/>
                </a:solidFill>
                <a:latin typeface="Calibri" pitchFamily="34" charset="0"/>
                <a:ea typeface="Calibri" pitchFamily="34" charset="-122"/>
                <a:cs typeface="Calibri" pitchFamily="34" charset="-120"/>
              </a:rPr>
              <a:t>registros</a:t>
            </a:r>
            <a:r>
              <a:rPr lang="en-US" sz="950" dirty="0">
                <a:solidFill>
                  <a:srgbClr val="5B6584"/>
                </a:solidFill>
                <a:latin typeface="Calibri" pitchFamily="34" charset="0"/>
                <a:ea typeface="Calibri" pitchFamily="34" charset="-122"/>
                <a:cs typeface="Calibri" pitchFamily="34" charset="-120"/>
              </a:rPr>
              <a:t>, hay </a:t>
            </a:r>
            <a:r>
              <a:rPr lang="en-US" sz="950" dirty="0" err="1">
                <a:solidFill>
                  <a:srgbClr val="5B6584"/>
                </a:solidFill>
                <a:latin typeface="Calibri" pitchFamily="34" charset="0"/>
                <a:ea typeface="Calibri" pitchFamily="34" charset="-122"/>
                <a:cs typeface="Calibri" pitchFamily="34" charset="-120"/>
              </a:rPr>
              <a:t>que</a:t>
            </a:r>
            <a:r>
              <a:rPr lang="en-US" sz="950" dirty="0">
                <a:solidFill>
                  <a:srgbClr val="5B6584"/>
                </a:solidFill>
                <a:latin typeface="Calibri" pitchFamily="34" charset="0"/>
                <a:ea typeface="Calibri" pitchFamily="34" charset="-122"/>
                <a:cs typeface="Calibri" pitchFamily="34" charset="-120"/>
              </a:rPr>
              <a:t> decider </a:t>
            </a:r>
            <a:r>
              <a:rPr lang="en-US" sz="950" dirty="0" err="1">
                <a:solidFill>
                  <a:srgbClr val="5B6584"/>
                </a:solidFill>
                <a:latin typeface="Calibri" pitchFamily="34" charset="0"/>
                <a:ea typeface="Calibri" pitchFamily="34" charset="-122"/>
                <a:cs typeface="Calibri" pitchFamily="34" charset="-120"/>
              </a:rPr>
              <a:t>cual</a:t>
            </a:r>
            <a:r>
              <a:rPr lang="en-US" sz="950" dirty="0">
                <a:solidFill>
                  <a:srgbClr val="5B6584"/>
                </a:solidFill>
                <a:latin typeface="Calibri" pitchFamily="34" charset="0"/>
                <a:ea typeface="Calibri" pitchFamily="34" charset="-122"/>
                <a:cs typeface="Calibri" pitchFamily="34" charset="-120"/>
              </a:rPr>
              <a:t> de </a:t>
            </a:r>
            <a:r>
              <a:rPr lang="en-US" sz="950" dirty="0" err="1">
                <a:solidFill>
                  <a:srgbClr val="5B6584"/>
                </a:solidFill>
                <a:latin typeface="Calibri" pitchFamily="34" charset="0"/>
                <a:ea typeface="Calibri" pitchFamily="34" charset="-122"/>
                <a:cs typeface="Calibri" pitchFamily="34" charset="-120"/>
              </a:rPr>
              <a:t>los</a:t>
            </a:r>
            <a:r>
              <a:rPr lang="en-US" sz="950" dirty="0">
                <a:solidFill>
                  <a:srgbClr val="5B6584"/>
                </a:solidFill>
                <a:latin typeface="Calibri" pitchFamily="34" charset="0"/>
                <a:ea typeface="Calibri" pitchFamily="34" charset="-122"/>
                <a:cs typeface="Calibri" pitchFamily="34" charset="-120"/>
              </a:rPr>
              <a:t> dos define la </a:t>
            </a:r>
            <a:r>
              <a:rPr lang="en-US" sz="950" dirty="0" err="1">
                <a:solidFill>
                  <a:srgbClr val="5B6584"/>
                </a:solidFill>
                <a:latin typeface="Calibri" pitchFamily="34" charset="0"/>
                <a:ea typeface="Calibri" pitchFamily="34" charset="-122"/>
                <a:cs typeface="Calibri" pitchFamily="34" charset="-120"/>
              </a:rPr>
              <a:t>responsabilidad</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comercial</a:t>
            </a:r>
            <a:r>
              <a:rPr lang="en-US" sz="950" dirty="0">
                <a:solidFill>
                  <a:srgbClr val="5B6584"/>
                </a:solidFill>
                <a:latin typeface="Calibri" pitchFamily="34" charset="0"/>
                <a:ea typeface="Calibri" pitchFamily="34" charset="-122"/>
                <a:cs typeface="Calibri" pitchFamily="34" charset="-120"/>
              </a:rPr>
              <a:t>.</a:t>
            </a:r>
            <a:endParaRPr lang="en-US" sz="950" dirty="0"/>
          </a:p>
        </p:txBody>
      </p:sp>
      <p:sp>
        <p:nvSpPr>
          <p:cNvPr id="34" name="Text 32"/>
          <p:cNvSpPr txBox="1"/>
          <p:nvPr/>
        </p:nvSpPr>
        <p:spPr>
          <a:xfrm>
            <a:off x="548640" y="5852160"/>
            <a:ext cx="10972800" cy="365760"/>
          </a:xfrm>
          <a:prstGeom prst="rect">
            <a:avLst/>
          </a:prstGeom>
          <a:noFill/>
          <a:ln/>
        </p:spPr>
        <p:txBody>
          <a:bodyPr wrap="square"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Estas reglas de limpieza quedan documentadas y son editables en la hoja Supuestos_Parametros del Excel.</a:t>
            </a:r>
            <a:endParaRPr lang="en-US" sz="1050" dirty="0"/>
          </a:p>
        </p:txBody>
      </p:sp>
      <p:sp>
        <p:nvSpPr>
          <p:cNvPr id="35" name="Text 33"/>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36" name="Text 34"/>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002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Premisas: Qué Cuestiono y </a:t>
            </a:r>
            <a:r>
              <a:rPr lang="en-US" sz="3000" b="1" dirty="0" err="1">
                <a:solidFill>
                  <a:srgbClr val="1E2761"/>
                </a:solidFill>
                <a:latin typeface="Cambria" pitchFamily="34" charset="0"/>
                <a:ea typeface="Cambria" pitchFamily="34" charset="-122"/>
                <a:cs typeface="Cambria" pitchFamily="34" charset="-120"/>
              </a:rPr>
              <a:t>Qué</a:t>
            </a:r>
            <a:r>
              <a:rPr lang="en-US" sz="3000" b="1" dirty="0">
                <a:solidFill>
                  <a:srgbClr val="1E2761"/>
                </a:solidFill>
                <a:latin typeface="Cambria" pitchFamily="34" charset="0"/>
                <a:ea typeface="Cambria" pitchFamily="34" charset="-122"/>
                <a:cs typeface="Cambria" pitchFamily="34" charset="-120"/>
              </a:rPr>
              <a:t> </a:t>
            </a:r>
            <a:r>
              <a:rPr lang="en-US" sz="3000" b="1" dirty="0" err="1">
                <a:solidFill>
                  <a:srgbClr val="1E2761"/>
                </a:solidFill>
                <a:latin typeface="Cambria" pitchFamily="34" charset="0"/>
                <a:ea typeface="Cambria" pitchFamily="34" charset="-122"/>
                <a:cs typeface="Cambria" pitchFamily="34" charset="-120"/>
              </a:rPr>
              <a:t>Agregaría</a:t>
            </a:r>
            <a:r>
              <a:rPr lang="en-US" sz="3000" b="1" dirty="0">
                <a:solidFill>
                  <a:srgbClr val="1E2761"/>
                </a:solidFill>
                <a:latin typeface="Cambria" pitchFamily="34" charset="0"/>
                <a:ea typeface="Cambria" pitchFamily="34" charset="-122"/>
                <a:cs typeface="Cambria" pitchFamily="34" charset="-120"/>
              </a:rPr>
              <a:t> (</a:t>
            </a:r>
            <a:r>
              <a:rPr lang="en-US" sz="3000" b="1" dirty="0" err="1">
                <a:solidFill>
                  <a:srgbClr val="1E2761"/>
                </a:solidFill>
                <a:latin typeface="Cambria" pitchFamily="34" charset="0"/>
                <a:ea typeface="Cambria" pitchFamily="34" charset="-122"/>
                <a:cs typeface="Cambria" pitchFamily="34" charset="-120"/>
              </a:rPr>
              <a:t>Pregunta</a:t>
            </a:r>
            <a:r>
              <a:rPr lang="en-US" sz="3000" b="1" dirty="0">
                <a:solidFill>
                  <a:srgbClr val="1E2761"/>
                </a:solidFill>
                <a:latin typeface="Cambria" pitchFamily="34" charset="0"/>
                <a:ea typeface="Cambria" pitchFamily="34" charset="-122"/>
                <a:cs typeface="Cambria" pitchFamily="34" charset="-120"/>
              </a:rPr>
              <a:t> 1)</a:t>
            </a:r>
            <a:endParaRPr lang="en-US" sz="3000" dirty="0"/>
          </a:p>
        </p:txBody>
      </p:sp>
      <p:sp>
        <p:nvSpPr>
          <p:cNvPr id="3" name="Shape 1"/>
          <p:cNvSpPr/>
          <p:nvPr/>
        </p:nvSpPr>
        <p:spPr>
          <a:xfrm>
            <a:off x="548640" y="828040"/>
            <a:ext cx="5394960" cy="3073400"/>
          </a:xfrm>
          <a:prstGeom prst="roundRect">
            <a:avLst>
              <a:gd name="adj" fmla="val 1569"/>
            </a:avLst>
          </a:prstGeom>
          <a:solidFill>
            <a:srgbClr val="F4F6FB"/>
          </a:solidFill>
          <a:ln w="12700">
            <a:solidFill>
              <a:srgbClr val="F4F6FB"/>
            </a:solidFill>
            <a:prstDash val="solid"/>
          </a:ln>
        </p:spPr>
        <p:txBody>
          <a:bodyPr/>
          <a:lstStyle/>
          <a:p>
            <a:endParaRPr lang="es-EC"/>
          </a:p>
        </p:txBody>
      </p:sp>
      <p:sp>
        <p:nvSpPr>
          <p:cNvPr id="4" name="Text 2"/>
          <p:cNvSpPr txBox="1"/>
          <p:nvPr/>
        </p:nvSpPr>
        <p:spPr>
          <a:xfrm>
            <a:off x="822960" y="1056640"/>
            <a:ext cx="4846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Premisas a Cuestionar</a:t>
            </a:r>
            <a:endParaRPr lang="en-US" sz="1600" dirty="0"/>
          </a:p>
        </p:txBody>
      </p:sp>
      <p:sp>
        <p:nvSpPr>
          <p:cNvPr id="5" name="Text 3"/>
          <p:cNvSpPr txBox="1"/>
          <p:nvPr/>
        </p:nvSpPr>
        <p:spPr>
          <a:xfrm>
            <a:off x="822960" y="1513840"/>
            <a:ext cx="4846320" cy="2387600"/>
          </a:xfrm>
          <a:prstGeom prst="rect">
            <a:avLst/>
          </a:prstGeom>
          <a:noFill/>
          <a:ln/>
        </p:spPr>
        <p:txBody>
          <a:bodyPr wrap="square" rtlCol="0" anchor="t"/>
          <a:lstStyle/>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La meta se fija solo por volumen (unidades). ¿No debería ponderar también ingreso/rentabilidad?</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“Evolución histórica” se menciona pero no hay data de años previos; se usó el mix actual como proxy.</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“Beneficios por discapacidad” no tiene campo en la base — no se puede aplicar tal como está.</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¿El territorio (potencial de mercado) se refleja en la meta, o solo el volumen histórico de ventas?</a:t>
            </a:r>
            <a:endParaRPr lang="en-US" sz="1250" dirty="0"/>
          </a:p>
        </p:txBody>
      </p:sp>
      <p:sp>
        <p:nvSpPr>
          <p:cNvPr id="6" name="Shape 4"/>
          <p:cNvSpPr/>
          <p:nvPr/>
        </p:nvSpPr>
        <p:spPr>
          <a:xfrm>
            <a:off x="6263640" y="828040"/>
            <a:ext cx="5394960" cy="3073400"/>
          </a:xfrm>
          <a:prstGeom prst="roundRect">
            <a:avLst>
              <a:gd name="adj" fmla="val 1569"/>
            </a:avLst>
          </a:prstGeom>
          <a:solidFill>
            <a:srgbClr val="F4F6FB"/>
          </a:solidFill>
          <a:ln w="12700">
            <a:solidFill>
              <a:srgbClr val="F4F6FB"/>
            </a:solidFill>
            <a:prstDash val="solid"/>
          </a:ln>
        </p:spPr>
        <p:txBody>
          <a:bodyPr/>
          <a:lstStyle/>
          <a:p>
            <a:endParaRPr lang="es-EC"/>
          </a:p>
        </p:txBody>
      </p:sp>
      <p:sp>
        <p:nvSpPr>
          <p:cNvPr id="7" name="Text 5"/>
          <p:cNvSpPr txBox="1"/>
          <p:nvPr/>
        </p:nvSpPr>
        <p:spPr>
          <a:xfrm>
            <a:off x="6537960" y="1056640"/>
            <a:ext cx="4846320" cy="365760"/>
          </a:xfrm>
          <a:prstGeom prst="rect">
            <a:avLst/>
          </a:prstGeom>
          <a:noFill/>
          <a:ln/>
        </p:spPr>
        <p:txBody>
          <a:bodyPr wrap="square" rtlCol="0" anchor="ctr"/>
          <a:lstStyle/>
          <a:p>
            <a:pPr marL="0" indent="0">
              <a:buNone/>
            </a:pPr>
            <a:r>
              <a:rPr lang="en-US" sz="1600" b="1" dirty="0">
                <a:solidFill>
                  <a:srgbClr val="1E8449"/>
                </a:solidFill>
                <a:latin typeface="Calibri" pitchFamily="34" charset="0"/>
                <a:ea typeface="Calibri" pitchFamily="34" charset="-122"/>
                <a:cs typeface="Calibri" pitchFamily="34" charset="-120"/>
              </a:rPr>
              <a:t>Premisas a Agregar</a:t>
            </a:r>
            <a:endParaRPr lang="en-US" sz="1600" dirty="0"/>
          </a:p>
        </p:txBody>
      </p:sp>
      <p:sp>
        <p:nvSpPr>
          <p:cNvPr id="8" name="Text 6"/>
          <p:cNvSpPr txBox="1"/>
          <p:nvPr/>
        </p:nvSpPr>
        <p:spPr>
          <a:xfrm>
            <a:off x="6537960" y="1513840"/>
            <a:ext cx="4846320" cy="2387600"/>
          </a:xfrm>
          <a:prstGeom prst="rect">
            <a:avLst/>
          </a:prstGeom>
          <a:noFill/>
          <a:ln/>
        </p:spPr>
        <p:txBody>
          <a:bodyPr wrap="square" rtlCol="0" anchor="t"/>
          <a:lstStyle/>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Volumen mínimo para evaluar a un vendedor (evita que 1–2 ventas distorsionen el ranking).</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Una venta “mala” no es un solo indicio aislado, sino la concurrencia de varias señales de riesgo.</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El coordinador debe responder por la calidad de su equipo, no solo por el volumen vendido.</a:t>
            </a:r>
            <a:endParaRPr lang="en-US" sz="1250" dirty="0"/>
          </a:p>
          <a:p>
            <a:pPr marL="342900" indent="-342900">
              <a:spcAft>
                <a:spcPts val="1000"/>
              </a:spcAft>
              <a:buSzPct val="100000"/>
              <a:buChar char="•"/>
            </a:pPr>
            <a:r>
              <a:rPr lang="en-US" sz="1250" dirty="0">
                <a:solidFill>
                  <a:srgbClr val="1E2761"/>
                </a:solidFill>
                <a:latin typeface="Calibri" pitchFamily="34" charset="0"/>
                <a:ea typeface="Calibri" pitchFamily="34" charset="-122"/>
                <a:cs typeface="Calibri" pitchFamily="34" charset="-120"/>
              </a:rPr>
              <a:t>Un periodo de estabilización (ej. primeros 90 días) antes de exigir cumplimiento pleno a un vendedor nuevo.</a:t>
            </a:r>
            <a:endParaRPr lang="en-US" sz="1250" dirty="0"/>
          </a:p>
        </p:txBody>
      </p:sp>
      <p:sp>
        <p:nvSpPr>
          <p:cNvPr id="9" name="Text 7"/>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0" name="Text 8"/>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5</a:t>
            </a:r>
            <a:endParaRPr lang="en-US" sz="900" dirty="0"/>
          </a:p>
        </p:txBody>
      </p:sp>
      <p:sp>
        <p:nvSpPr>
          <p:cNvPr id="12" name="Shape 4">
            <a:extLst>
              <a:ext uri="{FF2B5EF4-FFF2-40B4-BE49-F238E27FC236}">
                <a16:creationId xmlns:a16="http://schemas.microsoft.com/office/drawing/2014/main" id="{9EC7FD07-C959-870B-ECBD-4D2D2A17ECE9}"/>
              </a:ext>
            </a:extLst>
          </p:cNvPr>
          <p:cNvSpPr/>
          <p:nvPr/>
        </p:nvSpPr>
        <p:spPr>
          <a:xfrm>
            <a:off x="1280160" y="4015740"/>
            <a:ext cx="9994392" cy="2387600"/>
          </a:xfrm>
          <a:prstGeom prst="roundRect">
            <a:avLst>
              <a:gd name="adj" fmla="val 1569"/>
            </a:avLst>
          </a:prstGeom>
          <a:solidFill>
            <a:srgbClr val="F4F6FB"/>
          </a:solidFill>
          <a:ln w="12700">
            <a:solidFill>
              <a:srgbClr val="F4F6FB"/>
            </a:solidFill>
            <a:prstDash val="solid"/>
          </a:ln>
        </p:spPr>
        <p:txBody>
          <a:bodyPr/>
          <a:lstStyle/>
          <a:p>
            <a:endParaRPr lang="es-EC"/>
          </a:p>
        </p:txBody>
      </p:sp>
      <p:sp>
        <p:nvSpPr>
          <p:cNvPr id="14" name="Text 5">
            <a:extLst>
              <a:ext uri="{FF2B5EF4-FFF2-40B4-BE49-F238E27FC236}">
                <a16:creationId xmlns:a16="http://schemas.microsoft.com/office/drawing/2014/main" id="{D9AFE78D-A6DB-1009-98B3-B27E429BD59B}"/>
              </a:ext>
            </a:extLst>
          </p:cNvPr>
          <p:cNvSpPr txBox="1"/>
          <p:nvPr/>
        </p:nvSpPr>
        <p:spPr>
          <a:xfrm>
            <a:off x="1407160" y="4015740"/>
            <a:ext cx="6893560" cy="365760"/>
          </a:xfrm>
          <a:prstGeom prst="rect">
            <a:avLst/>
          </a:prstGeom>
          <a:noFill/>
          <a:ln/>
        </p:spPr>
        <p:txBody>
          <a:bodyPr wrap="square" rtlCol="0" anchor="ctr"/>
          <a:lstStyle/>
          <a:p>
            <a:r>
              <a:rPr lang="es-EC" sz="1600" b="1" dirty="0">
                <a:solidFill>
                  <a:schemeClr val="accent4">
                    <a:lumMod val="75000"/>
                  </a:schemeClr>
                </a:solidFill>
              </a:rPr>
              <a:t>De un modelo comercial a un esquema corporativo de compensación variable</a:t>
            </a:r>
            <a:endParaRPr lang="en-US" sz="1600" b="1" dirty="0">
              <a:solidFill>
                <a:schemeClr val="accent4">
                  <a:lumMod val="75000"/>
                </a:schemeClr>
              </a:solidFill>
            </a:endParaRPr>
          </a:p>
        </p:txBody>
      </p:sp>
      <p:sp>
        <p:nvSpPr>
          <p:cNvPr id="16" name="Text 3">
            <a:extLst>
              <a:ext uri="{FF2B5EF4-FFF2-40B4-BE49-F238E27FC236}">
                <a16:creationId xmlns:a16="http://schemas.microsoft.com/office/drawing/2014/main" id="{5167F1BA-9770-DFC7-0B3C-BB59D5ACE5B7}"/>
              </a:ext>
            </a:extLst>
          </p:cNvPr>
          <p:cNvSpPr txBox="1"/>
          <p:nvPr/>
        </p:nvSpPr>
        <p:spPr>
          <a:xfrm>
            <a:off x="1541780" y="4495800"/>
            <a:ext cx="9370060" cy="1437640"/>
          </a:xfrm>
          <a:prstGeom prst="rect">
            <a:avLst/>
          </a:prstGeom>
          <a:noFill/>
          <a:ln/>
        </p:spPr>
        <p:txBody>
          <a:bodyPr wrap="square" rtlCol="0" anchor="t"/>
          <a:lstStyle/>
          <a:p>
            <a:r>
              <a:rPr lang="es-EC" sz="1400" dirty="0"/>
              <a:t>Ventas como piloto para estandarizar el cálculo de incentivos en todas las áreas, aprovechando las herramientas existentes.</a:t>
            </a:r>
          </a:p>
          <a:p>
            <a:pPr marL="342900" indent="-342900">
              <a:spcAft>
                <a:spcPts val="1000"/>
              </a:spcAft>
              <a:buSzPct val="100000"/>
              <a:buChar char="•"/>
            </a:pPr>
            <a:endParaRPr lang="en-US" sz="1250" dirty="0">
              <a:solidFill>
                <a:srgbClr val="1E2761"/>
              </a:solidFill>
              <a:latin typeface="Calibri" pitchFamily="34" charset="0"/>
              <a:ea typeface="Calibri" pitchFamily="34" charset="-122"/>
              <a:cs typeface="Calibri" pitchFamily="34" charset="-120"/>
            </a:endParaRPr>
          </a:p>
          <a:p>
            <a:pPr marL="342900" indent="-342900">
              <a:spcAft>
                <a:spcPts val="1000"/>
              </a:spcAft>
              <a:buSzPct val="100000"/>
              <a:buChar char="•"/>
            </a:pPr>
            <a:r>
              <a:rPr lang="es-MX" sz="1250" dirty="0">
                <a:solidFill>
                  <a:srgbClr val="1E2761"/>
                </a:solidFill>
                <a:latin typeface="Calibri" pitchFamily="34" charset="0"/>
                <a:ea typeface="Calibri" pitchFamily="34" charset="-122"/>
                <a:cs typeface="Calibri" pitchFamily="34" charset="-120"/>
              </a:rPr>
              <a:t>La solución no se limitaría al cálculo de comisiones de Ventas. Este modelo funcionaría como piloto para construir una metodología corporativa de compensación variable, reutilizando las herramientas que Puntonet ya tiene desarrolladas.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Metodología: de Datos Crudos a Decisión</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Todo el modelo vive en Excel con fórmulas vivas — cambiar un parámetro recalcula el libro completo.</a:t>
            </a:r>
            <a:endParaRPr lang="en-US" sz="1300" dirty="0"/>
          </a:p>
        </p:txBody>
      </p:sp>
      <p:sp>
        <p:nvSpPr>
          <p:cNvPr id="4" name="Shape 2"/>
          <p:cNvSpPr/>
          <p:nvPr/>
        </p:nvSpPr>
        <p:spPr>
          <a:xfrm>
            <a:off x="667512" y="2103120"/>
            <a:ext cx="1965960" cy="210312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5" name="Shape 3"/>
          <p:cNvSpPr/>
          <p:nvPr/>
        </p:nvSpPr>
        <p:spPr>
          <a:xfrm>
            <a:off x="1330452" y="2331720"/>
            <a:ext cx="640080" cy="640080"/>
          </a:xfrm>
          <a:prstGeom prst="ellipse">
            <a:avLst/>
          </a:prstGeom>
          <a:solidFill>
            <a:srgbClr val="1E2761"/>
          </a:solidFill>
          <a:ln w="12700">
            <a:solidFill>
              <a:srgbClr val="1E2761"/>
            </a:solidFill>
            <a:prstDash val="solid"/>
          </a:ln>
        </p:spPr>
        <p:txBody>
          <a:bodyPr/>
          <a:lstStyle/>
          <a:p>
            <a:endParaRPr lang="es-EC"/>
          </a:p>
        </p:txBody>
      </p:sp>
      <p:sp>
        <p:nvSpPr>
          <p:cNvPr id="6" name="Text 4"/>
          <p:cNvSpPr txBox="1"/>
          <p:nvPr/>
        </p:nvSpPr>
        <p:spPr>
          <a:xfrm>
            <a:off x="1330452" y="233172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758952" y="3108960"/>
            <a:ext cx="178308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Datos</a:t>
            </a:r>
            <a:endParaRPr lang="en-US" sz="1300" dirty="0"/>
          </a:p>
        </p:txBody>
      </p:sp>
      <p:sp>
        <p:nvSpPr>
          <p:cNvPr id="8" name="Text 6"/>
          <p:cNvSpPr txBox="1"/>
          <p:nvPr/>
        </p:nvSpPr>
        <p:spPr>
          <a:xfrm>
            <a:off x="804672" y="3474720"/>
            <a:ext cx="1691640" cy="68580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54,855 registros reales; limpieza de ciudad, generación y riesgo</a:t>
            </a:r>
            <a:endParaRPr lang="en-US" sz="950" dirty="0"/>
          </a:p>
        </p:txBody>
      </p:sp>
      <p:sp>
        <p:nvSpPr>
          <p:cNvPr id="9" name="Shape 7"/>
          <p:cNvSpPr/>
          <p:nvPr/>
        </p:nvSpPr>
        <p:spPr>
          <a:xfrm rot="5400000">
            <a:off x="2671877" y="2971800"/>
            <a:ext cx="179222" cy="365760"/>
          </a:xfrm>
          <a:prstGeom prst="triangle">
            <a:avLst/>
          </a:prstGeom>
          <a:solidFill>
            <a:srgbClr val="1E2761"/>
          </a:solidFill>
          <a:ln w="12700">
            <a:solidFill>
              <a:srgbClr val="1E2761"/>
            </a:solidFill>
            <a:prstDash val="solid"/>
          </a:ln>
        </p:spPr>
        <p:txBody>
          <a:bodyPr/>
          <a:lstStyle/>
          <a:p>
            <a:endParaRPr lang="es-EC"/>
          </a:p>
        </p:txBody>
      </p:sp>
      <p:sp>
        <p:nvSpPr>
          <p:cNvPr id="10" name="Shape 8"/>
          <p:cNvSpPr/>
          <p:nvPr/>
        </p:nvSpPr>
        <p:spPr>
          <a:xfrm>
            <a:off x="2889504" y="2103120"/>
            <a:ext cx="1965960" cy="210312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1" name="Shape 9"/>
          <p:cNvSpPr/>
          <p:nvPr/>
        </p:nvSpPr>
        <p:spPr>
          <a:xfrm>
            <a:off x="3552444" y="2331720"/>
            <a:ext cx="640080" cy="640080"/>
          </a:xfrm>
          <a:prstGeom prst="ellipse">
            <a:avLst/>
          </a:prstGeom>
          <a:solidFill>
            <a:srgbClr val="1E2761"/>
          </a:solidFill>
          <a:ln w="12700">
            <a:solidFill>
              <a:srgbClr val="1E2761"/>
            </a:solidFill>
            <a:prstDash val="solid"/>
          </a:ln>
        </p:spPr>
        <p:txBody>
          <a:bodyPr/>
          <a:lstStyle/>
          <a:p>
            <a:endParaRPr lang="es-EC"/>
          </a:p>
        </p:txBody>
      </p:sp>
      <p:sp>
        <p:nvSpPr>
          <p:cNvPr id="12" name="Text 10"/>
          <p:cNvSpPr txBox="1"/>
          <p:nvPr/>
        </p:nvSpPr>
        <p:spPr>
          <a:xfrm>
            <a:off x="3552444" y="233172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2980944" y="3108960"/>
            <a:ext cx="178308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Índice de Riesgo</a:t>
            </a:r>
            <a:endParaRPr lang="en-US" sz="1300" dirty="0"/>
          </a:p>
        </p:txBody>
      </p:sp>
      <p:sp>
        <p:nvSpPr>
          <p:cNvPr id="14" name="Text 12"/>
          <p:cNvSpPr txBox="1"/>
          <p:nvPr/>
        </p:nvSpPr>
        <p:spPr>
          <a:xfrm>
            <a:off x="3026664" y="3474720"/>
            <a:ext cx="1691640" cy="68580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4 señales de calidad combinadas por venta (0–4)</a:t>
            </a:r>
            <a:endParaRPr lang="en-US" sz="950" dirty="0"/>
          </a:p>
        </p:txBody>
      </p:sp>
      <p:sp>
        <p:nvSpPr>
          <p:cNvPr id="15" name="Shape 13"/>
          <p:cNvSpPr/>
          <p:nvPr/>
        </p:nvSpPr>
        <p:spPr>
          <a:xfrm rot="5400000">
            <a:off x="4893869" y="2971800"/>
            <a:ext cx="179222" cy="365760"/>
          </a:xfrm>
          <a:prstGeom prst="triangle">
            <a:avLst/>
          </a:prstGeom>
          <a:solidFill>
            <a:srgbClr val="1E2761"/>
          </a:solidFill>
          <a:ln w="12700">
            <a:solidFill>
              <a:srgbClr val="1E2761"/>
            </a:solidFill>
            <a:prstDash val="solid"/>
          </a:ln>
        </p:spPr>
        <p:txBody>
          <a:bodyPr/>
          <a:lstStyle/>
          <a:p>
            <a:endParaRPr lang="es-EC"/>
          </a:p>
        </p:txBody>
      </p:sp>
      <p:sp>
        <p:nvSpPr>
          <p:cNvPr id="16" name="Shape 14"/>
          <p:cNvSpPr/>
          <p:nvPr/>
        </p:nvSpPr>
        <p:spPr>
          <a:xfrm>
            <a:off x="5111496" y="2103120"/>
            <a:ext cx="1965960" cy="210312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7" name="Shape 15"/>
          <p:cNvSpPr/>
          <p:nvPr/>
        </p:nvSpPr>
        <p:spPr>
          <a:xfrm>
            <a:off x="5774436" y="2331720"/>
            <a:ext cx="640080" cy="640080"/>
          </a:xfrm>
          <a:prstGeom prst="ellipse">
            <a:avLst/>
          </a:prstGeom>
          <a:solidFill>
            <a:srgbClr val="1E2761"/>
          </a:solidFill>
          <a:ln w="12700">
            <a:solidFill>
              <a:srgbClr val="1E2761"/>
            </a:solidFill>
            <a:prstDash val="solid"/>
          </a:ln>
        </p:spPr>
        <p:txBody>
          <a:bodyPr/>
          <a:lstStyle/>
          <a:p>
            <a:endParaRPr lang="es-EC"/>
          </a:p>
        </p:txBody>
      </p:sp>
      <p:sp>
        <p:nvSpPr>
          <p:cNvPr id="18" name="Text 16"/>
          <p:cNvSpPr txBox="1"/>
          <p:nvPr/>
        </p:nvSpPr>
        <p:spPr>
          <a:xfrm>
            <a:off x="5774436" y="233172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5202936" y="3108960"/>
            <a:ext cx="178308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Metas</a:t>
            </a:r>
            <a:endParaRPr lang="en-US" sz="1300" dirty="0"/>
          </a:p>
        </p:txBody>
      </p:sp>
      <p:sp>
        <p:nvSpPr>
          <p:cNvPr id="20" name="Text 18"/>
          <p:cNvSpPr txBox="1"/>
          <p:nvPr/>
        </p:nvSpPr>
        <p:spPr>
          <a:xfrm>
            <a:off x="5248656" y="3474720"/>
            <a:ext cx="1691640" cy="68580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Meta anual distribuida por ciudad y por vendedor</a:t>
            </a:r>
            <a:endParaRPr lang="en-US" sz="950" dirty="0"/>
          </a:p>
        </p:txBody>
      </p:sp>
      <p:sp>
        <p:nvSpPr>
          <p:cNvPr id="21" name="Shape 19"/>
          <p:cNvSpPr/>
          <p:nvPr/>
        </p:nvSpPr>
        <p:spPr>
          <a:xfrm rot="5400000">
            <a:off x="7115861" y="2971800"/>
            <a:ext cx="179222" cy="365760"/>
          </a:xfrm>
          <a:prstGeom prst="triangle">
            <a:avLst/>
          </a:prstGeom>
          <a:solidFill>
            <a:srgbClr val="1E2761"/>
          </a:solidFill>
          <a:ln w="12700">
            <a:solidFill>
              <a:srgbClr val="1E2761"/>
            </a:solidFill>
            <a:prstDash val="solid"/>
          </a:ln>
        </p:spPr>
        <p:txBody>
          <a:bodyPr/>
          <a:lstStyle/>
          <a:p>
            <a:endParaRPr lang="es-EC"/>
          </a:p>
        </p:txBody>
      </p:sp>
      <p:sp>
        <p:nvSpPr>
          <p:cNvPr id="22" name="Shape 20"/>
          <p:cNvSpPr/>
          <p:nvPr/>
        </p:nvSpPr>
        <p:spPr>
          <a:xfrm>
            <a:off x="7333488" y="2103120"/>
            <a:ext cx="1965960" cy="210312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23" name="Shape 21"/>
          <p:cNvSpPr/>
          <p:nvPr/>
        </p:nvSpPr>
        <p:spPr>
          <a:xfrm>
            <a:off x="7996428" y="2331720"/>
            <a:ext cx="640080" cy="640080"/>
          </a:xfrm>
          <a:prstGeom prst="ellipse">
            <a:avLst/>
          </a:prstGeom>
          <a:solidFill>
            <a:srgbClr val="1E2761"/>
          </a:solidFill>
          <a:ln w="12700">
            <a:solidFill>
              <a:srgbClr val="1E2761"/>
            </a:solidFill>
            <a:prstDash val="solid"/>
          </a:ln>
        </p:spPr>
        <p:txBody>
          <a:bodyPr/>
          <a:lstStyle/>
          <a:p>
            <a:endParaRPr lang="es-EC"/>
          </a:p>
        </p:txBody>
      </p:sp>
      <p:sp>
        <p:nvSpPr>
          <p:cNvPr id="24" name="Text 22"/>
          <p:cNvSpPr txBox="1"/>
          <p:nvPr/>
        </p:nvSpPr>
        <p:spPr>
          <a:xfrm>
            <a:off x="7996428" y="233172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txBox="1"/>
          <p:nvPr/>
        </p:nvSpPr>
        <p:spPr>
          <a:xfrm>
            <a:off x="7424928" y="3108960"/>
            <a:ext cx="178308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Compensación</a:t>
            </a:r>
            <a:endParaRPr lang="en-US" sz="1300" dirty="0"/>
          </a:p>
        </p:txBody>
      </p:sp>
      <p:sp>
        <p:nvSpPr>
          <p:cNvPr id="26" name="Text 24"/>
          <p:cNvSpPr txBox="1"/>
          <p:nvPr/>
        </p:nvSpPr>
        <p:spPr>
          <a:xfrm>
            <a:off x="7470648" y="3474720"/>
            <a:ext cx="1691640" cy="68580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Comisión ajustada por cumplimiento y calidad</a:t>
            </a:r>
            <a:endParaRPr lang="en-US" sz="950" dirty="0"/>
          </a:p>
        </p:txBody>
      </p:sp>
      <p:sp>
        <p:nvSpPr>
          <p:cNvPr id="27" name="Shape 25"/>
          <p:cNvSpPr/>
          <p:nvPr/>
        </p:nvSpPr>
        <p:spPr>
          <a:xfrm rot="5400000">
            <a:off x="9337853" y="2971800"/>
            <a:ext cx="179222" cy="365760"/>
          </a:xfrm>
          <a:prstGeom prst="triangle">
            <a:avLst/>
          </a:prstGeom>
          <a:solidFill>
            <a:srgbClr val="1E2761"/>
          </a:solidFill>
          <a:ln w="12700">
            <a:solidFill>
              <a:srgbClr val="1E2761"/>
            </a:solidFill>
            <a:prstDash val="solid"/>
          </a:ln>
        </p:spPr>
        <p:txBody>
          <a:bodyPr/>
          <a:lstStyle/>
          <a:p>
            <a:endParaRPr lang="es-EC"/>
          </a:p>
        </p:txBody>
      </p:sp>
      <p:sp>
        <p:nvSpPr>
          <p:cNvPr id="28" name="Shape 26"/>
          <p:cNvSpPr/>
          <p:nvPr/>
        </p:nvSpPr>
        <p:spPr>
          <a:xfrm>
            <a:off x="9555480" y="2103120"/>
            <a:ext cx="1965960" cy="210312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29" name="Shape 27"/>
          <p:cNvSpPr/>
          <p:nvPr/>
        </p:nvSpPr>
        <p:spPr>
          <a:xfrm>
            <a:off x="10218420" y="2331720"/>
            <a:ext cx="640080" cy="640080"/>
          </a:xfrm>
          <a:prstGeom prst="ellipse">
            <a:avLst/>
          </a:prstGeom>
          <a:solidFill>
            <a:srgbClr val="1E2761"/>
          </a:solidFill>
          <a:ln w="12700">
            <a:solidFill>
              <a:srgbClr val="1E2761"/>
            </a:solidFill>
            <a:prstDash val="solid"/>
          </a:ln>
        </p:spPr>
        <p:txBody>
          <a:bodyPr/>
          <a:lstStyle/>
          <a:p>
            <a:endParaRPr lang="es-EC"/>
          </a:p>
        </p:txBody>
      </p:sp>
      <p:sp>
        <p:nvSpPr>
          <p:cNvPr id="30" name="Text 28"/>
          <p:cNvSpPr txBox="1"/>
          <p:nvPr/>
        </p:nvSpPr>
        <p:spPr>
          <a:xfrm>
            <a:off x="10218420" y="2331720"/>
            <a:ext cx="640080" cy="6400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1" name="Text 29"/>
          <p:cNvSpPr txBox="1"/>
          <p:nvPr/>
        </p:nvSpPr>
        <p:spPr>
          <a:xfrm>
            <a:off x="9646920" y="3108960"/>
            <a:ext cx="178308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Alertas</a:t>
            </a:r>
            <a:endParaRPr lang="en-US" sz="1300" dirty="0"/>
          </a:p>
        </p:txBody>
      </p:sp>
      <p:sp>
        <p:nvSpPr>
          <p:cNvPr id="32" name="Text 30"/>
          <p:cNvSpPr txBox="1"/>
          <p:nvPr/>
        </p:nvSpPr>
        <p:spPr>
          <a:xfrm>
            <a:off x="9692640" y="3474720"/>
            <a:ext cx="1691640" cy="68580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Semáforo Rojo/Amarillo/Verde para gobernanza</a:t>
            </a:r>
            <a:endParaRPr lang="en-US" sz="950" dirty="0"/>
          </a:p>
        </p:txBody>
      </p:sp>
      <p:sp>
        <p:nvSpPr>
          <p:cNvPr id="33" name="Text 31"/>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34" name="Text 32"/>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Los 8 Indicadores del Modelo</a:t>
            </a:r>
            <a:endParaRPr lang="en-US" sz="3000" dirty="0"/>
          </a:p>
        </p:txBody>
      </p:sp>
      <p:sp>
        <p:nvSpPr>
          <p:cNvPr id="3" name="Shape 1"/>
          <p:cNvSpPr/>
          <p:nvPr/>
        </p:nvSpPr>
        <p:spPr>
          <a:xfrm>
            <a:off x="548640" y="155448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4" name="Shape 2"/>
          <p:cNvSpPr/>
          <p:nvPr/>
        </p:nvSpPr>
        <p:spPr>
          <a:xfrm>
            <a:off x="731520" y="1737360"/>
            <a:ext cx="411480" cy="411480"/>
          </a:xfrm>
          <a:prstGeom prst="ellipse">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731520" y="17373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685800" y="228600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 Cumplimiento de Meta</a:t>
            </a:r>
            <a:endParaRPr lang="en-US" sz="1250" dirty="0"/>
          </a:p>
        </p:txBody>
      </p:sp>
      <p:sp>
        <p:nvSpPr>
          <p:cNvPr id="7" name="Text 5"/>
          <p:cNvSpPr txBox="1"/>
          <p:nvPr/>
        </p:nvSpPr>
        <p:spPr>
          <a:xfrm>
            <a:off x="685800" y="283464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Ventas reales vs. meta asignada</a:t>
            </a:r>
            <a:endParaRPr lang="en-US" sz="1000" dirty="0"/>
          </a:p>
        </p:txBody>
      </p:sp>
      <p:sp>
        <p:nvSpPr>
          <p:cNvPr id="8" name="Shape 6"/>
          <p:cNvSpPr/>
          <p:nvPr/>
        </p:nvSpPr>
        <p:spPr>
          <a:xfrm>
            <a:off x="3355848" y="155448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9" name="Shape 7"/>
          <p:cNvSpPr/>
          <p:nvPr/>
        </p:nvSpPr>
        <p:spPr>
          <a:xfrm>
            <a:off x="3538728" y="1737360"/>
            <a:ext cx="411480" cy="411480"/>
          </a:xfrm>
          <a:prstGeom prst="ellipse">
            <a:avLst/>
          </a:prstGeom>
          <a:solidFill>
            <a:srgbClr val="1E2761"/>
          </a:solidFill>
          <a:ln w="12700">
            <a:solidFill>
              <a:srgbClr val="1E2761"/>
            </a:solidFill>
            <a:prstDash val="solid"/>
          </a:ln>
        </p:spPr>
        <p:txBody>
          <a:bodyPr/>
          <a:lstStyle/>
          <a:p>
            <a:endParaRPr lang="es-EC"/>
          </a:p>
        </p:txBody>
      </p:sp>
      <p:sp>
        <p:nvSpPr>
          <p:cNvPr id="10" name="Text 8"/>
          <p:cNvSpPr txBox="1"/>
          <p:nvPr/>
        </p:nvSpPr>
        <p:spPr>
          <a:xfrm>
            <a:off x="3538728" y="17373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3493008" y="228600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Tasa de Mala Venta</a:t>
            </a:r>
            <a:endParaRPr lang="en-US" sz="1250" dirty="0"/>
          </a:p>
        </p:txBody>
      </p:sp>
      <p:sp>
        <p:nvSpPr>
          <p:cNvPr id="12" name="Text 10"/>
          <p:cNvSpPr txBox="1"/>
          <p:nvPr/>
        </p:nvSpPr>
        <p:spPr>
          <a:xfrm>
            <a:off x="3493008" y="283464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 de ventas con riesgo compuesto ≥2</a:t>
            </a:r>
            <a:endParaRPr lang="en-US" sz="1000" dirty="0"/>
          </a:p>
        </p:txBody>
      </p:sp>
      <p:sp>
        <p:nvSpPr>
          <p:cNvPr id="13" name="Shape 11"/>
          <p:cNvSpPr/>
          <p:nvPr/>
        </p:nvSpPr>
        <p:spPr>
          <a:xfrm>
            <a:off x="6163056" y="155448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14" name="Shape 12"/>
          <p:cNvSpPr/>
          <p:nvPr/>
        </p:nvSpPr>
        <p:spPr>
          <a:xfrm>
            <a:off x="6345936" y="1737360"/>
            <a:ext cx="411480" cy="411480"/>
          </a:xfrm>
          <a:prstGeom prst="ellipse">
            <a:avLst/>
          </a:prstGeom>
          <a:solidFill>
            <a:srgbClr val="1E2761"/>
          </a:solidFill>
          <a:ln w="12700">
            <a:solidFill>
              <a:srgbClr val="1E2761"/>
            </a:solidFill>
            <a:prstDash val="solid"/>
          </a:ln>
        </p:spPr>
        <p:txBody>
          <a:bodyPr/>
          <a:lstStyle/>
          <a:p>
            <a:endParaRPr lang="es-EC"/>
          </a:p>
        </p:txBody>
      </p:sp>
      <p:sp>
        <p:nvSpPr>
          <p:cNvPr id="15" name="Text 13"/>
          <p:cNvSpPr txBox="1"/>
          <p:nvPr/>
        </p:nvSpPr>
        <p:spPr>
          <a:xfrm>
            <a:off x="6345936" y="17373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6300216" y="228600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Tasa de Early Churn</a:t>
            </a:r>
            <a:endParaRPr lang="en-US" sz="1250" dirty="0"/>
          </a:p>
        </p:txBody>
      </p:sp>
      <p:sp>
        <p:nvSpPr>
          <p:cNvPr id="17" name="Text 15"/>
          <p:cNvSpPr txBox="1"/>
          <p:nvPr/>
        </p:nvSpPr>
        <p:spPr>
          <a:xfrm>
            <a:off x="6300216" y="283464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 desactivado en ≤90 días</a:t>
            </a:r>
            <a:endParaRPr lang="en-US" sz="1000" dirty="0"/>
          </a:p>
        </p:txBody>
      </p:sp>
      <p:sp>
        <p:nvSpPr>
          <p:cNvPr id="18" name="Shape 16"/>
          <p:cNvSpPr/>
          <p:nvPr/>
        </p:nvSpPr>
        <p:spPr>
          <a:xfrm>
            <a:off x="8970264" y="155448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19" name="Shape 17"/>
          <p:cNvSpPr/>
          <p:nvPr/>
        </p:nvSpPr>
        <p:spPr>
          <a:xfrm>
            <a:off x="9153144" y="1737360"/>
            <a:ext cx="411480" cy="411480"/>
          </a:xfrm>
          <a:prstGeom prst="ellipse">
            <a:avLst/>
          </a:prstGeom>
          <a:solidFill>
            <a:srgbClr val="1E2761"/>
          </a:solidFill>
          <a:ln w="12700">
            <a:solidFill>
              <a:srgbClr val="1E2761"/>
            </a:solidFill>
            <a:prstDash val="solid"/>
          </a:ln>
        </p:spPr>
        <p:txBody>
          <a:bodyPr/>
          <a:lstStyle/>
          <a:p>
            <a:endParaRPr lang="es-EC"/>
          </a:p>
        </p:txBody>
      </p:sp>
      <p:sp>
        <p:nvSpPr>
          <p:cNvPr id="20" name="Text 18"/>
          <p:cNvSpPr txBox="1"/>
          <p:nvPr/>
        </p:nvSpPr>
        <p:spPr>
          <a:xfrm>
            <a:off x="9153144" y="17373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9107424" y="228600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Índice de Riesgo (0–4)</a:t>
            </a:r>
            <a:endParaRPr lang="en-US" sz="1250" dirty="0"/>
          </a:p>
        </p:txBody>
      </p:sp>
      <p:sp>
        <p:nvSpPr>
          <p:cNvPr id="22" name="Text 20"/>
          <p:cNvSpPr txBox="1"/>
          <p:nvPr/>
        </p:nvSpPr>
        <p:spPr>
          <a:xfrm>
            <a:off x="9107424" y="283464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Severidad por venta</a:t>
            </a:r>
            <a:endParaRPr lang="en-US" sz="1000" dirty="0"/>
          </a:p>
        </p:txBody>
      </p:sp>
      <p:sp>
        <p:nvSpPr>
          <p:cNvPr id="23" name="Shape 21"/>
          <p:cNvSpPr/>
          <p:nvPr/>
        </p:nvSpPr>
        <p:spPr>
          <a:xfrm>
            <a:off x="548640" y="370332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24" name="Shape 22"/>
          <p:cNvSpPr/>
          <p:nvPr/>
        </p:nvSpPr>
        <p:spPr>
          <a:xfrm>
            <a:off x="731520" y="3886200"/>
            <a:ext cx="411480" cy="411480"/>
          </a:xfrm>
          <a:prstGeom prst="ellipse">
            <a:avLst/>
          </a:prstGeom>
          <a:solidFill>
            <a:srgbClr val="1E2761"/>
          </a:solidFill>
          <a:ln w="12700">
            <a:solidFill>
              <a:srgbClr val="1E2761"/>
            </a:solidFill>
            <a:prstDash val="solid"/>
          </a:ln>
        </p:spPr>
        <p:txBody>
          <a:bodyPr/>
          <a:lstStyle/>
          <a:p>
            <a:endParaRPr lang="es-EC"/>
          </a:p>
        </p:txBody>
      </p:sp>
      <p:sp>
        <p:nvSpPr>
          <p:cNvPr id="25" name="Text 23"/>
          <p:cNvSpPr txBox="1"/>
          <p:nvPr/>
        </p:nvSpPr>
        <p:spPr>
          <a:xfrm>
            <a:off x="731520" y="38862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4"/>
          <p:cNvSpPr txBox="1"/>
          <p:nvPr/>
        </p:nvSpPr>
        <p:spPr>
          <a:xfrm>
            <a:off x="685800" y="443484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Incidentes Promedio</a:t>
            </a:r>
            <a:endParaRPr lang="en-US" sz="1250" dirty="0"/>
          </a:p>
        </p:txBody>
      </p:sp>
      <p:sp>
        <p:nvSpPr>
          <p:cNvPr id="27" name="Text 25"/>
          <p:cNvSpPr txBox="1"/>
          <p:nvPr/>
        </p:nvSpPr>
        <p:spPr>
          <a:xfrm>
            <a:off x="685800" y="498348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Calidad de servicio post-venta</a:t>
            </a:r>
            <a:endParaRPr lang="en-US" sz="1000" dirty="0"/>
          </a:p>
        </p:txBody>
      </p:sp>
      <p:sp>
        <p:nvSpPr>
          <p:cNvPr id="28" name="Shape 26"/>
          <p:cNvSpPr/>
          <p:nvPr/>
        </p:nvSpPr>
        <p:spPr>
          <a:xfrm>
            <a:off x="3355848" y="370332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29" name="Shape 27"/>
          <p:cNvSpPr/>
          <p:nvPr/>
        </p:nvSpPr>
        <p:spPr>
          <a:xfrm>
            <a:off x="3538728" y="3886200"/>
            <a:ext cx="411480" cy="411480"/>
          </a:xfrm>
          <a:prstGeom prst="ellipse">
            <a:avLst/>
          </a:prstGeom>
          <a:solidFill>
            <a:srgbClr val="1E2761"/>
          </a:solidFill>
          <a:ln w="12700">
            <a:solidFill>
              <a:srgbClr val="1E2761"/>
            </a:solidFill>
            <a:prstDash val="solid"/>
          </a:ln>
        </p:spPr>
        <p:txBody>
          <a:bodyPr/>
          <a:lstStyle/>
          <a:p>
            <a:endParaRPr lang="es-EC"/>
          </a:p>
        </p:txBody>
      </p:sp>
      <p:sp>
        <p:nvSpPr>
          <p:cNvPr id="30" name="Text 28"/>
          <p:cNvSpPr txBox="1"/>
          <p:nvPr/>
        </p:nvSpPr>
        <p:spPr>
          <a:xfrm>
            <a:off x="3538728" y="38862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3493008" y="443484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Comisión Vendedor</a:t>
            </a:r>
            <a:endParaRPr lang="en-US" sz="1250" dirty="0"/>
          </a:p>
        </p:txBody>
      </p:sp>
      <p:sp>
        <p:nvSpPr>
          <p:cNvPr id="32" name="Text 30"/>
          <p:cNvSpPr txBox="1"/>
          <p:nvPr/>
        </p:nvSpPr>
        <p:spPr>
          <a:xfrm>
            <a:off x="3493008" y="498348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Volumen + calidad + cumplimiento</a:t>
            </a:r>
            <a:endParaRPr lang="en-US" sz="1000" dirty="0"/>
          </a:p>
        </p:txBody>
      </p:sp>
      <p:sp>
        <p:nvSpPr>
          <p:cNvPr id="33" name="Shape 31"/>
          <p:cNvSpPr/>
          <p:nvPr/>
        </p:nvSpPr>
        <p:spPr>
          <a:xfrm>
            <a:off x="6163056" y="370332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34" name="Shape 32"/>
          <p:cNvSpPr/>
          <p:nvPr/>
        </p:nvSpPr>
        <p:spPr>
          <a:xfrm>
            <a:off x="6345936" y="3886200"/>
            <a:ext cx="411480" cy="411480"/>
          </a:xfrm>
          <a:prstGeom prst="ellipse">
            <a:avLst/>
          </a:prstGeom>
          <a:solidFill>
            <a:srgbClr val="1E2761"/>
          </a:solidFill>
          <a:ln w="12700">
            <a:solidFill>
              <a:srgbClr val="1E2761"/>
            </a:solidFill>
            <a:prstDash val="solid"/>
          </a:ln>
        </p:spPr>
        <p:txBody>
          <a:bodyPr/>
          <a:lstStyle/>
          <a:p>
            <a:endParaRPr lang="es-EC"/>
          </a:p>
        </p:txBody>
      </p:sp>
      <p:sp>
        <p:nvSpPr>
          <p:cNvPr id="35" name="Text 33"/>
          <p:cNvSpPr txBox="1"/>
          <p:nvPr/>
        </p:nvSpPr>
        <p:spPr>
          <a:xfrm>
            <a:off x="6345936" y="38862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6" name="Text 34"/>
          <p:cNvSpPr txBox="1"/>
          <p:nvPr/>
        </p:nvSpPr>
        <p:spPr>
          <a:xfrm>
            <a:off x="6300216" y="443484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Comisión Coordinador</a:t>
            </a:r>
            <a:endParaRPr lang="en-US" sz="1250" dirty="0"/>
          </a:p>
        </p:txBody>
      </p:sp>
      <p:sp>
        <p:nvSpPr>
          <p:cNvPr id="37" name="Text 35"/>
          <p:cNvSpPr txBox="1"/>
          <p:nvPr/>
        </p:nvSpPr>
        <p:spPr>
          <a:xfrm>
            <a:off x="6300216" y="498348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Override + bono de equipo</a:t>
            </a:r>
            <a:endParaRPr lang="en-US" sz="1000" dirty="0"/>
          </a:p>
        </p:txBody>
      </p:sp>
      <p:sp>
        <p:nvSpPr>
          <p:cNvPr id="38" name="Shape 36"/>
          <p:cNvSpPr/>
          <p:nvPr/>
        </p:nvSpPr>
        <p:spPr>
          <a:xfrm>
            <a:off x="8970264" y="3703320"/>
            <a:ext cx="2606040" cy="1920240"/>
          </a:xfrm>
          <a:prstGeom prst="roundRect">
            <a:avLst>
              <a:gd name="adj" fmla="val 3810"/>
            </a:avLst>
          </a:prstGeom>
          <a:solidFill>
            <a:srgbClr val="F4F6FB"/>
          </a:solidFill>
          <a:ln w="12700">
            <a:solidFill>
              <a:srgbClr val="F4F6FB"/>
            </a:solidFill>
            <a:prstDash val="solid"/>
          </a:ln>
        </p:spPr>
        <p:txBody>
          <a:bodyPr/>
          <a:lstStyle/>
          <a:p>
            <a:endParaRPr lang="es-EC"/>
          </a:p>
        </p:txBody>
      </p:sp>
      <p:sp>
        <p:nvSpPr>
          <p:cNvPr id="39" name="Shape 37"/>
          <p:cNvSpPr/>
          <p:nvPr/>
        </p:nvSpPr>
        <p:spPr>
          <a:xfrm>
            <a:off x="9153144" y="3886200"/>
            <a:ext cx="411480" cy="411480"/>
          </a:xfrm>
          <a:prstGeom prst="ellipse">
            <a:avLst/>
          </a:prstGeom>
          <a:solidFill>
            <a:srgbClr val="1E2761"/>
          </a:solidFill>
          <a:ln w="12700">
            <a:solidFill>
              <a:srgbClr val="1E2761"/>
            </a:solidFill>
            <a:prstDash val="solid"/>
          </a:ln>
        </p:spPr>
        <p:txBody>
          <a:bodyPr/>
          <a:lstStyle/>
          <a:p>
            <a:endParaRPr lang="es-EC"/>
          </a:p>
        </p:txBody>
      </p:sp>
      <p:sp>
        <p:nvSpPr>
          <p:cNvPr id="40" name="Text 38"/>
          <p:cNvSpPr txBox="1"/>
          <p:nvPr/>
        </p:nvSpPr>
        <p:spPr>
          <a:xfrm>
            <a:off x="9153144" y="38862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1" name="Text 39"/>
          <p:cNvSpPr txBox="1"/>
          <p:nvPr/>
        </p:nvSpPr>
        <p:spPr>
          <a:xfrm>
            <a:off x="9107424" y="4434840"/>
            <a:ext cx="2331720" cy="59436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Semáforo de Alerta</a:t>
            </a:r>
            <a:endParaRPr lang="en-US" sz="1250" dirty="0"/>
          </a:p>
        </p:txBody>
      </p:sp>
      <p:sp>
        <p:nvSpPr>
          <p:cNvPr id="42" name="Text 40"/>
          <p:cNvSpPr txBox="1"/>
          <p:nvPr/>
        </p:nvSpPr>
        <p:spPr>
          <a:xfrm>
            <a:off x="9107424" y="4983480"/>
            <a:ext cx="2331720" cy="5486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Rojo / Amarillo / Verde</a:t>
            </a:r>
            <a:endParaRPr lang="en-US" sz="1000" dirty="0"/>
          </a:p>
        </p:txBody>
      </p:sp>
      <p:sp>
        <p:nvSpPr>
          <p:cNvPr id="45" name="Text 43"/>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46" name="Text 44"/>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Hallazgo 1: Distribución de Metas por Ciudad</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Meta anual: 70,130 unidades  |  Ventas reales: 54,855 unidades</a:t>
            </a:r>
            <a:endParaRPr lang="en-US" sz="1300" dirty="0"/>
          </a:p>
        </p:txBody>
      </p:sp>
      <p:sp>
        <p:nvSpPr>
          <p:cNvPr id="4" name="Shape 2"/>
          <p:cNvSpPr/>
          <p:nvPr/>
        </p:nvSpPr>
        <p:spPr>
          <a:xfrm>
            <a:off x="548640" y="1508760"/>
            <a:ext cx="2286000" cy="1371600"/>
          </a:xfrm>
          <a:prstGeom prst="roundRect">
            <a:avLst>
              <a:gd name="adj" fmla="val 5333"/>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548640" y="1600200"/>
            <a:ext cx="2286000" cy="73152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78.2%</a:t>
            </a:r>
            <a:endParaRPr lang="en-US" sz="3200" dirty="0"/>
          </a:p>
        </p:txBody>
      </p:sp>
      <p:sp>
        <p:nvSpPr>
          <p:cNvPr id="6" name="Text 4"/>
          <p:cNvSpPr txBox="1"/>
          <p:nvPr/>
        </p:nvSpPr>
        <p:spPr>
          <a:xfrm>
            <a:off x="548640" y="2331720"/>
            <a:ext cx="2286000" cy="457200"/>
          </a:xfrm>
          <a:prstGeom prst="rect">
            <a:avLst/>
          </a:prstGeom>
          <a:noFill/>
          <a:ln/>
        </p:spPr>
        <p:txBody>
          <a:bodyPr wrap="square"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Cumplimiento Global</a:t>
            </a:r>
            <a:endParaRPr lang="en-US" sz="1100" dirty="0"/>
          </a:p>
        </p:txBody>
      </p:sp>
      <p:graphicFrame>
        <p:nvGraphicFramePr>
          <p:cNvPr id="7" name="Chart 0"/>
          <p:cNvGraphicFramePr/>
          <p:nvPr/>
        </p:nvGraphicFramePr>
        <p:xfrm>
          <a:off x="3063240" y="1417320"/>
          <a:ext cx="85953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063240" y="5120640"/>
            <a:ext cx="8595360" cy="320040"/>
          </a:xfrm>
          <a:prstGeom prst="rect">
            <a:avLst/>
          </a:prstGeom>
          <a:noFill/>
          <a:ln/>
        </p:spPr>
        <p:txBody>
          <a:bodyPr wrap="square" rtlCol="0" anchor="ctr"/>
          <a:lstStyle/>
          <a:p>
            <a:pPr marL="0" indent="0">
              <a:buNone/>
            </a:pPr>
            <a:r>
              <a:rPr lang="en-US" sz="900" i="1" dirty="0">
                <a:solidFill>
                  <a:srgbClr val="5B6584"/>
                </a:solidFill>
                <a:latin typeface="Calibri" pitchFamily="34" charset="0"/>
                <a:ea typeface="Calibri" pitchFamily="34" charset="-122"/>
                <a:cs typeface="Calibri" pitchFamily="34" charset="-120"/>
              </a:rPr>
              <a:t>* Demás ciudades (Matriz, Milagro, Coca no cuentan con meta explícita en el caso)</a:t>
            </a:r>
            <a:endParaRPr lang="en-US" sz="900" dirty="0"/>
          </a:p>
        </p:txBody>
      </p:sp>
      <p:sp>
        <p:nvSpPr>
          <p:cNvPr id="9" name="Text 6"/>
          <p:cNvSpPr txBox="1"/>
          <p:nvPr/>
        </p:nvSpPr>
        <p:spPr>
          <a:xfrm>
            <a:off x="548640" y="3200400"/>
            <a:ext cx="2286000" cy="1737360"/>
          </a:xfrm>
          <a:prstGeom prst="rect">
            <a:avLst/>
          </a:prstGeom>
          <a:noFill/>
          <a:ln/>
        </p:spPr>
        <p:txBody>
          <a:bodyPr wrap="square" rtlCol="0" anchor="t"/>
          <a:lstStyle/>
          <a:p>
            <a:pPr marL="0" indent="0">
              <a:buNone/>
            </a:pPr>
            <a:r>
              <a:rPr lang="en-US" sz="1100" b="1" dirty="0">
                <a:solidFill>
                  <a:srgbClr val="1E2761"/>
                </a:solidFill>
                <a:latin typeface="Calibri" pitchFamily="34" charset="0"/>
                <a:ea typeface="Calibri" pitchFamily="34" charset="-122"/>
                <a:cs typeface="Calibri" pitchFamily="34" charset="-120"/>
              </a:rPr>
              <a:t>Lectura: </a:t>
            </a:r>
            <a:r>
              <a:rPr lang="en-US" sz="1100" dirty="0">
                <a:solidFill>
                  <a:srgbClr val="5B6584"/>
                </a:solidFill>
                <a:latin typeface="Calibri" pitchFamily="34" charset="0"/>
                <a:ea typeface="Calibri" pitchFamily="34" charset="-122"/>
                <a:cs typeface="Calibri" pitchFamily="34" charset="-120"/>
              </a:rPr>
              <a:t>Guayaquil, Cuenca y Loja superan meta; Ambato y Machala están en riesgo crítico de incumplimiento.</a:t>
            </a:r>
            <a:endParaRPr lang="en-US" sz="1100" dirty="0"/>
          </a:p>
        </p:txBody>
      </p:sp>
      <p:sp>
        <p:nvSpPr>
          <p:cNvPr id="10" name="Text 7"/>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1" name="Text 8"/>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
        <p:nvSpPr>
          <p:cNvPr id="13" name="CuadroTexto 12">
            <a:extLst>
              <a:ext uri="{FF2B5EF4-FFF2-40B4-BE49-F238E27FC236}">
                <a16:creationId xmlns:a16="http://schemas.microsoft.com/office/drawing/2014/main" id="{4799D82D-513E-33C6-8A63-87386BAE7A6A}"/>
              </a:ext>
            </a:extLst>
          </p:cNvPr>
          <p:cNvSpPr txBox="1"/>
          <p:nvPr/>
        </p:nvSpPr>
        <p:spPr>
          <a:xfrm>
            <a:off x="758953" y="5895539"/>
            <a:ext cx="10972799" cy="430887"/>
          </a:xfrm>
          <a:prstGeom prst="rect">
            <a:avLst/>
          </a:prstGeom>
          <a:noFill/>
        </p:spPr>
        <p:txBody>
          <a:bodyPr wrap="square">
            <a:spAutoFit/>
          </a:bodyPr>
          <a:lstStyle/>
          <a:p>
            <a:r>
              <a:rPr lang="es-EC" sz="1100" b="1" i="1" dirty="0">
                <a:solidFill>
                  <a:srgbClr val="5B6584"/>
                </a:solidFill>
                <a:latin typeface="Calibri" pitchFamily="34" charset="0"/>
                <a:ea typeface="Calibri" pitchFamily="34" charset="-122"/>
                <a:cs typeface="Calibri" pitchFamily="34" charset="-120"/>
              </a:rPr>
              <a:t>La agrupación actual conserva la estructura de metas entregada. Como mejora de Gobierno, se propone homologar las ciudades según centro de costo, coordinador y territorio comercial. Milagro presenta evidencia para asociarse a Guayaquil; Matriz requiere validación antes de incorporarse a Quito</a:t>
            </a:r>
          </a:p>
        </p:txBody>
      </p:sp>
      <p:sp>
        <p:nvSpPr>
          <p:cNvPr id="14" name="CuadroTexto 13">
            <a:extLst>
              <a:ext uri="{FF2B5EF4-FFF2-40B4-BE49-F238E27FC236}">
                <a16:creationId xmlns:a16="http://schemas.microsoft.com/office/drawing/2014/main" id="{9D47A613-4F8E-CEF7-328C-4DD0DF4F1662}"/>
              </a:ext>
            </a:extLst>
          </p:cNvPr>
          <p:cNvSpPr txBox="1"/>
          <p:nvPr/>
        </p:nvSpPr>
        <p:spPr>
          <a:xfrm>
            <a:off x="758952" y="5476696"/>
            <a:ext cx="10972799" cy="261610"/>
          </a:xfrm>
          <a:prstGeom prst="rect">
            <a:avLst/>
          </a:prstGeom>
          <a:noFill/>
        </p:spPr>
        <p:txBody>
          <a:bodyPr wrap="square">
            <a:spAutoFit/>
          </a:bodyPr>
          <a:lstStyle/>
          <a:p>
            <a:r>
              <a:rPr lang="es-MX" sz="1100" b="1" i="1" dirty="0">
                <a:solidFill>
                  <a:srgbClr val="5B6584"/>
                </a:solidFill>
                <a:latin typeface="Calibri" pitchFamily="34" charset="0"/>
                <a:ea typeface="Calibri" pitchFamily="34" charset="-122"/>
                <a:cs typeface="Calibri" pitchFamily="34" charset="-120"/>
              </a:rPr>
              <a:t>** Ambato: De los 22 "vendedores", 20 no tienen coordinador asignado ("No definido"), y muchos de ellos tienen apenas 1-2 ventas en todo el año. – Direccionamiento</a:t>
            </a:r>
            <a:endParaRPr lang="es-EC" sz="1100" b="1" i="1" dirty="0">
              <a:solidFill>
                <a:srgbClr val="5B6584"/>
              </a:solidFill>
              <a:latin typeface="Calibri" pitchFamily="34" charset="0"/>
              <a:ea typeface="Calibri" pitchFamily="34" charset="-122"/>
              <a:cs typeface="Calibri"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Hallazgo 2: Compensación Vendedor y Coordinador</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Volumen sin calidad no se paga igual que volumen con calidad.</a:t>
            </a:r>
            <a:endParaRPr lang="en-US" sz="1300" dirty="0"/>
          </a:p>
        </p:txBody>
      </p:sp>
      <p:sp>
        <p:nvSpPr>
          <p:cNvPr id="4" name="Shape 2"/>
          <p:cNvSpPr/>
          <p:nvPr/>
        </p:nvSpPr>
        <p:spPr>
          <a:xfrm>
            <a:off x="548640" y="1417320"/>
            <a:ext cx="5394960" cy="2331720"/>
          </a:xfrm>
          <a:prstGeom prst="roundRect">
            <a:avLst>
              <a:gd name="adj" fmla="val 3137"/>
            </a:avLst>
          </a:prstGeom>
          <a:solidFill>
            <a:srgbClr val="F4F6FB"/>
          </a:solidFill>
          <a:ln w="12700">
            <a:solidFill>
              <a:srgbClr val="F4F6FB"/>
            </a:solidFill>
            <a:prstDash val="solid"/>
          </a:ln>
        </p:spPr>
        <p:txBody>
          <a:bodyPr/>
          <a:lstStyle/>
          <a:p>
            <a:endParaRPr lang="es-EC"/>
          </a:p>
        </p:txBody>
      </p:sp>
      <p:sp>
        <p:nvSpPr>
          <p:cNvPr id="5" name="Text 3"/>
          <p:cNvSpPr txBox="1"/>
          <p:nvPr/>
        </p:nvSpPr>
        <p:spPr>
          <a:xfrm>
            <a:off x="822960" y="1600200"/>
            <a:ext cx="48463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Comisión del Vendedor</a:t>
            </a:r>
            <a:endParaRPr lang="en-US" sz="1500" dirty="0"/>
          </a:p>
        </p:txBody>
      </p:sp>
      <p:sp>
        <p:nvSpPr>
          <p:cNvPr id="6" name="Text 4"/>
          <p:cNvSpPr txBox="1"/>
          <p:nvPr/>
        </p:nvSpPr>
        <p:spPr>
          <a:xfrm>
            <a:off x="822960" y="2057400"/>
            <a:ext cx="4846320" cy="914400"/>
          </a:xfrm>
          <a:prstGeom prst="rect">
            <a:avLst/>
          </a:prstGeom>
          <a:noFill/>
          <a:ln/>
        </p:spPr>
        <p:txBody>
          <a:bodyPr wrap="square"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Comisión Base </a:t>
            </a:r>
            <a:r>
              <a:rPr lang="en-US" sz="1200" dirty="0">
                <a:solidFill>
                  <a:srgbClr val="5B6584"/>
                </a:solidFill>
                <a:latin typeface="Calibri" pitchFamily="34" charset="0"/>
                <a:ea typeface="Calibri" pitchFamily="34" charset="-122"/>
                <a:cs typeface="Calibri" pitchFamily="34" charset="-120"/>
              </a:rPr>
              <a:t>= $5 x venta  (se reduce a 30% si la venta es “mala venta”)
</a:t>
            </a:r>
            <a:r>
              <a:rPr lang="en-US" sz="1200" b="1" dirty="0">
                <a:solidFill>
                  <a:srgbClr val="1E2761"/>
                </a:solidFill>
                <a:latin typeface="Calibri" pitchFamily="34" charset="0"/>
                <a:ea typeface="Calibri" pitchFamily="34" charset="-122"/>
                <a:cs typeface="Calibri" pitchFamily="34" charset="-120"/>
              </a:rPr>
              <a:t>Comisión Final </a:t>
            </a:r>
            <a:r>
              <a:rPr lang="en-US" sz="1200" dirty="0">
                <a:solidFill>
                  <a:srgbClr val="5B6584"/>
                </a:solidFill>
                <a:latin typeface="Calibri" pitchFamily="34" charset="0"/>
                <a:ea typeface="Calibri" pitchFamily="34" charset="-122"/>
                <a:cs typeface="Calibri" pitchFamily="34" charset="-120"/>
              </a:rPr>
              <a:t>= Σ Comisión Base  x  Factor de Cumplimiento</a:t>
            </a:r>
            <a:endParaRPr lang="en-US" sz="1200" dirty="0"/>
          </a:p>
        </p:txBody>
      </p:sp>
      <p:sp>
        <p:nvSpPr>
          <p:cNvPr id="7" name="Text 5"/>
          <p:cNvSpPr txBox="1"/>
          <p:nvPr/>
        </p:nvSpPr>
        <p:spPr>
          <a:xfrm>
            <a:off x="822960" y="3108960"/>
            <a:ext cx="4846320" cy="457200"/>
          </a:xfrm>
          <a:prstGeom prst="rect">
            <a:avLst/>
          </a:prstGeom>
          <a:noFill/>
          <a:ln/>
        </p:spPr>
        <p:txBody>
          <a:bodyPr wrap="square"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Factor: 0.70 si cumplimiento &lt;70%  ·  1.00 si 70–99%  ·  1.15 (bono) si ≥100%</a:t>
            </a:r>
            <a:br>
              <a:rPr lang="en-US" sz="1050" i="1" dirty="0">
                <a:solidFill>
                  <a:srgbClr val="5B6584"/>
                </a:solidFill>
                <a:latin typeface="Calibri" pitchFamily="34" charset="0"/>
                <a:ea typeface="Calibri" pitchFamily="34" charset="-122"/>
                <a:cs typeface="Calibri" pitchFamily="34" charset="-120"/>
              </a:rPr>
            </a:br>
            <a:r>
              <a:rPr lang="en-US" sz="1050" i="1" dirty="0">
                <a:solidFill>
                  <a:srgbClr val="5B6584"/>
                </a:solidFill>
                <a:latin typeface="Calibri" pitchFamily="34" charset="0"/>
                <a:ea typeface="Calibri" pitchFamily="34" charset="-122"/>
                <a:cs typeface="Calibri" pitchFamily="34" charset="-120"/>
              </a:rPr>
              <a:t>L</a:t>
            </a:r>
            <a:r>
              <a:rPr lang="es-MX" sz="1050" i="1" dirty="0" err="1">
                <a:solidFill>
                  <a:srgbClr val="5B6584"/>
                </a:solidFill>
                <a:latin typeface="Calibri" pitchFamily="34" charset="0"/>
                <a:ea typeface="Calibri" pitchFamily="34" charset="-122"/>
                <a:cs typeface="Calibri" pitchFamily="34" charset="-120"/>
              </a:rPr>
              <a:t>ógica</a:t>
            </a:r>
            <a:r>
              <a:rPr lang="es-MX" sz="1050" i="1" dirty="0">
                <a:solidFill>
                  <a:srgbClr val="5B6584"/>
                </a:solidFill>
                <a:latin typeface="Calibri" pitchFamily="34" charset="0"/>
                <a:ea typeface="Calibri" pitchFamily="34" charset="-122"/>
                <a:cs typeface="Calibri" pitchFamily="34" charset="-120"/>
              </a:rPr>
              <a:t> estándar que se usa en casi cualquier esquema de comisiones por metas</a:t>
            </a:r>
            <a:endParaRPr lang="en-US" sz="1050" dirty="0"/>
          </a:p>
        </p:txBody>
      </p:sp>
      <p:sp>
        <p:nvSpPr>
          <p:cNvPr id="8" name="Shape 6"/>
          <p:cNvSpPr/>
          <p:nvPr/>
        </p:nvSpPr>
        <p:spPr>
          <a:xfrm>
            <a:off x="6217920" y="1417320"/>
            <a:ext cx="5394960" cy="2331720"/>
          </a:xfrm>
          <a:prstGeom prst="roundRect">
            <a:avLst>
              <a:gd name="adj" fmla="val 3137"/>
            </a:avLst>
          </a:prstGeom>
          <a:solidFill>
            <a:srgbClr val="F4F6FB"/>
          </a:solidFill>
          <a:ln w="12700">
            <a:solidFill>
              <a:srgbClr val="F4F6FB"/>
            </a:solidFill>
            <a:prstDash val="solid"/>
          </a:ln>
        </p:spPr>
        <p:txBody>
          <a:bodyPr/>
          <a:lstStyle/>
          <a:p>
            <a:endParaRPr lang="es-EC"/>
          </a:p>
        </p:txBody>
      </p:sp>
      <p:sp>
        <p:nvSpPr>
          <p:cNvPr id="9" name="Text 7"/>
          <p:cNvSpPr txBox="1"/>
          <p:nvPr/>
        </p:nvSpPr>
        <p:spPr>
          <a:xfrm>
            <a:off x="6492240" y="1600200"/>
            <a:ext cx="48463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Compensación del Coordinador</a:t>
            </a:r>
            <a:endParaRPr lang="en-US" sz="1500" dirty="0"/>
          </a:p>
        </p:txBody>
      </p:sp>
      <p:sp>
        <p:nvSpPr>
          <p:cNvPr id="10" name="Text 8"/>
          <p:cNvSpPr txBox="1"/>
          <p:nvPr/>
        </p:nvSpPr>
        <p:spPr>
          <a:xfrm>
            <a:off x="6492240" y="2057400"/>
            <a:ext cx="4846320" cy="1188720"/>
          </a:xfrm>
          <a:prstGeom prst="rect">
            <a:avLst/>
          </a:prstGeom>
          <a:noFill/>
          <a:ln/>
        </p:spPr>
        <p:txBody>
          <a:bodyPr wrap="square" rtlCol="0" anchor="ctr"/>
          <a:lstStyle/>
          <a:p>
            <a:pPr marL="0" indent="0">
              <a:lnSpc>
                <a:spcPct val="120000"/>
              </a:lnSpc>
              <a:buNone/>
            </a:pPr>
            <a:r>
              <a:rPr lang="en-US" sz="1200" b="1" dirty="0">
                <a:solidFill>
                  <a:srgbClr val="1E2761"/>
                </a:solidFill>
                <a:latin typeface="Calibri" pitchFamily="34" charset="0"/>
                <a:ea typeface="Calibri" pitchFamily="34" charset="-122"/>
                <a:cs typeface="Calibri" pitchFamily="34" charset="-120"/>
              </a:rPr>
              <a:t>Override//</a:t>
            </a:r>
            <a:r>
              <a:rPr lang="en-US" sz="1200" b="1" dirty="0" err="1">
                <a:solidFill>
                  <a:srgbClr val="1E2761"/>
                </a:solidFill>
                <a:latin typeface="Calibri" pitchFamily="34" charset="0"/>
                <a:ea typeface="Calibri" pitchFamily="34" charset="-122"/>
                <a:cs typeface="Calibri" pitchFamily="34" charset="-120"/>
              </a:rPr>
              <a:t>Superpuesto</a:t>
            </a:r>
            <a:r>
              <a:rPr lang="en-US" sz="1200" b="1" dirty="0">
                <a:solidFill>
                  <a:srgbClr val="1E2761"/>
                </a:solidFill>
                <a:latin typeface="Calibri" pitchFamily="34" charset="0"/>
                <a:ea typeface="Calibri" pitchFamily="34" charset="-122"/>
                <a:cs typeface="Calibri" pitchFamily="34" charset="-120"/>
              </a:rPr>
              <a:t> </a:t>
            </a:r>
            <a:r>
              <a:rPr lang="en-US" sz="1200" dirty="0">
                <a:solidFill>
                  <a:srgbClr val="5B6584"/>
                </a:solidFill>
                <a:latin typeface="Calibri" pitchFamily="34" charset="0"/>
                <a:ea typeface="Calibri" pitchFamily="34" charset="-122"/>
                <a:cs typeface="Calibri" pitchFamily="34" charset="-120"/>
              </a:rPr>
              <a:t>= 10% de la comisión total del equipo
</a:t>
            </a:r>
            <a:r>
              <a:rPr lang="en-US" sz="1200" b="1" dirty="0">
                <a:solidFill>
                  <a:srgbClr val="1E2761"/>
                </a:solidFill>
                <a:latin typeface="Calibri" pitchFamily="34" charset="0"/>
                <a:ea typeface="Calibri" pitchFamily="34" charset="-122"/>
                <a:cs typeface="Calibri" pitchFamily="34" charset="-120"/>
              </a:rPr>
              <a:t>Bono de Equipo </a:t>
            </a:r>
            <a:r>
              <a:rPr lang="en-US" sz="1200" dirty="0">
                <a:solidFill>
                  <a:srgbClr val="5B6584"/>
                </a:solidFill>
                <a:latin typeface="Calibri" pitchFamily="34" charset="0"/>
                <a:ea typeface="Calibri" pitchFamily="34" charset="-122"/>
                <a:cs typeface="Calibri" pitchFamily="34" charset="-120"/>
              </a:rPr>
              <a:t>= 5% adicional si el centro de costo alcanza ≥100% de su meta agregada</a:t>
            </a:r>
            <a:endParaRPr lang="en-US" sz="1200" dirty="0"/>
          </a:p>
        </p:txBody>
      </p:sp>
      <p:sp>
        <p:nvSpPr>
          <p:cNvPr id="11" name="Text 9"/>
          <p:cNvSpPr txBox="1"/>
          <p:nvPr/>
        </p:nvSpPr>
        <p:spPr>
          <a:xfrm>
            <a:off x="6492240" y="3108960"/>
            <a:ext cx="4846320" cy="457200"/>
          </a:xfrm>
          <a:prstGeom prst="rect">
            <a:avLst/>
          </a:prstGeom>
          <a:noFill/>
          <a:ln/>
        </p:spPr>
        <p:txBody>
          <a:bodyPr wrap="square"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Alinea al coordinador con la calidad agregada de su equipo, no solo el volumen.</a:t>
            </a:r>
            <a:endParaRPr lang="en-US" sz="1050" dirty="0"/>
          </a:p>
        </p:txBody>
      </p:sp>
      <p:sp>
        <p:nvSpPr>
          <p:cNvPr id="12" name="Shape 10"/>
          <p:cNvSpPr/>
          <p:nvPr/>
        </p:nvSpPr>
        <p:spPr>
          <a:xfrm>
            <a:off x="699516" y="4114800"/>
            <a:ext cx="3383280" cy="1371600"/>
          </a:xfrm>
          <a:prstGeom prst="roundRect">
            <a:avLst>
              <a:gd name="adj" fmla="val 5333"/>
            </a:avLst>
          </a:prstGeom>
          <a:solidFill>
            <a:srgbClr val="1E2761"/>
          </a:solidFill>
          <a:ln w="12700">
            <a:solidFill>
              <a:srgbClr val="1E2761"/>
            </a:solidFill>
            <a:prstDash val="solid"/>
          </a:ln>
        </p:spPr>
        <p:txBody>
          <a:bodyPr/>
          <a:lstStyle/>
          <a:p>
            <a:endParaRPr lang="es-EC"/>
          </a:p>
        </p:txBody>
      </p:sp>
      <p:sp>
        <p:nvSpPr>
          <p:cNvPr id="13" name="Text 11"/>
          <p:cNvSpPr txBox="1"/>
          <p:nvPr/>
        </p:nvSpPr>
        <p:spPr>
          <a:xfrm>
            <a:off x="699516" y="4251960"/>
            <a:ext cx="338328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$241,133</a:t>
            </a:r>
            <a:endParaRPr lang="en-US" sz="2200" dirty="0"/>
          </a:p>
        </p:txBody>
      </p:sp>
      <p:sp>
        <p:nvSpPr>
          <p:cNvPr id="14" name="Text 12"/>
          <p:cNvSpPr txBox="1"/>
          <p:nvPr/>
        </p:nvSpPr>
        <p:spPr>
          <a:xfrm>
            <a:off x="699516" y="4846320"/>
            <a:ext cx="3383280" cy="5486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Comisión Total</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Vendedores (624)</a:t>
            </a:r>
            <a:endParaRPr lang="en-US" sz="1050" dirty="0"/>
          </a:p>
        </p:txBody>
      </p:sp>
      <p:sp>
        <p:nvSpPr>
          <p:cNvPr id="15" name="Shape 13"/>
          <p:cNvSpPr/>
          <p:nvPr/>
        </p:nvSpPr>
        <p:spPr>
          <a:xfrm>
            <a:off x="4402836" y="4114800"/>
            <a:ext cx="3383280" cy="1371600"/>
          </a:xfrm>
          <a:prstGeom prst="roundRect">
            <a:avLst>
              <a:gd name="adj" fmla="val 5333"/>
            </a:avLst>
          </a:prstGeom>
          <a:solidFill>
            <a:srgbClr val="1E2761"/>
          </a:solidFill>
          <a:ln w="12700">
            <a:solidFill>
              <a:srgbClr val="1E2761"/>
            </a:solidFill>
            <a:prstDash val="solid"/>
          </a:ln>
        </p:spPr>
        <p:txBody>
          <a:bodyPr/>
          <a:lstStyle/>
          <a:p>
            <a:endParaRPr lang="es-EC"/>
          </a:p>
        </p:txBody>
      </p:sp>
      <p:sp>
        <p:nvSpPr>
          <p:cNvPr id="16" name="Text 14"/>
          <p:cNvSpPr txBox="1"/>
          <p:nvPr/>
        </p:nvSpPr>
        <p:spPr>
          <a:xfrm>
            <a:off x="4402836" y="4251960"/>
            <a:ext cx="338328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$27,856</a:t>
            </a:r>
            <a:endParaRPr lang="en-US" sz="2200" dirty="0"/>
          </a:p>
        </p:txBody>
      </p:sp>
      <p:sp>
        <p:nvSpPr>
          <p:cNvPr id="17" name="Text 15"/>
          <p:cNvSpPr txBox="1"/>
          <p:nvPr/>
        </p:nvSpPr>
        <p:spPr>
          <a:xfrm>
            <a:off x="4402836" y="4846320"/>
            <a:ext cx="3383280" cy="548640"/>
          </a:xfrm>
          <a:prstGeom prst="rect">
            <a:avLst/>
          </a:prstGeom>
          <a:noFill/>
          <a:ln/>
        </p:spPr>
        <p:txBody>
          <a:bodyPr wrap="square"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Comisión Total</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Coordinadores (33)</a:t>
            </a:r>
            <a:endParaRPr lang="en-US" sz="1050" dirty="0"/>
          </a:p>
        </p:txBody>
      </p:sp>
      <p:sp>
        <p:nvSpPr>
          <p:cNvPr id="18" name="Shape 16"/>
          <p:cNvSpPr/>
          <p:nvPr/>
        </p:nvSpPr>
        <p:spPr>
          <a:xfrm>
            <a:off x="8106156" y="4114800"/>
            <a:ext cx="3383280" cy="1371600"/>
          </a:xfrm>
          <a:prstGeom prst="roundRect">
            <a:avLst>
              <a:gd name="adj" fmla="val 5333"/>
            </a:avLst>
          </a:prstGeom>
          <a:solidFill>
            <a:srgbClr val="1E2761"/>
          </a:solidFill>
          <a:ln w="12700">
            <a:solidFill>
              <a:srgbClr val="1E2761"/>
            </a:solidFill>
            <a:prstDash val="solid"/>
          </a:ln>
        </p:spPr>
        <p:txBody>
          <a:bodyPr/>
          <a:lstStyle/>
          <a:p>
            <a:endParaRPr lang="es-EC"/>
          </a:p>
        </p:txBody>
      </p:sp>
      <p:sp>
        <p:nvSpPr>
          <p:cNvPr id="19" name="Text 17"/>
          <p:cNvSpPr txBox="1"/>
          <p:nvPr/>
        </p:nvSpPr>
        <p:spPr>
          <a:xfrm>
            <a:off x="8106156" y="4251960"/>
            <a:ext cx="338328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$1.21M / mes</a:t>
            </a:r>
            <a:endParaRPr lang="en-US" sz="2200" dirty="0"/>
          </a:p>
        </p:txBody>
      </p:sp>
      <p:sp>
        <p:nvSpPr>
          <p:cNvPr id="20" name="Text 18"/>
          <p:cNvSpPr txBox="1"/>
          <p:nvPr/>
        </p:nvSpPr>
        <p:spPr>
          <a:xfrm>
            <a:off x="8106156" y="4846320"/>
            <a:ext cx="3383280" cy="548640"/>
          </a:xfrm>
          <a:prstGeom prst="rect">
            <a:avLst/>
          </a:prstGeom>
          <a:noFill/>
          <a:ln/>
        </p:spPr>
        <p:txBody>
          <a:bodyPr wrap="square" rtlCol="0" anchor="ctr"/>
          <a:lstStyle/>
          <a:p>
            <a:pPr algn="ctr"/>
            <a:r>
              <a:rPr lang="en-US" sz="1050" dirty="0">
                <a:solidFill>
                  <a:srgbClr val="CADCFC"/>
                </a:solidFill>
                <a:latin typeface="Calibri" pitchFamily="34" charset="0"/>
                <a:ea typeface="Calibri" pitchFamily="34" charset="-122"/>
                <a:cs typeface="Calibri" pitchFamily="34" charset="-120"/>
              </a:rPr>
              <a:t>MRC </a:t>
            </a:r>
            <a:r>
              <a:rPr lang="en-US" sz="1050" dirty="0" err="1">
                <a:solidFill>
                  <a:srgbClr val="CADCFC"/>
                </a:solidFill>
                <a:latin typeface="Calibri" pitchFamily="34" charset="0"/>
                <a:ea typeface="Calibri" pitchFamily="34" charset="-122"/>
                <a:cs typeface="Calibri" pitchFamily="34" charset="-120"/>
              </a:rPr>
              <a:t>generado</a:t>
            </a:r>
            <a:r>
              <a:rPr lang="en-US" sz="1050" dirty="0">
                <a:solidFill>
                  <a:srgbClr val="CADCFC"/>
                </a:solidFill>
                <a:latin typeface="Calibri" pitchFamily="34" charset="0"/>
                <a:ea typeface="Calibri" pitchFamily="34" charset="-122"/>
                <a:cs typeface="Calibri" pitchFamily="34" charset="-120"/>
              </a:rPr>
              <a:t> (</a:t>
            </a:r>
            <a:r>
              <a:rPr lang="en-US" sz="1050" dirty="0" err="1">
                <a:solidFill>
                  <a:srgbClr val="CADCFC"/>
                </a:solidFill>
                <a:latin typeface="Calibri" pitchFamily="34" charset="0"/>
                <a:ea typeface="Calibri" pitchFamily="34" charset="-122"/>
                <a:cs typeface="Calibri" pitchFamily="34" charset="-120"/>
              </a:rPr>
              <a:t>Recurrente</a:t>
            </a:r>
            <a:r>
              <a:rPr lang="en-US" sz="1050" dirty="0">
                <a:solidFill>
                  <a:srgbClr val="CADCFC"/>
                </a:solidFill>
                <a:latin typeface="Calibri" pitchFamily="34" charset="0"/>
                <a:ea typeface="Calibri" pitchFamily="34" charset="-122"/>
                <a:cs typeface="Calibri" pitchFamily="34" charset="-120"/>
              </a:rPr>
              <a:t> - </a:t>
            </a:r>
            <a:r>
              <a:rPr lang="es-EC" sz="1050" dirty="0" err="1">
                <a:solidFill>
                  <a:srgbClr val="CADCFC"/>
                </a:solidFill>
                <a:latin typeface="Calibri" pitchFamily="34" charset="0"/>
                <a:ea typeface="Calibri" pitchFamily="34" charset="-122"/>
                <a:cs typeface="Calibri" pitchFamily="34" charset="-120"/>
              </a:rPr>
              <a:t>serviciomensualizado</a:t>
            </a:r>
            <a:r>
              <a:rPr lang="en-US" sz="1050" dirty="0">
                <a:solidFill>
                  <a:srgbClr val="CADCFC"/>
                </a:solidFill>
                <a:latin typeface="Calibri" pitchFamily="34" charset="0"/>
                <a:ea typeface="Calibri" pitchFamily="34" charset="-122"/>
                <a:cs typeface="Calibri" pitchFamily="34" charset="-120"/>
              </a:rPr>
              <a:t>)</a:t>
            </a:r>
            <a:endParaRPr lang="en-US" sz="1050" dirty="0"/>
          </a:p>
          <a:p>
            <a:pPr marL="0" indent="0" algn="ctr">
              <a:buNone/>
            </a:pPr>
            <a:r>
              <a:rPr lang="en-US" sz="1050" dirty="0">
                <a:solidFill>
                  <a:srgbClr val="CADCFC"/>
                </a:solidFill>
                <a:latin typeface="Calibri" pitchFamily="34" charset="0"/>
                <a:ea typeface="Calibri" pitchFamily="34" charset="-122"/>
                <a:cs typeface="Calibri" pitchFamily="34" charset="-120"/>
              </a:rPr>
              <a:t>($14.5M anualizado)</a:t>
            </a:r>
            <a:endParaRPr lang="en-US" sz="1050" dirty="0"/>
          </a:p>
        </p:txBody>
      </p:sp>
      <p:sp>
        <p:nvSpPr>
          <p:cNvPr id="21" name="Text 19"/>
          <p:cNvSpPr txBox="1"/>
          <p:nvPr/>
        </p:nvSpPr>
        <p:spPr>
          <a:xfrm>
            <a:off x="699516" y="5623560"/>
            <a:ext cx="10789920" cy="457200"/>
          </a:xfrm>
          <a:prstGeom prst="rect">
            <a:avLst/>
          </a:prstGeom>
          <a:noFill/>
          <a:ln/>
        </p:spPr>
        <p:txBody>
          <a:bodyPr wrap="square" rtlCol="0" anchor="ctr"/>
          <a:lstStyle/>
          <a:p>
            <a:pPr marL="0" indent="0">
              <a:buNone/>
            </a:pPr>
            <a:r>
              <a:rPr lang="en-US" sz="1050" b="1" dirty="0">
                <a:solidFill>
                  <a:srgbClr val="C0392B"/>
                </a:solidFill>
                <a:latin typeface="Calibri" pitchFamily="34" charset="0"/>
                <a:ea typeface="Calibri" pitchFamily="34" charset="-122"/>
                <a:cs typeface="Calibri" pitchFamily="34" charset="-120"/>
              </a:rPr>
              <a:t>Riesgo de concentración: </a:t>
            </a:r>
            <a:r>
              <a:rPr lang="en-US" sz="1050" dirty="0">
                <a:solidFill>
                  <a:srgbClr val="5B6584"/>
                </a:solidFill>
                <a:latin typeface="Calibri" pitchFamily="34" charset="0"/>
                <a:ea typeface="Calibri" pitchFamily="34" charset="-122"/>
                <a:cs typeface="Calibri" pitchFamily="34" charset="-120"/>
              </a:rPr>
              <a:t>en promedio, el 85% del resultado (MRC – </a:t>
            </a:r>
            <a:r>
              <a:rPr lang="en-US" sz="1050" dirty="0" err="1">
                <a:solidFill>
                  <a:srgbClr val="5B6584"/>
                </a:solidFill>
                <a:latin typeface="Calibri" pitchFamily="34" charset="0"/>
                <a:ea typeface="Calibri" pitchFamily="34" charset="-122"/>
                <a:cs typeface="Calibri" pitchFamily="34" charset="-120"/>
              </a:rPr>
              <a:t>Montly</a:t>
            </a:r>
            <a:r>
              <a:rPr lang="en-US" sz="1050" dirty="0">
                <a:solidFill>
                  <a:srgbClr val="5B6584"/>
                </a:solidFill>
                <a:latin typeface="Calibri" pitchFamily="34" charset="0"/>
                <a:ea typeface="Calibri" pitchFamily="34" charset="-122"/>
                <a:cs typeface="Calibri" pitchFamily="34" charset="-120"/>
              </a:rPr>
              <a:t> Recurring Charge) de cada equipo depende de solo 3 vendedores — un indicador nuevo que exige diversificar la cartera, no solo premiar al top performer.</a:t>
            </a:r>
            <a:endParaRPr lang="en-US" sz="1050" dirty="0"/>
          </a:p>
        </p:txBody>
      </p:sp>
      <p:sp>
        <p:nvSpPr>
          <p:cNvPr id="22" name="Text 20"/>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3" name="Text 21"/>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
        <p:nvSpPr>
          <p:cNvPr id="25" name="Text 14">
            <a:extLst>
              <a:ext uri="{FF2B5EF4-FFF2-40B4-BE49-F238E27FC236}">
                <a16:creationId xmlns:a16="http://schemas.microsoft.com/office/drawing/2014/main" id="{7BFC9642-58EB-8389-6D3D-3B9C03BDC99F}"/>
              </a:ext>
            </a:extLst>
          </p:cNvPr>
          <p:cNvSpPr txBox="1"/>
          <p:nvPr/>
        </p:nvSpPr>
        <p:spPr>
          <a:xfrm>
            <a:off x="221826" y="5987627"/>
            <a:ext cx="1479973" cy="548640"/>
          </a:xfrm>
          <a:prstGeom prst="rect">
            <a:avLst/>
          </a:prstGeom>
          <a:noFill/>
          <a:ln/>
        </p:spPr>
        <p:txBody>
          <a:bodyPr wrap="square" rtlCol="0" anchor="ctr"/>
          <a:lstStyle/>
          <a:p>
            <a:pPr marL="0" indent="0" algn="ctr">
              <a:buNone/>
            </a:pPr>
            <a:r>
              <a:rPr lang="en-US" sz="1200" b="1" dirty="0">
                <a:latin typeface="Cambria" pitchFamily="34" charset="0"/>
                <a:ea typeface="Cambria" pitchFamily="34" charset="-122"/>
                <a:cs typeface="Cambria" pitchFamily="34" charset="-120"/>
              </a:rPr>
              <a:t>$268,989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Hallazgo 3: Calidad de la Venta ('Mala Venta')</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Índice de riesgo compuesto (0–4 señales): riesgo de pago, early churn (desde activación), mora, incidentes.</a:t>
            </a:r>
            <a:endParaRPr lang="en-US" sz="1300" dirty="0"/>
          </a:p>
        </p:txBody>
      </p:sp>
      <p:sp>
        <p:nvSpPr>
          <p:cNvPr id="4" name="Shape 2"/>
          <p:cNvSpPr/>
          <p:nvPr/>
        </p:nvSpPr>
        <p:spPr>
          <a:xfrm>
            <a:off x="548640" y="1463040"/>
            <a:ext cx="2743200" cy="1554480"/>
          </a:xfrm>
          <a:prstGeom prst="roundRect">
            <a:avLst>
              <a:gd name="adj" fmla="val 4706"/>
            </a:avLst>
          </a:prstGeom>
          <a:solidFill>
            <a:srgbClr val="C0392B"/>
          </a:solidFill>
          <a:ln w="12700">
            <a:solidFill>
              <a:srgbClr val="C0392B"/>
            </a:solidFill>
            <a:prstDash val="solid"/>
          </a:ln>
        </p:spPr>
        <p:txBody>
          <a:bodyPr/>
          <a:lstStyle/>
          <a:p>
            <a:endParaRPr lang="es-EC"/>
          </a:p>
        </p:txBody>
      </p:sp>
      <p:sp>
        <p:nvSpPr>
          <p:cNvPr id="5" name="Text 3"/>
          <p:cNvSpPr txBox="1"/>
          <p:nvPr/>
        </p:nvSpPr>
        <p:spPr>
          <a:xfrm>
            <a:off x="548640" y="1600200"/>
            <a:ext cx="2743200" cy="73152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19.4%</a:t>
            </a:r>
            <a:endParaRPr lang="en-US" sz="3400" dirty="0"/>
          </a:p>
        </p:txBody>
      </p:sp>
      <p:sp>
        <p:nvSpPr>
          <p:cNvPr id="6" name="Text 4"/>
          <p:cNvSpPr txBox="1"/>
          <p:nvPr/>
        </p:nvSpPr>
        <p:spPr>
          <a:xfrm>
            <a:off x="548640" y="2377440"/>
            <a:ext cx="27432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Tasa Global de Mala Venta</a:t>
            </a:r>
            <a:endParaRPr lang="en-US" sz="1100" dirty="0"/>
          </a:p>
        </p:txBody>
      </p:sp>
      <p:sp>
        <p:nvSpPr>
          <p:cNvPr id="7" name="Shape 5"/>
          <p:cNvSpPr/>
          <p:nvPr/>
        </p:nvSpPr>
        <p:spPr>
          <a:xfrm>
            <a:off x="548640" y="3200400"/>
            <a:ext cx="2743200" cy="1371600"/>
          </a:xfrm>
          <a:prstGeom prst="roundRect">
            <a:avLst>
              <a:gd name="adj" fmla="val 5333"/>
            </a:avLst>
          </a:prstGeom>
          <a:solidFill>
            <a:srgbClr val="F4F6FB"/>
          </a:solidFill>
          <a:ln w="12700">
            <a:solidFill>
              <a:srgbClr val="F4F6FB"/>
            </a:solidFill>
            <a:prstDash val="solid"/>
          </a:ln>
        </p:spPr>
        <p:txBody>
          <a:bodyPr/>
          <a:lstStyle/>
          <a:p>
            <a:endParaRPr lang="es-EC"/>
          </a:p>
        </p:txBody>
      </p:sp>
      <p:sp>
        <p:nvSpPr>
          <p:cNvPr id="8" name="Text 6"/>
          <p:cNvSpPr txBox="1"/>
          <p:nvPr/>
        </p:nvSpPr>
        <p:spPr>
          <a:xfrm>
            <a:off x="548640" y="3291840"/>
            <a:ext cx="2743200" cy="640080"/>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12.9%</a:t>
            </a:r>
            <a:endParaRPr lang="en-US" sz="2600" dirty="0"/>
          </a:p>
        </p:txBody>
      </p:sp>
      <p:sp>
        <p:nvSpPr>
          <p:cNvPr id="9" name="Text 7"/>
          <p:cNvSpPr txBox="1"/>
          <p:nvPr/>
        </p:nvSpPr>
        <p:spPr>
          <a:xfrm>
            <a:off x="548640" y="3977640"/>
            <a:ext cx="2743200" cy="365760"/>
          </a:xfrm>
          <a:prstGeom prst="rect">
            <a:avLst/>
          </a:prstGeom>
          <a:noFill/>
          <a:ln/>
        </p:spPr>
        <p:txBody>
          <a:bodyPr wrap="square" rtlCol="0" anchor="ctr"/>
          <a:lstStyle/>
          <a:p>
            <a:pPr marL="0" indent="0" algn="ctr">
              <a:buNone/>
            </a:pPr>
            <a:r>
              <a:rPr lang="en-US" sz="950" dirty="0">
                <a:solidFill>
                  <a:srgbClr val="5B6584"/>
                </a:solidFill>
                <a:latin typeface="Calibri" pitchFamily="34" charset="0"/>
                <a:ea typeface="Calibri" pitchFamily="34" charset="-122"/>
                <a:cs typeface="Calibri" pitchFamily="34" charset="-120"/>
              </a:rPr>
              <a:t>Tasa de Early Churn (desde activación)</a:t>
            </a:r>
            <a:endParaRPr lang="en-US" sz="950" dirty="0"/>
          </a:p>
        </p:txBody>
      </p:sp>
      <p:graphicFrame>
        <p:nvGraphicFramePr>
          <p:cNvPr id="10" name="Chart 0"/>
          <p:cNvGraphicFramePr/>
          <p:nvPr>
            <p:extLst>
              <p:ext uri="{D42A27DB-BD31-4B8C-83A1-F6EECF244321}">
                <p14:modId xmlns:p14="http://schemas.microsoft.com/office/powerpoint/2010/main" val="770150966"/>
              </p:ext>
            </p:extLst>
          </p:nvPr>
        </p:nvGraphicFramePr>
        <p:xfrm>
          <a:off x="4275667" y="1371600"/>
          <a:ext cx="6998886"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298027" y="5550408"/>
            <a:ext cx="7955280" cy="822960"/>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Hallazgo clave: </a:t>
            </a:r>
            <a:r>
              <a:rPr lang="en-US" sz="1100" dirty="0">
                <a:solidFill>
                  <a:srgbClr val="5B6584"/>
                </a:solidFill>
                <a:latin typeface="Calibri" pitchFamily="34" charset="0"/>
                <a:ea typeface="Calibri" pitchFamily="34" charset="-122"/>
                <a:cs typeface="Calibri" pitchFamily="34" charset="-120"/>
              </a:rPr>
              <a:t>medido desde activación, Distribuidores tiene el early churn más alto (44.9%) pese a no ser el canal con más mala venta — coincide con el hallazgo cualitativo de canibalización entre canales internos y externos (ver Investigación Cualitativa).</a:t>
            </a:r>
            <a:endParaRPr lang="en-US" sz="1100" dirty="0"/>
          </a:p>
        </p:txBody>
      </p:sp>
      <p:sp>
        <p:nvSpPr>
          <p:cNvPr id="12" name="Text 9"/>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3" name="Text 10"/>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10</a:t>
            </a:r>
            <a:endParaRPr lang="en-US" sz="900" dirty="0"/>
          </a:p>
        </p:txBody>
      </p:sp>
      <p:pic>
        <p:nvPicPr>
          <p:cNvPr id="16" name="Imagen 15">
            <a:extLst>
              <a:ext uri="{FF2B5EF4-FFF2-40B4-BE49-F238E27FC236}">
                <a16:creationId xmlns:a16="http://schemas.microsoft.com/office/drawing/2014/main" id="{02A9038B-8F9D-9347-84A2-CCC5C012B621}"/>
              </a:ext>
            </a:extLst>
          </p:cNvPr>
          <p:cNvPicPr>
            <a:picLocks noChangeAspect="1"/>
          </p:cNvPicPr>
          <p:nvPr/>
        </p:nvPicPr>
        <p:blipFill>
          <a:blip r:embed="rId4"/>
          <a:stretch>
            <a:fillRect/>
          </a:stretch>
        </p:blipFill>
        <p:spPr>
          <a:xfrm>
            <a:off x="4438113" y="3253550"/>
            <a:ext cx="6836439" cy="22968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Validación Cruzada: Segundo Análisis Independiente</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Contrasté esta metodología con un análisis independiente del mismo caso para poner a prueba los </a:t>
            </a:r>
            <a:r>
              <a:rPr lang="en-US" sz="1300" i="1" dirty="0" err="1">
                <a:solidFill>
                  <a:srgbClr val="5B6584"/>
                </a:solidFill>
                <a:latin typeface="Calibri" pitchFamily="34" charset="0"/>
                <a:ea typeface="Calibri" pitchFamily="34" charset="-122"/>
                <a:cs typeface="Calibri" pitchFamily="34" charset="-120"/>
              </a:rPr>
              <a:t>resultados</a:t>
            </a:r>
            <a:r>
              <a:rPr lang="en-US" sz="1300" i="1" dirty="0">
                <a:solidFill>
                  <a:srgbClr val="5B6584"/>
                </a:solidFill>
                <a:latin typeface="Calibri" pitchFamily="34" charset="0"/>
                <a:ea typeface="Calibri" pitchFamily="34" charset="-122"/>
                <a:cs typeface="Calibri" pitchFamily="34" charset="-120"/>
              </a:rPr>
              <a:t>.// Es </a:t>
            </a:r>
            <a:r>
              <a:rPr lang="en-US" sz="1300" i="1" dirty="0" err="1">
                <a:solidFill>
                  <a:srgbClr val="5B6584"/>
                </a:solidFill>
                <a:latin typeface="Calibri" pitchFamily="34" charset="0"/>
                <a:ea typeface="Calibri" pitchFamily="34" charset="-122"/>
                <a:cs typeface="Calibri" pitchFamily="34" charset="-120"/>
              </a:rPr>
              <a:t>decir</a:t>
            </a:r>
            <a:r>
              <a:rPr lang="en-US" sz="1300" i="1" dirty="0">
                <a:solidFill>
                  <a:srgbClr val="5B6584"/>
                </a:solidFill>
                <a:latin typeface="Calibri" pitchFamily="34" charset="0"/>
                <a:ea typeface="Calibri" pitchFamily="34" charset="-122"/>
                <a:cs typeface="Calibri" pitchFamily="34" charset="-120"/>
              </a:rPr>
              <a:t> el </a:t>
            </a:r>
            <a:r>
              <a:rPr lang="en-US" sz="1300" i="1" dirty="0" err="1">
                <a:solidFill>
                  <a:srgbClr val="5B6584"/>
                </a:solidFill>
                <a:latin typeface="Calibri" pitchFamily="34" charset="0"/>
                <a:ea typeface="Calibri" pitchFamily="34" charset="-122"/>
                <a:cs typeface="Calibri" pitchFamily="34" charset="-120"/>
              </a:rPr>
              <a:t>mismo</a:t>
            </a:r>
            <a:r>
              <a:rPr lang="en-US" sz="1300" i="1" dirty="0">
                <a:solidFill>
                  <a:srgbClr val="5B6584"/>
                </a:solidFill>
                <a:latin typeface="Calibri" pitchFamily="34" charset="0"/>
                <a:ea typeface="Calibri" pitchFamily="34" charset="-122"/>
                <a:cs typeface="Calibri" pitchFamily="34" charset="-120"/>
              </a:rPr>
              <a:t> </a:t>
            </a:r>
            <a:r>
              <a:rPr lang="en-US" sz="1300" i="1" dirty="0" err="1">
                <a:solidFill>
                  <a:srgbClr val="5B6584"/>
                </a:solidFill>
                <a:latin typeface="Calibri" pitchFamily="34" charset="0"/>
                <a:ea typeface="Calibri" pitchFamily="34" charset="-122"/>
                <a:cs typeface="Calibri" pitchFamily="34" charset="-120"/>
              </a:rPr>
              <a:t>análisis</a:t>
            </a:r>
            <a:r>
              <a:rPr lang="en-US" sz="1300" i="1" dirty="0">
                <a:solidFill>
                  <a:srgbClr val="5B6584"/>
                </a:solidFill>
                <a:latin typeface="Calibri" pitchFamily="34" charset="0"/>
                <a:ea typeface="Calibri" pitchFamily="34" charset="-122"/>
                <a:cs typeface="Calibri" pitchFamily="34" charset="-120"/>
              </a:rPr>
              <a:t> lo </a:t>
            </a:r>
            <a:r>
              <a:rPr lang="en-US" sz="1300" i="1" dirty="0" err="1">
                <a:solidFill>
                  <a:srgbClr val="5B6584"/>
                </a:solidFill>
                <a:latin typeface="Calibri" pitchFamily="34" charset="0"/>
                <a:ea typeface="Calibri" pitchFamily="34" charset="-122"/>
                <a:cs typeface="Calibri" pitchFamily="34" charset="-120"/>
              </a:rPr>
              <a:t>pasamos</a:t>
            </a:r>
            <a:r>
              <a:rPr lang="en-US" sz="1300" i="1" dirty="0">
                <a:solidFill>
                  <a:srgbClr val="5B6584"/>
                </a:solidFill>
                <a:latin typeface="Calibri" pitchFamily="34" charset="0"/>
                <a:ea typeface="Calibri" pitchFamily="34" charset="-122"/>
                <a:cs typeface="Calibri" pitchFamily="34" charset="-120"/>
              </a:rPr>
              <a:t> </a:t>
            </a:r>
            <a:r>
              <a:rPr lang="en-US" sz="1300" i="1" dirty="0" err="1">
                <a:solidFill>
                  <a:srgbClr val="5B6584"/>
                </a:solidFill>
                <a:latin typeface="Calibri" pitchFamily="34" charset="0"/>
                <a:ea typeface="Calibri" pitchFamily="34" charset="-122"/>
                <a:cs typeface="Calibri" pitchFamily="34" charset="-120"/>
              </a:rPr>
              <a:t>por</a:t>
            </a:r>
            <a:r>
              <a:rPr lang="en-US" sz="1300" i="1" dirty="0">
                <a:solidFill>
                  <a:srgbClr val="5B6584"/>
                </a:solidFill>
                <a:latin typeface="Calibri" pitchFamily="34" charset="0"/>
                <a:ea typeface="Calibri" pitchFamily="34" charset="-122"/>
                <a:cs typeface="Calibri" pitchFamily="34" charset="-120"/>
              </a:rPr>
              <a:t> GPT y Claude. </a:t>
            </a:r>
            <a:endParaRPr lang="en-US" sz="1300" dirty="0"/>
          </a:p>
        </p:txBody>
      </p:sp>
      <p:sp>
        <p:nvSpPr>
          <p:cNvPr id="4" name="Shape 2"/>
          <p:cNvSpPr/>
          <p:nvPr/>
        </p:nvSpPr>
        <p:spPr>
          <a:xfrm>
            <a:off x="548640" y="1463040"/>
            <a:ext cx="3291840" cy="4297680"/>
          </a:xfrm>
          <a:prstGeom prst="roundRect">
            <a:avLst>
              <a:gd name="adj" fmla="val 2222"/>
            </a:avLst>
          </a:prstGeom>
          <a:solidFill>
            <a:srgbClr val="1E8449"/>
          </a:solidFill>
          <a:ln w="12700">
            <a:solidFill>
              <a:srgbClr val="1E8449"/>
            </a:solidFill>
            <a:prstDash val="solid"/>
          </a:ln>
        </p:spPr>
        <p:txBody>
          <a:bodyPr/>
          <a:lstStyle/>
          <a:p>
            <a:endParaRPr lang="es-EC"/>
          </a:p>
        </p:txBody>
      </p:sp>
      <p:sp>
        <p:nvSpPr>
          <p:cNvPr id="5" name="Text 3"/>
          <p:cNvSpPr txBox="1"/>
          <p:nvPr/>
        </p:nvSpPr>
        <p:spPr>
          <a:xfrm>
            <a:off x="548640" y="1737360"/>
            <a:ext cx="3291840" cy="914400"/>
          </a:xfrm>
          <a:prstGeom prst="rect">
            <a:avLst/>
          </a:prstGeom>
          <a:noFill/>
          <a:ln/>
        </p:spPr>
        <p:txBody>
          <a:bodyPr wrap="square"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12 / 13</a:t>
            </a:r>
            <a:endParaRPr lang="en-US" sz="4200" dirty="0"/>
          </a:p>
        </p:txBody>
      </p:sp>
      <p:sp>
        <p:nvSpPr>
          <p:cNvPr id="6" name="Text 4"/>
          <p:cNvSpPr txBox="1"/>
          <p:nvPr/>
        </p:nvSpPr>
        <p:spPr>
          <a:xfrm>
            <a:off x="822960" y="2651760"/>
            <a:ext cx="2743200" cy="8229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hallazgos numéricos coincidieron de forma exacta con el segundo análisis</a:t>
            </a:r>
            <a:endParaRPr lang="en-US" sz="1200" dirty="0"/>
          </a:p>
        </p:txBody>
      </p:sp>
      <p:sp>
        <p:nvSpPr>
          <p:cNvPr id="7" name="Text 5"/>
          <p:cNvSpPr txBox="1"/>
          <p:nvPr/>
        </p:nvSpPr>
        <p:spPr>
          <a:xfrm>
            <a:off x="822960" y="3566160"/>
            <a:ext cx="2743200" cy="2011680"/>
          </a:xfrm>
          <a:prstGeom prst="rect">
            <a:avLst/>
          </a:prstGeom>
          <a:noFill/>
          <a:ln/>
        </p:spPr>
        <p:txBody>
          <a:bodyPr wrap="square" rtlCol="0" anchor="ctr"/>
          <a:lstStyle/>
          <a:p>
            <a:pPr marL="0" indent="0">
              <a:lnSpc>
                <a:spcPct val="125000"/>
              </a:lnSpc>
              <a:buNone/>
            </a:pPr>
            <a:r>
              <a:rPr lang="en-US" sz="1000" b="1" dirty="0">
                <a:solidFill>
                  <a:srgbClr val="CADCFC"/>
                </a:solidFill>
                <a:latin typeface="Calibri" pitchFamily="34" charset="0"/>
                <a:ea typeface="Calibri" pitchFamily="34" charset="-122"/>
                <a:cs typeface="Calibri" pitchFamily="34" charset="-120"/>
              </a:rPr>
              <a:t>Entre ellos:
</a:t>
            </a:r>
            <a:r>
              <a:rPr lang="en-US" sz="1000" dirty="0">
                <a:solidFill>
                  <a:srgbClr val="FFFFFF"/>
                </a:solidFill>
                <a:latin typeface="Calibri" pitchFamily="34" charset="0"/>
                <a:ea typeface="Calibri" pitchFamily="34" charset="-122"/>
                <a:cs typeface="Calibri" pitchFamily="34" charset="-120"/>
              </a:rPr>
              <a:t>• 2,355 filas de clientes repetidos
• 99.6% sin fecha de salida de vendedor
• 59.7% de divergencia ciudad vs. geografía
• 182 ventas sin vendedor asignado
• 22.8% sin dato de incidentes recientes</a:t>
            </a:r>
            <a:endParaRPr lang="en-US" sz="1000" dirty="0"/>
          </a:p>
        </p:txBody>
      </p:sp>
      <p:sp>
        <p:nvSpPr>
          <p:cNvPr id="8" name="Shape 6"/>
          <p:cNvSpPr/>
          <p:nvPr/>
        </p:nvSpPr>
        <p:spPr>
          <a:xfrm>
            <a:off x="4114800" y="1463040"/>
            <a:ext cx="7498080" cy="2011680"/>
          </a:xfrm>
          <a:prstGeom prst="roundRect">
            <a:avLst>
              <a:gd name="adj" fmla="val 3636"/>
            </a:avLst>
          </a:prstGeom>
          <a:solidFill>
            <a:srgbClr val="F4F6FB"/>
          </a:solidFill>
          <a:ln w="12700">
            <a:solidFill>
              <a:srgbClr val="F4F6FB"/>
            </a:solidFill>
            <a:prstDash val="solid"/>
          </a:ln>
        </p:spPr>
        <p:txBody>
          <a:bodyPr/>
          <a:lstStyle/>
          <a:p>
            <a:endParaRPr lang="es-EC"/>
          </a:p>
        </p:txBody>
      </p:sp>
      <p:sp>
        <p:nvSpPr>
          <p:cNvPr id="9" name="Text 7"/>
          <p:cNvSpPr txBox="1"/>
          <p:nvPr/>
        </p:nvSpPr>
        <p:spPr>
          <a:xfrm>
            <a:off x="4389120" y="1645920"/>
            <a:ext cx="694944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La única discrepancia real: Early Churn</a:t>
            </a:r>
            <a:endParaRPr lang="en-US" sz="1500" dirty="0"/>
          </a:p>
        </p:txBody>
      </p:sp>
      <p:sp>
        <p:nvSpPr>
          <p:cNvPr id="10" name="Text 8"/>
          <p:cNvSpPr txBox="1"/>
          <p:nvPr/>
        </p:nvSpPr>
        <p:spPr>
          <a:xfrm>
            <a:off x="4389120" y="2057400"/>
            <a:ext cx="6949440" cy="1280160"/>
          </a:xfrm>
          <a:prstGeom prst="rect">
            <a:avLst/>
          </a:prstGeom>
          <a:noFill/>
          <a:ln/>
        </p:spPr>
        <p:txBody>
          <a:bodyPr wrap="square" rtlCol="0" anchor="ctr"/>
          <a:lstStyle/>
          <a:p>
            <a:pPr>
              <a:lnSpc>
                <a:spcPct val="115000"/>
              </a:lnSpc>
            </a:pPr>
            <a:r>
              <a:rPr lang="en-US" sz="1150" b="1" dirty="0">
                <a:solidFill>
                  <a:srgbClr val="C0392B"/>
                </a:solidFill>
                <a:latin typeface="Calibri" pitchFamily="34" charset="0"/>
                <a:ea typeface="Calibri" pitchFamily="34" charset="-122"/>
                <a:cs typeface="Calibri" pitchFamily="34" charset="-120"/>
              </a:rPr>
              <a:t>12.9% (GPT-5)  vs.  7.5% (Claude- </a:t>
            </a:r>
            <a:r>
              <a:rPr lang="en-US" sz="1150" b="1" dirty="0" err="1">
                <a:solidFill>
                  <a:srgbClr val="C0392B"/>
                </a:solidFill>
                <a:latin typeface="Calibri" pitchFamily="34" charset="0"/>
                <a:ea typeface="Calibri" pitchFamily="34" charset="-122"/>
                <a:cs typeface="Calibri" pitchFamily="34" charset="-120"/>
              </a:rPr>
              <a:t>Sonet</a:t>
            </a:r>
            <a:r>
              <a:rPr lang="en-US" sz="1150" b="1" dirty="0">
                <a:solidFill>
                  <a:srgbClr val="C0392B"/>
                </a:solidFill>
                <a:latin typeface="Calibri" pitchFamily="34" charset="0"/>
                <a:ea typeface="Calibri" pitchFamily="34" charset="-122"/>
                <a:cs typeface="Calibri" pitchFamily="34" charset="-120"/>
              </a:rPr>
              <a:t> 5)
</a:t>
            </a:r>
            <a:r>
              <a:rPr lang="en-US" sz="1150" b="1" dirty="0">
                <a:solidFill>
                  <a:srgbClr val="1E2761"/>
                </a:solidFill>
                <a:latin typeface="Calibri" pitchFamily="34" charset="0"/>
                <a:ea typeface="Calibri" pitchFamily="34" charset="-122"/>
                <a:cs typeface="Calibri" pitchFamily="34" charset="-120"/>
              </a:rPr>
              <a:t>Causa identificada: </a:t>
            </a:r>
            <a:r>
              <a:rPr lang="en-US" sz="1150" dirty="0">
                <a:solidFill>
                  <a:srgbClr val="5B6584"/>
                </a:solidFill>
                <a:latin typeface="Calibri" pitchFamily="34" charset="0"/>
                <a:ea typeface="Calibri" pitchFamily="34" charset="-122"/>
                <a:cs typeface="Calibri" pitchFamily="34" charset="-120"/>
              </a:rPr>
              <a:t>medían los 90 días desde la </a:t>
            </a:r>
            <a:r>
              <a:rPr lang="en-US" sz="1150" b="1" dirty="0">
                <a:solidFill>
                  <a:srgbClr val="1E2761"/>
                </a:solidFill>
                <a:latin typeface="Calibri" pitchFamily="34" charset="0"/>
                <a:ea typeface="Calibri" pitchFamily="34" charset="-122"/>
                <a:cs typeface="Calibri" pitchFamily="34" charset="-120"/>
              </a:rPr>
              <a:t>activación del </a:t>
            </a:r>
            <a:r>
              <a:rPr lang="en-US" sz="1150" b="1" dirty="0" err="1">
                <a:solidFill>
                  <a:srgbClr val="1E2761"/>
                </a:solidFill>
                <a:latin typeface="Calibri" pitchFamily="34" charset="0"/>
                <a:ea typeface="Calibri" pitchFamily="34" charset="-122"/>
                <a:cs typeface="Calibri" pitchFamily="34" charset="-120"/>
              </a:rPr>
              <a:t>servicio</a:t>
            </a:r>
            <a:r>
              <a:rPr lang="en-US" sz="1150" b="1" dirty="0">
                <a:solidFill>
                  <a:srgbClr val="1E2761"/>
                </a:solidFill>
                <a:latin typeface="Calibri" pitchFamily="34" charset="0"/>
                <a:ea typeface="Calibri" pitchFamily="34" charset="-122"/>
                <a:cs typeface="Calibri" pitchFamily="34" charset="-120"/>
              </a:rPr>
              <a:t> (GPT-5)</a:t>
            </a:r>
            <a:r>
              <a:rPr lang="en-US" sz="1150" dirty="0">
                <a:solidFill>
                  <a:srgbClr val="5B6584"/>
                </a:solidFill>
                <a:latin typeface="Calibri" pitchFamily="34" charset="0"/>
                <a:ea typeface="Calibri" pitchFamily="34" charset="-122"/>
                <a:cs typeface="Calibri" pitchFamily="34" charset="-120"/>
              </a:rPr>
              <a:t>; y </a:t>
            </a:r>
            <a:r>
              <a:rPr lang="en-US" sz="1150" b="1" dirty="0">
                <a:solidFill>
                  <a:srgbClr val="1E2761"/>
                </a:solidFill>
                <a:latin typeface="Calibri" pitchFamily="34" charset="0"/>
                <a:ea typeface="Calibri" pitchFamily="34" charset="-122"/>
                <a:cs typeface="Calibri" pitchFamily="34" charset="-120"/>
              </a:rPr>
              <a:t>Claude  </a:t>
            </a:r>
            <a:r>
              <a:rPr lang="en-US" sz="1150" b="1" dirty="0" err="1">
                <a:solidFill>
                  <a:srgbClr val="1E2761"/>
                </a:solidFill>
                <a:latin typeface="Calibri" pitchFamily="34" charset="0"/>
                <a:ea typeface="Calibri" pitchFamily="34" charset="-122"/>
                <a:cs typeface="Calibri" pitchFamily="34" charset="-120"/>
              </a:rPr>
              <a:t>desde</a:t>
            </a:r>
            <a:r>
              <a:rPr lang="en-US" sz="1150" b="1" dirty="0">
                <a:solidFill>
                  <a:srgbClr val="1E2761"/>
                </a:solidFill>
                <a:latin typeface="Calibri" pitchFamily="34" charset="0"/>
                <a:ea typeface="Calibri" pitchFamily="34" charset="-122"/>
                <a:cs typeface="Calibri" pitchFamily="34" charset="-120"/>
              </a:rPr>
              <a:t> la </a:t>
            </a:r>
            <a:r>
              <a:rPr lang="en-US" sz="1150" b="1" dirty="0" err="1">
                <a:solidFill>
                  <a:srgbClr val="1E2761"/>
                </a:solidFill>
                <a:latin typeface="Calibri" pitchFamily="34" charset="0"/>
                <a:ea typeface="Calibri" pitchFamily="34" charset="-122"/>
                <a:cs typeface="Calibri" pitchFamily="34" charset="-120"/>
              </a:rPr>
              <a:t>fecha</a:t>
            </a:r>
            <a:r>
              <a:rPr lang="en-US" sz="1150" b="1" dirty="0">
                <a:solidFill>
                  <a:srgbClr val="1E2761"/>
                </a:solidFill>
                <a:latin typeface="Calibri" pitchFamily="34" charset="0"/>
                <a:ea typeface="Calibri" pitchFamily="34" charset="-122"/>
                <a:cs typeface="Calibri" pitchFamily="34" charset="-120"/>
              </a:rPr>
              <a:t> de venta</a:t>
            </a:r>
            <a:r>
              <a:rPr lang="en-US" sz="1150" dirty="0">
                <a:solidFill>
                  <a:srgbClr val="5B6584"/>
                </a:solidFill>
                <a:latin typeface="Calibri" pitchFamily="34" charset="0"/>
                <a:ea typeface="Calibri" pitchFamily="34" charset="-122"/>
                <a:cs typeface="Calibri" pitchFamily="34" charset="-120"/>
              </a:rPr>
              <a:t>. El caso no especifica cuál — pero activación es el estándar en telecom, </a:t>
            </a:r>
            <a:r>
              <a:rPr lang="en-US" sz="1150" dirty="0" err="1">
                <a:solidFill>
                  <a:srgbClr val="5B6584"/>
                </a:solidFill>
                <a:latin typeface="Calibri" pitchFamily="34" charset="0"/>
                <a:ea typeface="Calibri" pitchFamily="34" charset="-122"/>
                <a:cs typeface="Calibri" pitchFamily="34" charset="-120"/>
              </a:rPr>
              <a:t>así</a:t>
            </a:r>
            <a:r>
              <a:rPr lang="en-US" sz="1150" dirty="0">
                <a:solidFill>
                  <a:srgbClr val="5B6584"/>
                </a:solidFill>
                <a:latin typeface="Calibri" pitchFamily="34" charset="0"/>
                <a:ea typeface="Calibri" pitchFamily="34" charset="-122"/>
                <a:cs typeface="Calibri" pitchFamily="34" charset="-120"/>
              </a:rPr>
              <a:t> </a:t>
            </a:r>
            <a:r>
              <a:rPr lang="en-US" sz="1150" dirty="0" err="1">
                <a:solidFill>
                  <a:srgbClr val="5B6584"/>
                </a:solidFill>
                <a:latin typeface="Calibri" pitchFamily="34" charset="0"/>
                <a:ea typeface="Calibri" pitchFamily="34" charset="-122"/>
                <a:cs typeface="Calibri" pitchFamily="34" charset="-120"/>
              </a:rPr>
              <a:t>que</a:t>
            </a:r>
            <a:r>
              <a:rPr lang="en-US" sz="1150" dirty="0">
                <a:solidFill>
                  <a:srgbClr val="5B6584"/>
                </a:solidFill>
                <a:latin typeface="Calibri" pitchFamily="34" charset="0"/>
                <a:ea typeface="Calibri" pitchFamily="34" charset="-122"/>
                <a:cs typeface="Calibri" pitchFamily="34" charset="-120"/>
              </a:rPr>
              <a:t> se </a:t>
            </a:r>
            <a:r>
              <a:rPr lang="en-US" sz="1150" dirty="0" err="1">
                <a:solidFill>
                  <a:srgbClr val="5B6584"/>
                </a:solidFill>
                <a:latin typeface="Calibri" pitchFamily="34" charset="0"/>
                <a:ea typeface="Calibri" pitchFamily="34" charset="-122"/>
                <a:cs typeface="Calibri" pitchFamily="34" charset="-120"/>
              </a:rPr>
              <a:t>adoptó</a:t>
            </a:r>
            <a:r>
              <a:rPr lang="en-US" sz="1150" dirty="0">
                <a:solidFill>
                  <a:srgbClr val="5B6584"/>
                </a:solidFill>
                <a:latin typeface="Calibri" pitchFamily="34" charset="0"/>
                <a:ea typeface="Calibri" pitchFamily="34" charset="-122"/>
                <a:cs typeface="Calibri" pitchFamily="34" charset="-120"/>
              </a:rPr>
              <a:t> </a:t>
            </a:r>
            <a:r>
              <a:rPr lang="en-US" sz="1150" dirty="0" err="1">
                <a:solidFill>
                  <a:srgbClr val="5B6584"/>
                </a:solidFill>
                <a:latin typeface="Calibri" pitchFamily="34" charset="0"/>
                <a:ea typeface="Calibri" pitchFamily="34" charset="-122"/>
                <a:cs typeface="Calibri" pitchFamily="34" charset="-120"/>
              </a:rPr>
              <a:t>esta</a:t>
            </a:r>
            <a:r>
              <a:rPr lang="en-US" sz="1150" dirty="0">
                <a:solidFill>
                  <a:srgbClr val="5B6584"/>
                </a:solidFill>
                <a:latin typeface="Calibri" pitchFamily="34" charset="0"/>
                <a:ea typeface="Calibri" pitchFamily="34" charset="-122"/>
                <a:cs typeface="Calibri" pitchFamily="34" charset="-120"/>
              </a:rPr>
              <a:t> </a:t>
            </a:r>
            <a:r>
              <a:rPr lang="en-US" sz="1150" dirty="0" err="1">
                <a:solidFill>
                  <a:srgbClr val="5B6584"/>
                </a:solidFill>
                <a:latin typeface="Calibri" pitchFamily="34" charset="0"/>
                <a:ea typeface="Calibri" pitchFamily="34" charset="-122"/>
                <a:cs typeface="Calibri" pitchFamily="34" charset="-120"/>
              </a:rPr>
              <a:t>como</a:t>
            </a:r>
            <a:r>
              <a:rPr lang="en-US" sz="1150" dirty="0">
                <a:solidFill>
                  <a:srgbClr val="5B6584"/>
                </a:solidFill>
                <a:latin typeface="Calibri" pitchFamily="34" charset="0"/>
                <a:ea typeface="Calibri" pitchFamily="34" charset="-122"/>
                <a:cs typeface="Calibri" pitchFamily="34" charset="-120"/>
              </a:rPr>
              <a:t> oficial.</a:t>
            </a:r>
            <a:endParaRPr lang="en-US" sz="1150" dirty="0"/>
          </a:p>
        </p:txBody>
      </p:sp>
      <p:sp>
        <p:nvSpPr>
          <p:cNvPr id="11" name="Shape 9"/>
          <p:cNvSpPr/>
          <p:nvPr/>
        </p:nvSpPr>
        <p:spPr>
          <a:xfrm>
            <a:off x="4114800" y="3657600"/>
            <a:ext cx="7498080" cy="2103120"/>
          </a:xfrm>
          <a:prstGeom prst="roundRect">
            <a:avLst>
              <a:gd name="adj" fmla="val 3478"/>
            </a:avLst>
          </a:prstGeom>
          <a:solidFill>
            <a:srgbClr val="F4F6FB"/>
          </a:solidFill>
          <a:ln w="12700">
            <a:solidFill>
              <a:srgbClr val="F4F6FB"/>
            </a:solidFill>
            <a:prstDash val="solid"/>
          </a:ln>
        </p:spPr>
        <p:txBody>
          <a:bodyPr/>
          <a:lstStyle/>
          <a:p>
            <a:endParaRPr lang="es-EC"/>
          </a:p>
        </p:txBody>
      </p:sp>
      <p:sp>
        <p:nvSpPr>
          <p:cNvPr id="12" name="Text 10"/>
          <p:cNvSpPr txBox="1"/>
          <p:nvPr/>
        </p:nvSpPr>
        <p:spPr>
          <a:xfrm>
            <a:off x="4325112" y="3749040"/>
            <a:ext cx="6949440" cy="365760"/>
          </a:xfrm>
          <a:prstGeom prst="rect">
            <a:avLst/>
          </a:prstGeom>
          <a:noFill/>
          <a:ln/>
        </p:spPr>
        <p:txBody>
          <a:bodyPr wrap="square" rtlCol="0" anchor="ctr"/>
          <a:lstStyle/>
          <a:p>
            <a:pPr marL="0" indent="0">
              <a:buNone/>
            </a:pPr>
            <a:r>
              <a:rPr lang="en-US" sz="1500" b="1" dirty="0" err="1">
                <a:solidFill>
                  <a:srgbClr val="1E2761"/>
                </a:solidFill>
                <a:latin typeface="Calibri" pitchFamily="34" charset="0"/>
                <a:ea typeface="Calibri" pitchFamily="34" charset="-122"/>
                <a:cs typeface="Calibri" pitchFamily="34" charset="-120"/>
              </a:rPr>
              <a:t>Qué</a:t>
            </a:r>
            <a:r>
              <a:rPr lang="en-US" sz="1500" b="1" dirty="0">
                <a:solidFill>
                  <a:srgbClr val="1E2761"/>
                </a:solidFill>
                <a:latin typeface="Calibri" pitchFamily="34" charset="0"/>
                <a:ea typeface="Calibri" pitchFamily="34" charset="-122"/>
                <a:cs typeface="Calibri" pitchFamily="34" charset="-120"/>
              </a:rPr>
              <a:t> se </a:t>
            </a:r>
            <a:r>
              <a:rPr lang="en-US" sz="1500" b="1" dirty="0" err="1">
                <a:solidFill>
                  <a:srgbClr val="1E2761"/>
                </a:solidFill>
                <a:latin typeface="Calibri" pitchFamily="34" charset="0"/>
                <a:ea typeface="Calibri" pitchFamily="34" charset="-122"/>
                <a:cs typeface="Calibri" pitchFamily="34" charset="-120"/>
              </a:rPr>
              <a:t>cambió</a:t>
            </a:r>
            <a:r>
              <a:rPr lang="en-US" sz="1500" b="1" dirty="0">
                <a:solidFill>
                  <a:srgbClr val="1E2761"/>
                </a:solidFill>
                <a:latin typeface="Calibri" pitchFamily="34" charset="0"/>
                <a:ea typeface="Calibri" pitchFamily="34" charset="-122"/>
                <a:cs typeface="Calibri" pitchFamily="34" charset="-120"/>
              </a:rPr>
              <a:t> </a:t>
            </a:r>
            <a:r>
              <a:rPr lang="en-US" sz="1500" b="1" dirty="0" err="1">
                <a:solidFill>
                  <a:srgbClr val="1E2761"/>
                </a:solidFill>
                <a:latin typeface="Calibri" pitchFamily="34" charset="0"/>
                <a:ea typeface="Calibri" pitchFamily="34" charset="-122"/>
                <a:cs typeface="Calibri" pitchFamily="34" charset="-120"/>
              </a:rPr>
              <a:t>como</a:t>
            </a:r>
            <a:r>
              <a:rPr lang="en-US" sz="1500" b="1" dirty="0">
                <a:solidFill>
                  <a:srgbClr val="1E2761"/>
                </a:solidFill>
                <a:latin typeface="Calibri" pitchFamily="34" charset="0"/>
                <a:ea typeface="Calibri" pitchFamily="34" charset="-122"/>
                <a:cs typeface="Calibri" pitchFamily="34" charset="-120"/>
              </a:rPr>
              <a:t> </a:t>
            </a:r>
            <a:r>
              <a:rPr lang="en-US" sz="1500" b="1" dirty="0" err="1">
                <a:solidFill>
                  <a:srgbClr val="1E2761"/>
                </a:solidFill>
                <a:latin typeface="Calibri" pitchFamily="34" charset="0"/>
                <a:ea typeface="Calibri" pitchFamily="34" charset="-122"/>
                <a:cs typeface="Calibri" pitchFamily="34" charset="-120"/>
              </a:rPr>
              <a:t>resultado</a:t>
            </a:r>
            <a:endParaRPr lang="en-US" sz="1500" dirty="0"/>
          </a:p>
        </p:txBody>
      </p:sp>
      <p:sp>
        <p:nvSpPr>
          <p:cNvPr id="13" name="Text 11"/>
          <p:cNvSpPr txBox="1"/>
          <p:nvPr/>
        </p:nvSpPr>
        <p:spPr>
          <a:xfrm>
            <a:off x="4389120" y="4251960"/>
            <a:ext cx="6949440" cy="1417320"/>
          </a:xfrm>
          <a:prstGeom prst="rect">
            <a:avLst/>
          </a:prstGeom>
          <a:noFill/>
          <a:ln/>
        </p:spPr>
        <p:txBody>
          <a:bodyPr wrap="square" rtlCol="0" anchor="t"/>
          <a:lstStyle/>
          <a:p>
            <a:pPr marL="342900" indent="-342900">
              <a:spcAft>
                <a:spcPts val="600"/>
              </a:spcAft>
              <a:buSzPct val="100000"/>
              <a:buChar char="•"/>
            </a:pPr>
            <a:r>
              <a:rPr lang="en-US" sz="1100" dirty="0" err="1">
                <a:solidFill>
                  <a:srgbClr val="1E2761"/>
                </a:solidFill>
                <a:latin typeface="Calibri" pitchFamily="34" charset="0"/>
                <a:ea typeface="Calibri" pitchFamily="34" charset="-122"/>
                <a:cs typeface="Calibri" pitchFamily="34" charset="-120"/>
              </a:rPr>
              <a:t>Adoptamos</a:t>
            </a:r>
            <a:r>
              <a:rPr lang="en-US" sz="1100" dirty="0">
                <a:solidFill>
                  <a:srgbClr val="1E2761"/>
                </a:solidFill>
                <a:latin typeface="Calibri" pitchFamily="34" charset="0"/>
                <a:ea typeface="Calibri" pitchFamily="34" charset="-122"/>
                <a:cs typeface="Calibri" pitchFamily="34" charset="-120"/>
              </a:rPr>
              <a:t> early churn desde activación (12.9%) como métrica oficial.</a:t>
            </a:r>
            <a:endParaRPr lang="en-US" sz="1100" dirty="0"/>
          </a:p>
          <a:p>
            <a:pPr marL="342900" indent="-342900">
              <a:spcAft>
                <a:spcPts val="600"/>
              </a:spcAft>
              <a:buSzPct val="100000"/>
              <a:buChar char="•"/>
            </a:pPr>
            <a:r>
              <a:rPr lang="en-US" sz="1100" dirty="0" err="1">
                <a:solidFill>
                  <a:srgbClr val="1E2761"/>
                </a:solidFill>
                <a:latin typeface="Calibri" pitchFamily="34" charset="0"/>
                <a:ea typeface="Calibri" pitchFamily="34" charset="-122"/>
                <a:cs typeface="Calibri" pitchFamily="34" charset="-120"/>
              </a:rPr>
              <a:t>Recalibramos</a:t>
            </a:r>
            <a:r>
              <a:rPr lang="en-US" sz="1100" dirty="0">
                <a:solidFill>
                  <a:srgbClr val="1E2761"/>
                </a:solidFill>
                <a:latin typeface="Calibri" pitchFamily="34" charset="0"/>
                <a:ea typeface="Calibri" pitchFamily="34" charset="-122"/>
                <a:cs typeface="Calibri" pitchFamily="34" charset="-120"/>
              </a:rPr>
              <a:t> el umbral de alerta de 20% a 45% </a:t>
            </a:r>
          </a:p>
          <a:p>
            <a:pPr marL="342900" indent="-342900">
              <a:spcAft>
                <a:spcPts val="600"/>
              </a:spcAft>
              <a:buSzPct val="100000"/>
              <a:buChar char="•"/>
            </a:pPr>
            <a:r>
              <a:rPr lang="en-US" sz="1100" dirty="0" err="1">
                <a:solidFill>
                  <a:srgbClr val="1E2761"/>
                </a:solidFill>
                <a:latin typeface="Calibri" pitchFamily="34" charset="0"/>
                <a:ea typeface="Calibri" pitchFamily="34" charset="-122"/>
                <a:cs typeface="Calibri" pitchFamily="34" charset="-120"/>
              </a:rPr>
              <a:t>Incorporé</a:t>
            </a:r>
            <a:r>
              <a:rPr lang="en-US" sz="1100" dirty="0">
                <a:solidFill>
                  <a:srgbClr val="1E2761"/>
                </a:solidFill>
                <a:latin typeface="Calibri" pitchFamily="34" charset="0"/>
                <a:ea typeface="Calibri" pitchFamily="34" charset="-122"/>
                <a:cs typeface="Calibri" pitchFamily="34" charset="-120"/>
              </a:rPr>
              <a:t> 2 indicadores nuevos: MRC-</a:t>
            </a:r>
            <a:r>
              <a:rPr lang="en-US" sz="1100" dirty="0">
                <a:solidFill>
                  <a:srgbClr val="5B6584"/>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Montly</a:t>
            </a:r>
            <a:r>
              <a:rPr lang="en-US" sz="1100" dirty="0">
                <a:solidFill>
                  <a:srgbClr val="5B6584"/>
                </a:solidFill>
                <a:latin typeface="Calibri" pitchFamily="34" charset="0"/>
                <a:ea typeface="Calibri" pitchFamily="34" charset="-122"/>
                <a:cs typeface="Calibri" pitchFamily="34" charset="-120"/>
              </a:rPr>
              <a:t> Recurring Charge)</a:t>
            </a:r>
            <a:r>
              <a:rPr lang="en-US" sz="1100" dirty="0">
                <a:solidFill>
                  <a:srgbClr val="1E2761"/>
                </a:solidFill>
                <a:latin typeface="Calibri" pitchFamily="34" charset="0"/>
                <a:ea typeface="Calibri" pitchFamily="34" charset="-122"/>
                <a:cs typeface="Calibri" pitchFamily="34" charset="-120"/>
              </a:rPr>
              <a:t> </a:t>
            </a:r>
            <a:r>
              <a:rPr lang="en-US" sz="1100" dirty="0" err="1">
                <a:solidFill>
                  <a:srgbClr val="1E2761"/>
                </a:solidFill>
                <a:latin typeface="Calibri" pitchFamily="34" charset="0"/>
                <a:ea typeface="Calibri" pitchFamily="34" charset="-122"/>
                <a:cs typeface="Calibri" pitchFamily="34" charset="-120"/>
              </a:rPr>
              <a:t>generado</a:t>
            </a:r>
            <a:endParaRPr lang="en-US" sz="1100" dirty="0"/>
          </a:p>
        </p:txBody>
      </p:sp>
      <p:sp>
        <p:nvSpPr>
          <p:cNvPr id="14" name="Text 12"/>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5" name="Text 13"/>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Hallazgo 4: Alertas y Gobernanza de Datos</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Semáforo compuesto: cumplimiento bajo + mala venta + churn por encima de umbral.</a:t>
            </a:r>
            <a:endParaRPr lang="en-US" sz="1300" dirty="0"/>
          </a:p>
        </p:txBody>
      </p:sp>
      <p:sp>
        <p:nvSpPr>
          <p:cNvPr id="4" name="Text 2"/>
          <p:cNvSpPr txBox="1"/>
          <p:nvPr/>
        </p:nvSpPr>
        <p:spPr>
          <a:xfrm>
            <a:off x="548640" y="1463040"/>
            <a:ext cx="31089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Vendedores (624)</a:t>
            </a:r>
            <a:endParaRPr lang="en-US" sz="1200" dirty="0"/>
          </a:p>
        </p:txBody>
      </p:sp>
      <p:sp>
        <p:nvSpPr>
          <p:cNvPr id="5" name="Shape 3"/>
          <p:cNvSpPr/>
          <p:nvPr/>
        </p:nvSpPr>
        <p:spPr>
          <a:xfrm>
            <a:off x="548640" y="1828800"/>
            <a:ext cx="1818542" cy="320040"/>
          </a:xfrm>
          <a:prstGeom prst="rect">
            <a:avLst/>
          </a:prstGeom>
          <a:solidFill>
            <a:srgbClr val="C0392B"/>
          </a:solidFill>
          <a:ln w="12700">
            <a:solidFill>
              <a:srgbClr val="C0392B"/>
            </a:solidFill>
            <a:prstDash val="solid"/>
          </a:ln>
        </p:spPr>
        <p:txBody>
          <a:bodyPr/>
          <a:lstStyle/>
          <a:p>
            <a:endParaRPr lang="es-EC"/>
          </a:p>
        </p:txBody>
      </p:sp>
      <p:sp>
        <p:nvSpPr>
          <p:cNvPr id="6" name="Text 4"/>
          <p:cNvSpPr txBox="1"/>
          <p:nvPr/>
        </p:nvSpPr>
        <p:spPr>
          <a:xfrm>
            <a:off x="3749040" y="178308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Rojo: 365</a:t>
            </a:r>
            <a:endParaRPr lang="en-US" sz="1050" dirty="0"/>
          </a:p>
        </p:txBody>
      </p:sp>
      <p:sp>
        <p:nvSpPr>
          <p:cNvPr id="7" name="Shape 5"/>
          <p:cNvSpPr/>
          <p:nvPr/>
        </p:nvSpPr>
        <p:spPr>
          <a:xfrm>
            <a:off x="548640" y="2240280"/>
            <a:ext cx="981515" cy="320040"/>
          </a:xfrm>
          <a:prstGeom prst="rect">
            <a:avLst/>
          </a:prstGeom>
          <a:solidFill>
            <a:srgbClr val="D68910"/>
          </a:solidFill>
          <a:ln w="12700">
            <a:solidFill>
              <a:srgbClr val="D68910"/>
            </a:solidFill>
            <a:prstDash val="solid"/>
          </a:ln>
        </p:spPr>
        <p:txBody>
          <a:bodyPr/>
          <a:lstStyle/>
          <a:p>
            <a:endParaRPr lang="es-EC"/>
          </a:p>
        </p:txBody>
      </p:sp>
      <p:sp>
        <p:nvSpPr>
          <p:cNvPr id="8" name="Text 6"/>
          <p:cNvSpPr txBox="1"/>
          <p:nvPr/>
        </p:nvSpPr>
        <p:spPr>
          <a:xfrm>
            <a:off x="3749040" y="219456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Amarillo: 197</a:t>
            </a:r>
            <a:endParaRPr lang="en-US" sz="1050" dirty="0"/>
          </a:p>
        </p:txBody>
      </p:sp>
      <p:sp>
        <p:nvSpPr>
          <p:cNvPr id="9" name="Shape 7"/>
          <p:cNvSpPr/>
          <p:nvPr/>
        </p:nvSpPr>
        <p:spPr>
          <a:xfrm>
            <a:off x="548640" y="2651760"/>
            <a:ext cx="308903" cy="320040"/>
          </a:xfrm>
          <a:prstGeom prst="rect">
            <a:avLst/>
          </a:prstGeom>
          <a:solidFill>
            <a:srgbClr val="1E8449"/>
          </a:solidFill>
          <a:ln w="12700">
            <a:solidFill>
              <a:srgbClr val="1E8449"/>
            </a:solidFill>
            <a:prstDash val="solid"/>
          </a:ln>
        </p:spPr>
        <p:txBody>
          <a:bodyPr/>
          <a:lstStyle/>
          <a:p>
            <a:endParaRPr lang="es-EC"/>
          </a:p>
        </p:txBody>
      </p:sp>
      <p:sp>
        <p:nvSpPr>
          <p:cNvPr id="10" name="Text 8"/>
          <p:cNvSpPr txBox="1"/>
          <p:nvPr/>
        </p:nvSpPr>
        <p:spPr>
          <a:xfrm>
            <a:off x="3749040" y="260604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Verde: 62</a:t>
            </a:r>
            <a:endParaRPr lang="en-US" sz="1050" dirty="0"/>
          </a:p>
        </p:txBody>
      </p:sp>
      <p:sp>
        <p:nvSpPr>
          <p:cNvPr id="11" name="Text 9"/>
          <p:cNvSpPr txBox="1"/>
          <p:nvPr/>
        </p:nvSpPr>
        <p:spPr>
          <a:xfrm>
            <a:off x="548640" y="3200400"/>
            <a:ext cx="31089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Coordinadores (33)</a:t>
            </a:r>
            <a:endParaRPr lang="en-US" sz="1200" dirty="0"/>
          </a:p>
        </p:txBody>
      </p:sp>
      <p:sp>
        <p:nvSpPr>
          <p:cNvPr id="12" name="Shape 10"/>
          <p:cNvSpPr/>
          <p:nvPr/>
        </p:nvSpPr>
        <p:spPr>
          <a:xfrm>
            <a:off x="548640" y="3566160"/>
            <a:ext cx="1318953" cy="320040"/>
          </a:xfrm>
          <a:prstGeom prst="rect">
            <a:avLst/>
          </a:prstGeom>
          <a:solidFill>
            <a:srgbClr val="C0392B"/>
          </a:solidFill>
          <a:ln w="12700">
            <a:solidFill>
              <a:srgbClr val="C0392B"/>
            </a:solidFill>
            <a:prstDash val="solid"/>
          </a:ln>
        </p:spPr>
        <p:txBody>
          <a:bodyPr/>
          <a:lstStyle/>
          <a:p>
            <a:endParaRPr lang="es-EC"/>
          </a:p>
        </p:txBody>
      </p:sp>
      <p:sp>
        <p:nvSpPr>
          <p:cNvPr id="13" name="Text 11"/>
          <p:cNvSpPr txBox="1"/>
          <p:nvPr/>
        </p:nvSpPr>
        <p:spPr>
          <a:xfrm>
            <a:off x="3749040" y="352044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Rojo: 14</a:t>
            </a:r>
            <a:endParaRPr lang="en-US" sz="1050" dirty="0"/>
          </a:p>
        </p:txBody>
      </p:sp>
      <p:sp>
        <p:nvSpPr>
          <p:cNvPr id="14" name="Shape 12"/>
          <p:cNvSpPr/>
          <p:nvPr/>
        </p:nvSpPr>
        <p:spPr>
          <a:xfrm>
            <a:off x="548640" y="3977640"/>
            <a:ext cx="1507375" cy="320040"/>
          </a:xfrm>
          <a:prstGeom prst="rect">
            <a:avLst/>
          </a:prstGeom>
          <a:solidFill>
            <a:srgbClr val="D68910"/>
          </a:solidFill>
          <a:ln w="12700">
            <a:solidFill>
              <a:srgbClr val="D68910"/>
            </a:solidFill>
            <a:prstDash val="solid"/>
          </a:ln>
        </p:spPr>
        <p:txBody>
          <a:bodyPr/>
          <a:lstStyle/>
          <a:p>
            <a:endParaRPr lang="es-EC"/>
          </a:p>
        </p:txBody>
      </p:sp>
      <p:sp>
        <p:nvSpPr>
          <p:cNvPr id="15" name="Text 13"/>
          <p:cNvSpPr txBox="1"/>
          <p:nvPr/>
        </p:nvSpPr>
        <p:spPr>
          <a:xfrm>
            <a:off x="3749040" y="393192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Amarillo: 16</a:t>
            </a:r>
            <a:endParaRPr lang="en-US" sz="1050" dirty="0"/>
          </a:p>
        </p:txBody>
      </p:sp>
      <p:sp>
        <p:nvSpPr>
          <p:cNvPr id="16" name="Shape 14"/>
          <p:cNvSpPr/>
          <p:nvPr/>
        </p:nvSpPr>
        <p:spPr>
          <a:xfrm>
            <a:off x="548640" y="4389120"/>
            <a:ext cx="282633" cy="320040"/>
          </a:xfrm>
          <a:prstGeom prst="rect">
            <a:avLst/>
          </a:prstGeom>
          <a:solidFill>
            <a:srgbClr val="1E8449"/>
          </a:solidFill>
          <a:ln w="12700">
            <a:solidFill>
              <a:srgbClr val="1E8449"/>
            </a:solidFill>
            <a:prstDash val="solid"/>
          </a:ln>
        </p:spPr>
        <p:txBody>
          <a:bodyPr/>
          <a:lstStyle/>
          <a:p>
            <a:endParaRPr lang="es-EC"/>
          </a:p>
        </p:txBody>
      </p:sp>
      <p:sp>
        <p:nvSpPr>
          <p:cNvPr id="17" name="Text 15"/>
          <p:cNvSpPr txBox="1"/>
          <p:nvPr/>
        </p:nvSpPr>
        <p:spPr>
          <a:xfrm>
            <a:off x="3749040" y="4343400"/>
            <a:ext cx="1463040" cy="41148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Verde: 3</a:t>
            </a:r>
            <a:endParaRPr lang="en-US" sz="1050" dirty="0"/>
          </a:p>
        </p:txBody>
      </p:sp>
      <p:sp>
        <p:nvSpPr>
          <p:cNvPr id="18" name="Shape 16"/>
          <p:cNvSpPr/>
          <p:nvPr/>
        </p:nvSpPr>
        <p:spPr>
          <a:xfrm>
            <a:off x="5760720" y="1417320"/>
            <a:ext cx="5852160" cy="4434840"/>
          </a:xfrm>
          <a:prstGeom prst="roundRect">
            <a:avLst>
              <a:gd name="adj" fmla="val 1649"/>
            </a:avLst>
          </a:prstGeom>
          <a:solidFill>
            <a:srgbClr val="F4F6FB"/>
          </a:solidFill>
          <a:ln w="12700">
            <a:solidFill>
              <a:srgbClr val="F4F6FB"/>
            </a:solidFill>
            <a:prstDash val="solid"/>
          </a:ln>
        </p:spPr>
        <p:txBody>
          <a:bodyPr/>
          <a:lstStyle/>
          <a:p>
            <a:endParaRPr lang="es-EC"/>
          </a:p>
        </p:txBody>
      </p:sp>
      <p:sp>
        <p:nvSpPr>
          <p:cNvPr id="19" name="Text 17"/>
          <p:cNvSpPr txBox="1"/>
          <p:nvPr/>
        </p:nvSpPr>
        <p:spPr>
          <a:xfrm>
            <a:off x="6035040" y="1600200"/>
            <a:ext cx="5303520"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 los Hallazgos a la Acción de Gobierno</a:t>
            </a:r>
            <a:endParaRPr lang="en-US" sz="1500" dirty="0"/>
          </a:p>
        </p:txBody>
      </p:sp>
      <p:sp>
        <p:nvSpPr>
          <p:cNvPr id="20" name="Text 18"/>
          <p:cNvSpPr txBox="1"/>
          <p:nvPr/>
        </p:nvSpPr>
        <p:spPr>
          <a:xfrm>
            <a:off x="6035040" y="1965960"/>
            <a:ext cx="5303520" cy="320040"/>
          </a:xfrm>
          <a:prstGeom prst="rect">
            <a:avLst/>
          </a:prstGeom>
          <a:noFill/>
          <a:ln/>
        </p:spPr>
        <p:txBody>
          <a:bodyPr wrap="square" rtlCol="0" anchor="ctr"/>
          <a:lstStyle/>
          <a:p>
            <a:pPr marL="0" indent="0">
              <a:buNone/>
            </a:pPr>
            <a:r>
              <a:rPr lang="en-US" sz="950" i="1" dirty="0">
                <a:solidFill>
                  <a:srgbClr val="5B6584"/>
                </a:solidFill>
                <a:latin typeface="Calibri" pitchFamily="34" charset="0"/>
                <a:ea typeface="Calibri" pitchFamily="34" charset="-122"/>
                <a:cs typeface="Calibri" pitchFamily="34" charset="-120"/>
              </a:rPr>
              <a:t>(Detalle completo de la exploración de datos en las diapositivas 3–4)</a:t>
            </a:r>
            <a:endParaRPr lang="en-US" sz="950" dirty="0"/>
          </a:p>
        </p:txBody>
      </p:sp>
      <p:sp>
        <p:nvSpPr>
          <p:cNvPr id="21" name="Text 19"/>
          <p:cNvSpPr txBox="1"/>
          <p:nvPr/>
        </p:nvSpPr>
        <p:spPr>
          <a:xfrm>
            <a:off x="6035040" y="2377440"/>
            <a:ext cx="5303520" cy="3383280"/>
          </a:xfrm>
          <a:prstGeom prst="rect">
            <a:avLst/>
          </a:prstGeom>
          <a:noFill/>
          <a:ln/>
        </p:spPr>
        <p:txBody>
          <a:bodyPr wrap="square" rtlCol="0" anchor="t"/>
          <a:lstStyle/>
          <a:p>
            <a:pPr marL="342900" indent="-342900">
              <a:spcAft>
                <a:spcPts val="1100"/>
              </a:spcAft>
              <a:buSzPct val="100000"/>
              <a:buChar char="•"/>
            </a:pPr>
            <a:r>
              <a:rPr lang="en-US" sz="1150" dirty="0">
                <a:solidFill>
                  <a:srgbClr val="1E2761"/>
                </a:solidFill>
                <a:latin typeface="Calibri" pitchFamily="34" charset="0"/>
                <a:ea typeface="Calibri" pitchFamily="34" charset="-122"/>
                <a:cs typeface="Calibri" pitchFamily="34" charset="-120"/>
              </a:rPr>
              <a:t>Los vendedores/coordinadores en Rojo se concentran en Guayaquil y Manta — coincide con los códigos “ADR*” y los equipos sin coordinador asignado detectados en la exploración inicial.</a:t>
            </a:r>
            <a:endParaRPr lang="en-US" sz="1150" dirty="0"/>
          </a:p>
          <a:p>
            <a:pPr marL="342900" indent="-342900">
              <a:spcAft>
                <a:spcPts val="1100"/>
              </a:spcAft>
              <a:buSzPct val="100000"/>
              <a:buChar char="•"/>
            </a:pPr>
            <a:r>
              <a:rPr lang="en-US" sz="1150" dirty="0">
                <a:solidFill>
                  <a:srgbClr val="1E2761"/>
                </a:solidFill>
                <a:latin typeface="Calibri" pitchFamily="34" charset="0"/>
                <a:ea typeface="Calibri" pitchFamily="34" charset="-122"/>
                <a:cs typeface="Calibri" pitchFamily="34" charset="-120"/>
              </a:rPr>
              <a:t>El semáforo se recalcula automáticamente si se corrigen más registros — es un control vivo, no una foto única.</a:t>
            </a:r>
            <a:endParaRPr lang="en-US" sz="1150" dirty="0"/>
          </a:p>
          <a:p>
            <a:pPr marL="342900" indent="-342900">
              <a:spcAft>
                <a:spcPts val="1100"/>
              </a:spcAft>
              <a:buSzPct val="100000"/>
              <a:buChar char="•"/>
            </a:pPr>
            <a:r>
              <a:rPr lang="en-US" sz="1150" dirty="0">
                <a:solidFill>
                  <a:srgbClr val="1E2761"/>
                </a:solidFill>
                <a:latin typeface="Calibri" pitchFamily="34" charset="0"/>
                <a:ea typeface="Calibri" pitchFamily="34" charset="-122"/>
                <a:cs typeface="Calibri" pitchFamily="34" charset="-120"/>
              </a:rPr>
              <a:t>Se recomienda una auditoría trimestral del origen de datos (Oracle/CRM) para atacar la causa raíz, no solo limpiar el síntoma cada vez.</a:t>
            </a:r>
            <a:endParaRPr lang="en-US" sz="1150" dirty="0"/>
          </a:p>
          <a:p>
            <a:pPr marL="342900" indent="-342900">
              <a:spcAft>
                <a:spcPts val="1100"/>
              </a:spcAft>
              <a:buSzPct val="100000"/>
              <a:buChar char="•"/>
            </a:pPr>
            <a:r>
              <a:rPr lang="en-US" sz="1150" dirty="0">
                <a:solidFill>
                  <a:srgbClr val="1E2761"/>
                </a:solidFill>
                <a:latin typeface="Calibri" pitchFamily="34" charset="0"/>
                <a:ea typeface="Calibri" pitchFamily="34" charset="-122"/>
                <a:cs typeface="Calibri" pitchFamily="34" charset="-120"/>
              </a:rPr>
              <a:t>El dueño de cada hallazgo (Comercial, Finanzas, TI) debe </a:t>
            </a:r>
            <a:r>
              <a:rPr lang="en-US" sz="1150" dirty="0" err="1">
                <a:solidFill>
                  <a:srgbClr val="1E2761"/>
                </a:solidFill>
                <a:latin typeface="Calibri" pitchFamily="34" charset="0"/>
                <a:ea typeface="Calibri" pitchFamily="34" charset="-122"/>
                <a:cs typeface="Calibri" pitchFamily="34" charset="-120"/>
              </a:rPr>
              <a:t>quedar</a:t>
            </a:r>
            <a:r>
              <a:rPr lang="en-US" sz="1150" dirty="0">
                <a:solidFill>
                  <a:srgbClr val="1E2761"/>
                </a:solidFill>
                <a:latin typeface="Calibri" pitchFamily="34" charset="0"/>
                <a:ea typeface="Calibri" pitchFamily="34" charset="-122"/>
                <a:cs typeface="Calibri" pitchFamily="34" charset="-120"/>
              </a:rPr>
              <a:t> </a:t>
            </a:r>
            <a:r>
              <a:rPr lang="en-US" sz="1150" dirty="0" err="1">
                <a:solidFill>
                  <a:srgbClr val="1E2761"/>
                </a:solidFill>
                <a:latin typeface="Calibri" pitchFamily="34" charset="0"/>
                <a:ea typeface="Calibri" pitchFamily="34" charset="-122"/>
                <a:cs typeface="Calibri" pitchFamily="34" charset="-120"/>
              </a:rPr>
              <a:t>informado</a:t>
            </a:r>
            <a:r>
              <a:rPr lang="en-US" sz="1150" dirty="0">
                <a:solidFill>
                  <a:srgbClr val="1E2761"/>
                </a:solidFill>
                <a:latin typeface="Calibri" pitchFamily="34" charset="0"/>
                <a:ea typeface="Calibri" pitchFamily="34" charset="-122"/>
                <a:cs typeface="Calibri" pitchFamily="34" charset="-120"/>
              </a:rPr>
              <a:t> antes de publicar el esquema de compensación definitivo.</a:t>
            </a:r>
            <a:endParaRPr lang="en-US" sz="1150" dirty="0"/>
          </a:p>
        </p:txBody>
      </p:sp>
      <p:sp>
        <p:nvSpPr>
          <p:cNvPr id="22" name="Text 20"/>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3" name="Text 21"/>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Investigación Cualitativa: Voces del Negocio</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Complementé el análisis cuantitativo con entrevistas a 3 actores clave del negocio.</a:t>
            </a:r>
            <a:endParaRPr lang="en-US" sz="1300" dirty="0"/>
          </a:p>
        </p:txBody>
      </p:sp>
      <p:sp>
        <p:nvSpPr>
          <p:cNvPr id="4" name="Shape 2"/>
          <p:cNvSpPr/>
          <p:nvPr/>
        </p:nvSpPr>
        <p:spPr>
          <a:xfrm>
            <a:off x="548640" y="1463040"/>
            <a:ext cx="3520440" cy="1554480"/>
          </a:xfrm>
          <a:prstGeom prst="roundRect">
            <a:avLst>
              <a:gd name="adj" fmla="val 4706"/>
            </a:avLst>
          </a:prstGeom>
          <a:solidFill>
            <a:srgbClr val="F4F6FB"/>
          </a:solidFill>
          <a:ln w="12700">
            <a:solidFill>
              <a:srgbClr val="F4F6FB"/>
            </a:solidFill>
            <a:prstDash val="solid"/>
          </a:ln>
        </p:spPr>
        <p:txBody>
          <a:bodyPr/>
          <a:lstStyle/>
          <a:p>
            <a:endParaRPr lang="es-EC"/>
          </a:p>
        </p:txBody>
      </p:sp>
      <p:sp>
        <p:nvSpPr>
          <p:cNvPr id="5" name="Shape 3"/>
          <p:cNvSpPr/>
          <p:nvPr/>
        </p:nvSpPr>
        <p:spPr>
          <a:xfrm>
            <a:off x="777240" y="1664208"/>
            <a:ext cx="457200" cy="457200"/>
          </a:xfrm>
          <a:prstGeom prst="ellipse">
            <a:avLst/>
          </a:prstGeom>
          <a:solidFill>
            <a:srgbClr val="1E2761"/>
          </a:solidFill>
          <a:ln w="12700">
            <a:solidFill>
              <a:srgbClr val="1E2761"/>
            </a:solidFill>
            <a:prstDash val="solid"/>
          </a:ln>
        </p:spPr>
        <p:txBody>
          <a:bodyPr/>
          <a:lstStyle/>
          <a:p>
            <a:endParaRPr lang="es-EC"/>
          </a:p>
        </p:txBody>
      </p:sp>
      <p:sp>
        <p:nvSpPr>
          <p:cNvPr id="6" name="Text 4"/>
          <p:cNvSpPr txBox="1"/>
          <p:nvPr/>
        </p:nvSpPr>
        <p:spPr>
          <a:xfrm>
            <a:off x="777240" y="166420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1627632"/>
            <a:ext cx="2468880" cy="3200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Santiago Paz y Miño</a:t>
            </a:r>
            <a:endParaRPr lang="en-US" sz="1250" dirty="0"/>
          </a:p>
        </p:txBody>
      </p:sp>
      <p:sp>
        <p:nvSpPr>
          <p:cNvPr id="8" name="Text 6"/>
          <p:cNvSpPr txBox="1"/>
          <p:nvPr/>
        </p:nvSpPr>
        <p:spPr>
          <a:xfrm>
            <a:off x="1417320" y="1920240"/>
            <a:ext cx="2468880" cy="274320"/>
          </a:xfrm>
          <a:prstGeom prst="rect">
            <a:avLst/>
          </a:prstGeom>
          <a:noFill/>
          <a:ln/>
        </p:spPr>
        <p:txBody>
          <a:bodyPr wrap="square" rtlCol="0" anchor="ctr"/>
          <a:lstStyle/>
          <a:p>
            <a:pPr marL="0" indent="0">
              <a:buNone/>
            </a:pPr>
            <a:r>
              <a:rPr lang="en-US" sz="1000" i="1" dirty="0">
                <a:solidFill>
                  <a:srgbClr val="5B6584"/>
                </a:solidFill>
                <a:latin typeface="Calibri" pitchFamily="34" charset="0"/>
                <a:ea typeface="Calibri" pitchFamily="34" charset="-122"/>
                <a:cs typeface="Calibri" pitchFamily="34" charset="-120"/>
              </a:rPr>
              <a:t>Director Financiero</a:t>
            </a:r>
            <a:endParaRPr lang="en-US" sz="1000" dirty="0"/>
          </a:p>
        </p:txBody>
      </p:sp>
      <p:sp>
        <p:nvSpPr>
          <p:cNvPr id="9" name="Text 7"/>
          <p:cNvSpPr txBox="1"/>
          <p:nvPr/>
        </p:nvSpPr>
        <p:spPr>
          <a:xfrm>
            <a:off x="777240" y="2286000"/>
            <a:ext cx="3063240" cy="64008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Volumen vs. calidad; la analogía de la licuadora; valor económico del cliente</a:t>
            </a:r>
            <a:endParaRPr lang="en-US" sz="950" dirty="0"/>
          </a:p>
        </p:txBody>
      </p:sp>
      <p:sp>
        <p:nvSpPr>
          <p:cNvPr id="10" name="Shape 8"/>
          <p:cNvSpPr/>
          <p:nvPr/>
        </p:nvSpPr>
        <p:spPr>
          <a:xfrm>
            <a:off x="4325112" y="1463040"/>
            <a:ext cx="3520440" cy="1554480"/>
          </a:xfrm>
          <a:prstGeom prst="roundRect">
            <a:avLst>
              <a:gd name="adj" fmla="val 4706"/>
            </a:avLst>
          </a:prstGeom>
          <a:solidFill>
            <a:srgbClr val="F4F6FB"/>
          </a:solidFill>
          <a:ln w="12700">
            <a:solidFill>
              <a:srgbClr val="F4F6FB"/>
            </a:solidFill>
            <a:prstDash val="solid"/>
          </a:ln>
        </p:spPr>
        <p:txBody>
          <a:bodyPr/>
          <a:lstStyle/>
          <a:p>
            <a:endParaRPr lang="es-EC"/>
          </a:p>
        </p:txBody>
      </p:sp>
      <p:sp>
        <p:nvSpPr>
          <p:cNvPr id="11" name="Shape 9"/>
          <p:cNvSpPr/>
          <p:nvPr/>
        </p:nvSpPr>
        <p:spPr>
          <a:xfrm>
            <a:off x="4553712" y="1664208"/>
            <a:ext cx="457200" cy="457200"/>
          </a:xfrm>
          <a:prstGeom prst="ellipse">
            <a:avLst/>
          </a:prstGeom>
          <a:solidFill>
            <a:srgbClr val="1E2761"/>
          </a:solidFill>
          <a:ln w="12700">
            <a:solidFill>
              <a:srgbClr val="1E2761"/>
            </a:solidFill>
            <a:prstDash val="solid"/>
          </a:ln>
        </p:spPr>
        <p:txBody>
          <a:bodyPr/>
          <a:lstStyle/>
          <a:p>
            <a:endParaRPr lang="es-EC"/>
          </a:p>
        </p:txBody>
      </p:sp>
      <p:sp>
        <p:nvSpPr>
          <p:cNvPr id="12" name="Text 10"/>
          <p:cNvSpPr txBox="1"/>
          <p:nvPr/>
        </p:nvSpPr>
        <p:spPr>
          <a:xfrm>
            <a:off x="4553712" y="166420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93792" y="1627632"/>
            <a:ext cx="2468880" cy="3200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Verónica Castro</a:t>
            </a:r>
            <a:endParaRPr lang="en-US" sz="1250" dirty="0"/>
          </a:p>
        </p:txBody>
      </p:sp>
      <p:sp>
        <p:nvSpPr>
          <p:cNvPr id="14" name="Text 12"/>
          <p:cNvSpPr txBox="1"/>
          <p:nvPr/>
        </p:nvSpPr>
        <p:spPr>
          <a:xfrm>
            <a:off x="5193792" y="1920240"/>
            <a:ext cx="2468880" cy="274320"/>
          </a:xfrm>
          <a:prstGeom prst="rect">
            <a:avLst/>
          </a:prstGeom>
          <a:noFill/>
          <a:ln/>
        </p:spPr>
        <p:txBody>
          <a:bodyPr wrap="square" rtlCol="0" anchor="ctr"/>
          <a:lstStyle/>
          <a:p>
            <a:pPr marL="0" indent="0">
              <a:buNone/>
            </a:pPr>
            <a:r>
              <a:rPr lang="en-US" sz="1000" i="1" dirty="0">
                <a:solidFill>
                  <a:srgbClr val="5B6584"/>
                </a:solidFill>
                <a:latin typeface="Calibri" pitchFamily="34" charset="0"/>
                <a:ea typeface="Calibri" pitchFamily="34" charset="-122"/>
                <a:cs typeface="Calibri" pitchFamily="34" charset="-120"/>
              </a:rPr>
              <a:t>Ex Coordinadora de Ventas</a:t>
            </a:r>
            <a:endParaRPr lang="en-US" sz="1000" dirty="0"/>
          </a:p>
        </p:txBody>
      </p:sp>
      <p:sp>
        <p:nvSpPr>
          <p:cNvPr id="15" name="Text 13"/>
          <p:cNvSpPr txBox="1"/>
          <p:nvPr/>
        </p:nvSpPr>
        <p:spPr>
          <a:xfrm>
            <a:off x="4553712" y="2286000"/>
            <a:ext cx="3063240" cy="64008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Escaleras de compensación; punto de equilibrio; canibalización de canales</a:t>
            </a:r>
            <a:endParaRPr lang="en-US" sz="950" dirty="0"/>
          </a:p>
        </p:txBody>
      </p:sp>
      <p:sp>
        <p:nvSpPr>
          <p:cNvPr id="16" name="Shape 14"/>
          <p:cNvSpPr/>
          <p:nvPr/>
        </p:nvSpPr>
        <p:spPr>
          <a:xfrm>
            <a:off x="8101584" y="1463040"/>
            <a:ext cx="3520440" cy="1554480"/>
          </a:xfrm>
          <a:prstGeom prst="roundRect">
            <a:avLst>
              <a:gd name="adj" fmla="val 4706"/>
            </a:avLst>
          </a:prstGeom>
          <a:solidFill>
            <a:srgbClr val="F4F6FB"/>
          </a:solidFill>
          <a:ln w="12700">
            <a:solidFill>
              <a:srgbClr val="F4F6FB"/>
            </a:solidFill>
            <a:prstDash val="solid"/>
          </a:ln>
        </p:spPr>
        <p:txBody>
          <a:bodyPr/>
          <a:lstStyle/>
          <a:p>
            <a:endParaRPr lang="es-EC"/>
          </a:p>
        </p:txBody>
      </p:sp>
      <p:sp>
        <p:nvSpPr>
          <p:cNvPr id="17" name="Shape 15"/>
          <p:cNvSpPr/>
          <p:nvPr/>
        </p:nvSpPr>
        <p:spPr>
          <a:xfrm>
            <a:off x="8330184" y="1664208"/>
            <a:ext cx="457200" cy="457200"/>
          </a:xfrm>
          <a:prstGeom prst="ellipse">
            <a:avLst/>
          </a:prstGeom>
          <a:solidFill>
            <a:srgbClr val="1E2761"/>
          </a:solidFill>
          <a:ln w="12700">
            <a:solidFill>
              <a:srgbClr val="1E2761"/>
            </a:solidFill>
            <a:prstDash val="solid"/>
          </a:ln>
        </p:spPr>
        <p:txBody>
          <a:bodyPr/>
          <a:lstStyle/>
          <a:p>
            <a:endParaRPr lang="es-EC"/>
          </a:p>
        </p:txBody>
      </p:sp>
      <p:sp>
        <p:nvSpPr>
          <p:cNvPr id="18" name="Text 16"/>
          <p:cNvSpPr txBox="1"/>
          <p:nvPr/>
        </p:nvSpPr>
        <p:spPr>
          <a:xfrm>
            <a:off x="8330184" y="166420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970264" y="1627632"/>
            <a:ext cx="2468880" cy="3200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Elizabeth Cruz</a:t>
            </a:r>
            <a:endParaRPr lang="en-US" sz="1250" dirty="0"/>
          </a:p>
        </p:txBody>
      </p:sp>
      <p:sp>
        <p:nvSpPr>
          <p:cNvPr id="20" name="Text 18"/>
          <p:cNvSpPr txBox="1"/>
          <p:nvPr/>
        </p:nvSpPr>
        <p:spPr>
          <a:xfrm>
            <a:off x="8970264" y="1920240"/>
            <a:ext cx="2468880" cy="274320"/>
          </a:xfrm>
          <a:prstGeom prst="rect">
            <a:avLst/>
          </a:prstGeom>
          <a:noFill/>
          <a:ln/>
        </p:spPr>
        <p:txBody>
          <a:bodyPr wrap="square" rtlCol="0" anchor="ctr"/>
          <a:lstStyle/>
          <a:p>
            <a:pPr marL="0" indent="0">
              <a:buNone/>
            </a:pPr>
            <a:r>
              <a:rPr lang="en-US" sz="1000" i="1" dirty="0">
                <a:solidFill>
                  <a:srgbClr val="5B6584"/>
                </a:solidFill>
                <a:latin typeface="Calibri" pitchFamily="34" charset="0"/>
                <a:ea typeface="Calibri" pitchFamily="34" charset="-122"/>
                <a:cs typeface="Calibri" pitchFamily="34" charset="-120"/>
              </a:rPr>
              <a:t>Coordinadora de Recaudación</a:t>
            </a:r>
            <a:endParaRPr lang="en-US" sz="1000" dirty="0"/>
          </a:p>
        </p:txBody>
      </p:sp>
      <p:sp>
        <p:nvSpPr>
          <p:cNvPr id="21" name="Text 19"/>
          <p:cNvSpPr txBox="1"/>
          <p:nvPr/>
        </p:nvSpPr>
        <p:spPr>
          <a:xfrm>
            <a:off x="8330184" y="2286000"/>
            <a:ext cx="3063240" cy="640080"/>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Titularidad de cuenta bancaria; riesgo legal y financiero del débito</a:t>
            </a:r>
            <a:endParaRPr lang="en-US" sz="950" dirty="0"/>
          </a:p>
        </p:txBody>
      </p:sp>
      <p:pic>
        <p:nvPicPr>
          <p:cNvPr id="22" name="Image 0" descr="/home/claude/pptx_build/assets/licuadora.jpeg"/>
          <p:cNvPicPr>
            <a:picLocks noChangeAspect="1"/>
          </p:cNvPicPr>
          <p:nvPr/>
        </p:nvPicPr>
        <p:blipFill>
          <a:blip r:embed="rId3"/>
          <a:stretch>
            <a:fillRect/>
          </a:stretch>
        </p:blipFill>
        <p:spPr>
          <a:xfrm>
            <a:off x="3439160" y="3218688"/>
            <a:ext cx="5283200" cy="2843784"/>
          </a:xfrm>
          <a:prstGeom prst="rect">
            <a:avLst/>
          </a:prstGeom>
        </p:spPr>
      </p:pic>
      <p:sp>
        <p:nvSpPr>
          <p:cNvPr id="23" name="Text 20"/>
          <p:cNvSpPr txBox="1"/>
          <p:nvPr/>
        </p:nvSpPr>
        <p:spPr>
          <a:xfrm>
            <a:off x="1737360" y="6355080"/>
            <a:ext cx="8686800" cy="320040"/>
          </a:xfrm>
          <a:prstGeom prst="rect">
            <a:avLst/>
          </a:prstGeom>
          <a:noFill/>
          <a:ln/>
        </p:spPr>
        <p:txBody>
          <a:bodyPr wrap="square" rtlCol="0" anchor="ctr"/>
          <a:lstStyle/>
          <a:p>
            <a:pPr marL="0" indent="0" algn="ctr">
              <a:buNone/>
            </a:pPr>
            <a:r>
              <a:rPr lang="en-US" sz="1050" b="1" i="1" dirty="0">
                <a:solidFill>
                  <a:srgbClr val="1E2761"/>
                </a:solidFill>
                <a:latin typeface="Calibri" pitchFamily="34" charset="0"/>
                <a:ea typeface="Calibri" pitchFamily="34" charset="-122"/>
                <a:cs typeface="Calibri" pitchFamily="34" charset="-120"/>
              </a:rPr>
              <a:t>“No basta con vender: </a:t>
            </a:r>
            <a:r>
              <a:rPr lang="en-US" sz="1050" i="1" dirty="0">
                <a:solidFill>
                  <a:srgbClr val="5B6584"/>
                </a:solidFill>
                <a:latin typeface="Calibri" pitchFamily="34" charset="0"/>
                <a:ea typeface="Calibri" pitchFamily="34" charset="-122"/>
                <a:cs typeface="Calibri" pitchFamily="34" charset="-120"/>
              </a:rPr>
              <a:t>la venta debe permanecer y generar valor.” — Santiago Paz y Miño</a:t>
            </a:r>
            <a:endParaRPr lang="en-US" sz="1050" dirty="0"/>
          </a:p>
        </p:txBody>
      </p:sp>
      <p:sp>
        <p:nvSpPr>
          <p:cNvPr id="24" name="Text 21"/>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5" name="Text 22"/>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13</a:t>
            </a:r>
            <a:endParaRPr lang="en-US" sz="900" dirty="0"/>
          </a:p>
        </p:txBody>
      </p:sp>
      <p:sp>
        <p:nvSpPr>
          <p:cNvPr id="27" name="Text 1">
            <a:extLst>
              <a:ext uri="{FF2B5EF4-FFF2-40B4-BE49-F238E27FC236}">
                <a16:creationId xmlns:a16="http://schemas.microsoft.com/office/drawing/2014/main" id="{FB7D60B9-9EB4-8602-1C3B-CD7F813FFBAA}"/>
              </a:ext>
            </a:extLst>
          </p:cNvPr>
          <p:cNvSpPr txBox="1"/>
          <p:nvPr/>
        </p:nvSpPr>
        <p:spPr>
          <a:xfrm>
            <a:off x="548640" y="3182112"/>
            <a:ext cx="1060026" cy="411480"/>
          </a:xfrm>
          <a:prstGeom prst="rect">
            <a:avLst/>
          </a:prstGeom>
          <a:noFill/>
          <a:ln/>
        </p:spPr>
        <p:txBody>
          <a:bodyPr wrap="square" rtlCol="0" anchor="ctr"/>
          <a:lstStyle/>
          <a:p>
            <a:pPr marL="0" indent="0">
              <a:buNone/>
            </a:pPr>
            <a:r>
              <a:rPr lang="en-US" sz="1300" i="1" dirty="0" err="1">
                <a:solidFill>
                  <a:srgbClr val="5B6584"/>
                </a:solidFill>
                <a:latin typeface="Calibri" pitchFamily="34" charset="0"/>
                <a:ea typeface="Calibri" pitchFamily="34" charset="-122"/>
                <a:cs typeface="Calibri" pitchFamily="34" charset="-120"/>
              </a:rPr>
              <a:t>Analogía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Del Hallazgo Cualitativo al Modelo de Compensación</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Las entrevistas convergen con el modelo cuantitativo: pagar por resultado y por permanencia, no solo por volumen.</a:t>
            </a:r>
            <a:endParaRPr lang="en-US" sz="1300" dirty="0"/>
          </a:p>
        </p:txBody>
      </p:sp>
      <p:sp>
        <p:nvSpPr>
          <p:cNvPr id="4" name="Shape 2"/>
          <p:cNvSpPr/>
          <p:nvPr/>
        </p:nvSpPr>
        <p:spPr>
          <a:xfrm>
            <a:off x="548640" y="141732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5" name="Text 3"/>
          <p:cNvSpPr txBox="1"/>
          <p:nvPr/>
        </p:nvSpPr>
        <p:spPr>
          <a:xfrm>
            <a:off x="777240" y="1581912"/>
            <a:ext cx="3063240" cy="274320"/>
          </a:xfrm>
          <a:prstGeom prst="rect">
            <a:avLst/>
          </a:prstGeom>
          <a:noFill/>
          <a:ln/>
        </p:spPr>
        <p:txBody>
          <a:bodyPr wrap="square" rtlCol="0" anchor="ctr"/>
          <a:lstStyle/>
          <a:p>
            <a:pPr marL="0" indent="0">
              <a:buNone/>
            </a:pPr>
            <a:r>
              <a:rPr lang="en-US" sz="1050" b="1" dirty="0">
                <a:solidFill>
                  <a:srgbClr val="1E8449"/>
                </a:solidFill>
                <a:latin typeface="Calibri" pitchFamily="34" charset="0"/>
                <a:ea typeface="Calibri" pitchFamily="34" charset="-122"/>
                <a:cs typeface="Calibri" pitchFamily="34" charset="-120"/>
              </a:rPr>
              <a:t>Momento 1</a:t>
            </a:r>
            <a:endParaRPr lang="en-US" sz="1050" dirty="0"/>
          </a:p>
        </p:txBody>
      </p:sp>
      <p:sp>
        <p:nvSpPr>
          <p:cNvPr id="6" name="Text 4"/>
          <p:cNvSpPr txBox="1"/>
          <p:nvPr/>
        </p:nvSpPr>
        <p:spPr>
          <a:xfrm>
            <a:off x="777240" y="1856232"/>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Activación Válida</a:t>
            </a:r>
            <a:endParaRPr lang="en-US" sz="1400" dirty="0"/>
          </a:p>
        </p:txBody>
      </p:sp>
      <p:sp>
        <p:nvSpPr>
          <p:cNvPr id="7" name="Text 5"/>
          <p:cNvSpPr txBox="1"/>
          <p:nvPr/>
        </p:nvSpPr>
        <p:spPr>
          <a:xfrm>
            <a:off x="777240" y="2286000"/>
            <a:ext cx="3063240" cy="10058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Identificador único, servicio activado, documentación completa, titular del medio de pago validado, primera factura cobrada.</a:t>
            </a:r>
            <a:endParaRPr lang="en-US" sz="1000" dirty="0"/>
          </a:p>
        </p:txBody>
      </p:sp>
      <p:sp>
        <p:nvSpPr>
          <p:cNvPr id="8" name="Shape 6"/>
          <p:cNvSpPr/>
          <p:nvPr/>
        </p:nvSpPr>
        <p:spPr>
          <a:xfrm rot="5400000">
            <a:off x="4107485" y="2263140"/>
            <a:ext cx="179222" cy="274320"/>
          </a:xfrm>
          <a:prstGeom prst="triangle">
            <a:avLst/>
          </a:prstGeom>
          <a:solidFill>
            <a:srgbClr val="1E2761"/>
          </a:solidFill>
          <a:ln w="12700">
            <a:solidFill>
              <a:srgbClr val="1E2761"/>
            </a:solidFill>
            <a:prstDash val="solid"/>
          </a:ln>
        </p:spPr>
        <p:txBody>
          <a:bodyPr/>
          <a:lstStyle/>
          <a:p>
            <a:endParaRPr lang="es-EC"/>
          </a:p>
        </p:txBody>
      </p:sp>
      <p:sp>
        <p:nvSpPr>
          <p:cNvPr id="9" name="Shape 7"/>
          <p:cNvSpPr/>
          <p:nvPr/>
        </p:nvSpPr>
        <p:spPr>
          <a:xfrm>
            <a:off x="4325112" y="141732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0" name="Text 8"/>
          <p:cNvSpPr txBox="1"/>
          <p:nvPr/>
        </p:nvSpPr>
        <p:spPr>
          <a:xfrm>
            <a:off x="4553712" y="1581912"/>
            <a:ext cx="3063240" cy="274320"/>
          </a:xfrm>
          <a:prstGeom prst="rect">
            <a:avLst/>
          </a:prstGeom>
          <a:noFill/>
          <a:ln/>
        </p:spPr>
        <p:txBody>
          <a:bodyPr wrap="square" rtlCol="0" anchor="ctr"/>
          <a:lstStyle/>
          <a:p>
            <a:pPr marL="0" indent="0">
              <a:buNone/>
            </a:pPr>
            <a:r>
              <a:rPr lang="en-US" sz="1050" b="1" dirty="0">
                <a:solidFill>
                  <a:srgbClr val="1E8449"/>
                </a:solidFill>
                <a:latin typeface="Calibri" pitchFamily="34" charset="0"/>
                <a:ea typeface="Calibri" pitchFamily="34" charset="-122"/>
                <a:cs typeface="Calibri" pitchFamily="34" charset="-120"/>
              </a:rPr>
              <a:t>Momento 2</a:t>
            </a:r>
            <a:endParaRPr lang="en-US" sz="1050" dirty="0"/>
          </a:p>
        </p:txBody>
      </p:sp>
      <p:sp>
        <p:nvSpPr>
          <p:cNvPr id="11" name="Text 9"/>
          <p:cNvSpPr txBox="1"/>
          <p:nvPr/>
        </p:nvSpPr>
        <p:spPr>
          <a:xfrm>
            <a:off x="4553712" y="1856232"/>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Permanencia Inicial</a:t>
            </a:r>
            <a:endParaRPr lang="en-US" sz="1400" dirty="0"/>
          </a:p>
        </p:txBody>
      </p:sp>
      <p:sp>
        <p:nvSpPr>
          <p:cNvPr id="12" name="Text 10"/>
          <p:cNvSpPr txBox="1"/>
          <p:nvPr/>
        </p:nvSpPr>
        <p:spPr>
          <a:xfrm>
            <a:off x="4553712" y="2286000"/>
            <a:ext cx="3063240" cy="10058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Se libera una segunda parte cuando el cliente supera el período crítico (90–180 días) sin causa de churn atribuible.</a:t>
            </a:r>
            <a:endParaRPr lang="en-US" sz="1000" dirty="0"/>
          </a:p>
        </p:txBody>
      </p:sp>
      <p:sp>
        <p:nvSpPr>
          <p:cNvPr id="13" name="Shape 11"/>
          <p:cNvSpPr/>
          <p:nvPr/>
        </p:nvSpPr>
        <p:spPr>
          <a:xfrm rot="5400000">
            <a:off x="7883957" y="2263140"/>
            <a:ext cx="179222" cy="274320"/>
          </a:xfrm>
          <a:prstGeom prst="triangle">
            <a:avLst/>
          </a:prstGeom>
          <a:solidFill>
            <a:srgbClr val="1E2761"/>
          </a:solidFill>
          <a:ln w="12700">
            <a:solidFill>
              <a:srgbClr val="1E2761"/>
            </a:solidFill>
            <a:prstDash val="solid"/>
          </a:ln>
        </p:spPr>
        <p:txBody>
          <a:bodyPr/>
          <a:lstStyle/>
          <a:p>
            <a:endParaRPr lang="es-EC"/>
          </a:p>
        </p:txBody>
      </p:sp>
      <p:sp>
        <p:nvSpPr>
          <p:cNvPr id="14" name="Shape 12"/>
          <p:cNvSpPr/>
          <p:nvPr/>
        </p:nvSpPr>
        <p:spPr>
          <a:xfrm>
            <a:off x="8101584" y="1417320"/>
            <a:ext cx="3520440" cy="1965960"/>
          </a:xfrm>
          <a:prstGeom prst="roundRect">
            <a:avLst>
              <a:gd name="adj" fmla="val 3721"/>
            </a:avLst>
          </a:prstGeom>
          <a:solidFill>
            <a:srgbClr val="F4F6FB"/>
          </a:solidFill>
          <a:ln w="12700">
            <a:solidFill>
              <a:srgbClr val="F4F6FB"/>
            </a:solidFill>
            <a:prstDash val="solid"/>
          </a:ln>
        </p:spPr>
        <p:txBody>
          <a:bodyPr/>
          <a:lstStyle/>
          <a:p>
            <a:endParaRPr lang="es-EC"/>
          </a:p>
        </p:txBody>
      </p:sp>
      <p:sp>
        <p:nvSpPr>
          <p:cNvPr id="15" name="Text 13"/>
          <p:cNvSpPr txBox="1"/>
          <p:nvPr/>
        </p:nvSpPr>
        <p:spPr>
          <a:xfrm>
            <a:off x="8330184" y="1581912"/>
            <a:ext cx="3063240" cy="274320"/>
          </a:xfrm>
          <a:prstGeom prst="rect">
            <a:avLst/>
          </a:prstGeom>
          <a:noFill/>
          <a:ln/>
        </p:spPr>
        <p:txBody>
          <a:bodyPr wrap="square" rtlCol="0" anchor="ctr"/>
          <a:lstStyle/>
          <a:p>
            <a:pPr marL="0" indent="0">
              <a:buNone/>
            </a:pPr>
            <a:r>
              <a:rPr lang="en-US" sz="1050" b="1" dirty="0">
                <a:solidFill>
                  <a:srgbClr val="1E8449"/>
                </a:solidFill>
                <a:latin typeface="Calibri" pitchFamily="34" charset="0"/>
                <a:ea typeface="Calibri" pitchFamily="34" charset="-122"/>
                <a:cs typeface="Calibri" pitchFamily="34" charset="-120"/>
              </a:rPr>
              <a:t>Momento 3</a:t>
            </a:r>
            <a:endParaRPr lang="en-US" sz="1050" dirty="0"/>
          </a:p>
        </p:txBody>
      </p:sp>
      <p:sp>
        <p:nvSpPr>
          <p:cNvPr id="16" name="Text 14"/>
          <p:cNvSpPr txBox="1"/>
          <p:nvPr/>
        </p:nvSpPr>
        <p:spPr>
          <a:xfrm>
            <a:off x="8330184" y="1856232"/>
            <a:ext cx="30632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Bono de Calidad</a:t>
            </a:r>
            <a:endParaRPr lang="en-US" sz="1400" dirty="0"/>
          </a:p>
        </p:txBody>
      </p:sp>
      <p:sp>
        <p:nvSpPr>
          <p:cNvPr id="17" name="Text 15"/>
          <p:cNvSpPr txBox="1"/>
          <p:nvPr/>
        </p:nvSpPr>
        <p:spPr>
          <a:xfrm>
            <a:off x="8330184" y="2286000"/>
            <a:ext cx="3063240" cy="100584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Bajo early churn, buen comportamiento de pago, baja incidencia de reclamos, cartera avanzando al punto de equilibrio.</a:t>
            </a:r>
            <a:endParaRPr lang="en-US" sz="1000" dirty="0"/>
          </a:p>
        </p:txBody>
      </p:sp>
      <p:sp>
        <p:nvSpPr>
          <p:cNvPr id="18" name="Shape 16"/>
          <p:cNvSpPr/>
          <p:nvPr/>
        </p:nvSpPr>
        <p:spPr>
          <a:xfrm>
            <a:off x="548640" y="3611880"/>
            <a:ext cx="11064240" cy="777240"/>
          </a:xfrm>
          <a:prstGeom prst="roundRect">
            <a:avLst>
              <a:gd name="adj" fmla="val 9412"/>
            </a:avLst>
          </a:prstGeom>
          <a:solidFill>
            <a:srgbClr val="1E2761"/>
          </a:solidFill>
          <a:ln w="12700">
            <a:solidFill>
              <a:srgbClr val="1E2761"/>
            </a:solidFill>
            <a:prstDash val="solid"/>
          </a:ln>
        </p:spPr>
        <p:txBody>
          <a:bodyPr/>
          <a:lstStyle/>
          <a:p>
            <a:endParaRPr lang="es-EC"/>
          </a:p>
        </p:txBody>
      </p:sp>
      <p:sp>
        <p:nvSpPr>
          <p:cNvPr id="19" name="Text 17"/>
          <p:cNvSpPr txBox="1"/>
          <p:nvPr/>
        </p:nvSpPr>
        <p:spPr>
          <a:xfrm>
            <a:off x="822960" y="3611880"/>
            <a:ext cx="10515600" cy="777240"/>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Compensación  =  Resultado Comercial  ×  Factor de Cumplimiento  ×  Multiplicador de Calidad</a:t>
            </a:r>
            <a:endParaRPr lang="en-US" sz="1700" dirty="0"/>
          </a:p>
        </p:txBody>
      </p:sp>
      <p:sp>
        <p:nvSpPr>
          <p:cNvPr id="20" name="Text 18"/>
          <p:cNvSpPr txBox="1"/>
          <p:nvPr/>
        </p:nvSpPr>
        <p:spPr>
          <a:xfrm>
            <a:off x="548640" y="4617720"/>
            <a:ext cx="109728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Hallazgos consolidados de las entrevistas:</a:t>
            </a:r>
            <a:endParaRPr lang="en-US" sz="1300" dirty="0"/>
          </a:p>
        </p:txBody>
      </p:sp>
      <p:sp>
        <p:nvSpPr>
          <p:cNvPr id="21" name="Text 19"/>
          <p:cNvSpPr txBox="1"/>
          <p:nvPr/>
        </p:nvSpPr>
        <p:spPr>
          <a:xfrm>
            <a:off x="548640" y="4937760"/>
            <a:ext cx="11064240" cy="1645920"/>
          </a:xfrm>
          <a:prstGeom prst="rect">
            <a:avLst/>
          </a:prstGeom>
          <a:noFill/>
          <a:ln/>
        </p:spPr>
        <p:txBody>
          <a:bodyPr wrap="square" rtlCol="0" anchor="t"/>
          <a:lstStyle/>
          <a:p>
            <a:pPr marL="342900" indent="-342900">
              <a:spcAft>
                <a:spcPts val="700"/>
              </a:spcAft>
              <a:buSzPct val="100000"/>
              <a:buChar char="•"/>
            </a:pPr>
            <a:r>
              <a:rPr lang="en-US" sz="1100" dirty="0">
                <a:solidFill>
                  <a:srgbClr val="5B6584"/>
                </a:solidFill>
                <a:latin typeface="Calibri" pitchFamily="34" charset="0"/>
                <a:ea typeface="Calibri" pitchFamily="34" charset="-122"/>
                <a:cs typeface="Calibri" pitchFamily="34" charset="-120"/>
              </a:rPr>
              <a:t>El volumen por sí solo no garantiza rentabilidad; la primera factura cobrada no demuestra permanencia.</a:t>
            </a:r>
            <a:endParaRPr lang="en-US" sz="1100" dirty="0"/>
          </a:p>
          <a:p>
            <a:pPr marL="342900" indent="-342900">
              <a:spcAft>
                <a:spcPts val="700"/>
              </a:spcAft>
              <a:buSzPct val="100000"/>
              <a:buChar char="•"/>
            </a:pPr>
            <a:r>
              <a:rPr lang="en-US" sz="1100" dirty="0">
                <a:solidFill>
                  <a:srgbClr val="5B6584"/>
                </a:solidFill>
                <a:latin typeface="Calibri" pitchFamily="34" charset="0"/>
                <a:ea typeface="Calibri" pitchFamily="34" charset="-122"/>
                <a:cs typeface="Calibri" pitchFamily="34" charset="-120"/>
              </a:rPr>
              <a:t>El early churn debe medirse </a:t>
            </a:r>
            <a:r>
              <a:rPr lang="en-US" sz="1100" dirty="0" err="1">
                <a:solidFill>
                  <a:srgbClr val="5B6584"/>
                </a:solidFill>
                <a:latin typeface="Calibri" pitchFamily="34" charset="0"/>
                <a:ea typeface="Calibri" pitchFamily="34" charset="-122"/>
                <a:cs typeface="Calibri" pitchFamily="34" charset="-120"/>
              </a:rPr>
              <a:t>por</a:t>
            </a:r>
            <a:r>
              <a:rPr lang="en-US" sz="1100" dirty="0">
                <a:solidFill>
                  <a:srgbClr val="5B6584"/>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Grupos</a:t>
            </a:r>
            <a:r>
              <a:rPr lang="en-US" sz="1100" dirty="0">
                <a:solidFill>
                  <a:srgbClr val="5B6584"/>
                </a:solidFill>
                <a:latin typeface="Calibri" pitchFamily="34" charset="0"/>
                <a:ea typeface="Calibri" pitchFamily="34" charset="-122"/>
                <a:cs typeface="Calibri" pitchFamily="34" charset="-120"/>
              </a:rPr>
              <a:t> de </a:t>
            </a:r>
            <a:r>
              <a:rPr lang="en-US" sz="1100" dirty="0" err="1">
                <a:solidFill>
                  <a:srgbClr val="5B6584"/>
                </a:solidFill>
                <a:latin typeface="Calibri" pitchFamily="34" charset="0"/>
                <a:ea typeface="Calibri" pitchFamily="34" charset="-122"/>
                <a:cs typeface="Calibri" pitchFamily="34" charset="-120"/>
              </a:rPr>
              <a:t>Ingresos</a:t>
            </a:r>
            <a:r>
              <a:rPr lang="en-US" sz="1100" dirty="0">
                <a:solidFill>
                  <a:srgbClr val="5B6584"/>
                </a:solidFill>
                <a:latin typeface="Calibri" pitchFamily="34" charset="0"/>
                <a:ea typeface="Calibri" pitchFamily="34" charset="-122"/>
                <a:cs typeface="Calibri" pitchFamily="34" charset="-120"/>
              </a:rPr>
              <a:t> – Lotes y causas atribuibles, en distintas ventanas (90 días, 6 meses, punto de equilibrio ~24 meses).</a:t>
            </a:r>
            <a:endParaRPr lang="en-US" sz="1100" dirty="0"/>
          </a:p>
          <a:p>
            <a:pPr marL="342900" indent="-342900">
              <a:spcAft>
                <a:spcPts val="700"/>
              </a:spcAft>
              <a:buSzPct val="100000"/>
              <a:buChar char="•"/>
            </a:pPr>
            <a:r>
              <a:rPr lang="en-US" sz="1100" dirty="0">
                <a:solidFill>
                  <a:srgbClr val="5B6584"/>
                </a:solidFill>
                <a:latin typeface="Calibri" pitchFamily="34" charset="0"/>
                <a:ea typeface="Calibri" pitchFamily="34" charset="-122"/>
                <a:cs typeface="Calibri" pitchFamily="34" charset="-120"/>
              </a:rPr>
              <a:t>Las reglas deben ser consistentes entre vendedores internos y distribuidores externos — hoy no lo son.</a:t>
            </a:r>
            <a:endParaRPr lang="en-US" sz="1100" dirty="0"/>
          </a:p>
          <a:p>
            <a:pPr marL="342900" indent="-342900">
              <a:spcAft>
                <a:spcPts val="700"/>
              </a:spcAft>
              <a:buSzPct val="100000"/>
              <a:buChar char="•"/>
            </a:pPr>
            <a:r>
              <a:rPr lang="en-US" sz="1100" dirty="0">
                <a:solidFill>
                  <a:srgbClr val="5B6584"/>
                </a:solidFill>
                <a:latin typeface="Calibri" pitchFamily="34" charset="0"/>
                <a:ea typeface="Calibri" pitchFamily="34" charset="-122"/>
                <a:cs typeface="Calibri" pitchFamily="34" charset="-120"/>
              </a:rPr>
              <a:t>La calidad de la venta empieza antes de la activación: identidad del cliente y titularidad del medio de pago.</a:t>
            </a:r>
            <a:endParaRPr lang="en-US" sz="1100" dirty="0"/>
          </a:p>
        </p:txBody>
      </p:sp>
      <p:sp>
        <p:nvSpPr>
          <p:cNvPr id="22" name="Text 20"/>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3" name="Text 21"/>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Recomendaciones Accionables</a:t>
            </a:r>
            <a:endParaRPr lang="en-US" sz="3000" dirty="0"/>
          </a:p>
        </p:txBody>
      </p:sp>
      <p:sp>
        <p:nvSpPr>
          <p:cNvPr id="3" name="Shape 1"/>
          <p:cNvSpPr/>
          <p:nvPr/>
        </p:nvSpPr>
        <p:spPr>
          <a:xfrm>
            <a:off x="548640" y="1325880"/>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4" name="Shape 2"/>
          <p:cNvSpPr/>
          <p:nvPr/>
        </p:nvSpPr>
        <p:spPr>
          <a:xfrm>
            <a:off x="731520" y="1490472"/>
            <a:ext cx="347472" cy="347472"/>
          </a:xfrm>
          <a:prstGeom prst="ellipse">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731520" y="1490472"/>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207008" y="1444752"/>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Redistribuir metas 2025</a:t>
            </a:r>
            <a:endParaRPr lang="en-US" sz="1200" dirty="0"/>
          </a:p>
        </p:txBody>
      </p:sp>
      <p:sp>
        <p:nvSpPr>
          <p:cNvPr id="7" name="Text 5"/>
          <p:cNvSpPr txBox="1"/>
          <p:nvPr/>
        </p:nvSpPr>
        <p:spPr>
          <a:xfrm>
            <a:off x="822960" y="1837944"/>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Usar el mix real de ventas por ciudad y no solo el histórico agregado; revisar el caso de Ambato/Machala de inmediato.</a:t>
            </a:r>
            <a:endParaRPr lang="en-US" sz="950" dirty="0"/>
          </a:p>
        </p:txBody>
      </p:sp>
      <p:sp>
        <p:nvSpPr>
          <p:cNvPr id="8" name="Shape 6"/>
          <p:cNvSpPr/>
          <p:nvPr/>
        </p:nvSpPr>
        <p:spPr>
          <a:xfrm>
            <a:off x="6263640" y="1325880"/>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9" name="Shape 7"/>
          <p:cNvSpPr/>
          <p:nvPr/>
        </p:nvSpPr>
        <p:spPr>
          <a:xfrm>
            <a:off x="6446520" y="1490472"/>
            <a:ext cx="347472" cy="347472"/>
          </a:xfrm>
          <a:prstGeom prst="ellipse">
            <a:avLst/>
          </a:prstGeom>
          <a:solidFill>
            <a:srgbClr val="1E2761"/>
          </a:solidFill>
          <a:ln w="12700">
            <a:solidFill>
              <a:srgbClr val="1E2761"/>
            </a:solidFill>
            <a:prstDash val="solid"/>
          </a:ln>
        </p:spPr>
        <p:txBody>
          <a:bodyPr/>
          <a:lstStyle/>
          <a:p>
            <a:endParaRPr lang="es-EC"/>
          </a:p>
        </p:txBody>
      </p:sp>
      <p:sp>
        <p:nvSpPr>
          <p:cNvPr id="10" name="Text 8"/>
          <p:cNvSpPr txBox="1"/>
          <p:nvPr/>
        </p:nvSpPr>
        <p:spPr>
          <a:xfrm>
            <a:off x="6446520" y="1490472"/>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6922008" y="1444752"/>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Auditar Guayaquil y Manta</a:t>
            </a:r>
            <a:endParaRPr lang="en-US" sz="1200" dirty="0"/>
          </a:p>
        </p:txBody>
      </p:sp>
      <p:sp>
        <p:nvSpPr>
          <p:cNvPr id="12" name="Text 10"/>
          <p:cNvSpPr txBox="1"/>
          <p:nvPr/>
        </p:nvSpPr>
        <p:spPr>
          <a:xfrm>
            <a:off x="6537960" y="1837944"/>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G1–G4 (Cod </a:t>
            </a:r>
            <a:r>
              <a:rPr lang="en-US" sz="950" dirty="0" err="1">
                <a:solidFill>
                  <a:srgbClr val="5B6584"/>
                </a:solidFill>
                <a:latin typeface="Calibri" pitchFamily="34" charset="0"/>
                <a:ea typeface="Calibri" pitchFamily="34" charset="-122"/>
                <a:cs typeface="Calibri" pitchFamily="34" charset="-120"/>
              </a:rPr>
              <a:t>Coordinadores</a:t>
            </a:r>
            <a:r>
              <a:rPr lang="en-US" sz="950" dirty="0">
                <a:solidFill>
                  <a:srgbClr val="5B6584"/>
                </a:solidFill>
                <a:latin typeface="Calibri" pitchFamily="34" charset="0"/>
                <a:ea typeface="Calibri" pitchFamily="34" charset="-122"/>
                <a:cs typeface="Calibri" pitchFamily="34" charset="-120"/>
              </a:rPr>
              <a:t>)  y MNB concentran las mayores tasas de mala venta y churn; requieren plan de acompañamiento comercial.</a:t>
            </a:r>
            <a:endParaRPr lang="en-US" sz="950" dirty="0"/>
          </a:p>
        </p:txBody>
      </p:sp>
      <p:sp>
        <p:nvSpPr>
          <p:cNvPr id="13" name="Shape 11"/>
          <p:cNvSpPr/>
          <p:nvPr/>
        </p:nvSpPr>
        <p:spPr>
          <a:xfrm>
            <a:off x="548640" y="2624328"/>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14" name="Shape 12"/>
          <p:cNvSpPr/>
          <p:nvPr/>
        </p:nvSpPr>
        <p:spPr>
          <a:xfrm>
            <a:off x="731520" y="2788920"/>
            <a:ext cx="347472" cy="347472"/>
          </a:xfrm>
          <a:prstGeom prst="ellipse">
            <a:avLst/>
          </a:prstGeom>
          <a:solidFill>
            <a:srgbClr val="1E2761"/>
          </a:solidFill>
          <a:ln w="12700">
            <a:solidFill>
              <a:srgbClr val="1E2761"/>
            </a:solidFill>
            <a:prstDash val="solid"/>
          </a:ln>
        </p:spPr>
        <p:txBody>
          <a:bodyPr/>
          <a:lstStyle/>
          <a:p>
            <a:endParaRPr lang="es-EC"/>
          </a:p>
        </p:txBody>
      </p:sp>
      <p:sp>
        <p:nvSpPr>
          <p:cNvPr id="15" name="Text 13"/>
          <p:cNvSpPr txBox="1"/>
          <p:nvPr/>
        </p:nvSpPr>
        <p:spPr>
          <a:xfrm>
            <a:off x="731520" y="2788920"/>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207008" y="2743200"/>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Formalizar códigos genéricos</a:t>
            </a:r>
            <a:endParaRPr lang="en-US" sz="1200" dirty="0"/>
          </a:p>
        </p:txBody>
      </p:sp>
      <p:sp>
        <p:nvSpPr>
          <p:cNvPr id="17" name="Text 15"/>
          <p:cNvSpPr txBox="1"/>
          <p:nvPr/>
        </p:nvSpPr>
        <p:spPr>
          <a:xfrm>
            <a:off x="822960" y="3136392"/>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Separar ventas de canal digital (“ADR*”) del esquema de comisión individual para no distorsionar el ranking.</a:t>
            </a:r>
            <a:endParaRPr lang="en-US" sz="950" dirty="0"/>
          </a:p>
        </p:txBody>
      </p:sp>
      <p:sp>
        <p:nvSpPr>
          <p:cNvPr id="18" name="Shape 16"/>
          <p:cNvSpPr/>
          <p:nvPr/>
        </p:nvSpPr>
        <p:spPr>
          <a:xfrm>
            <a:off x="6263640" y="2624328"/>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19" name="Shape 17"/>
          <p:cNvSpPr/>
          <p:nvPr/>
        </p:nvSpPr>
        <p:spPr>
          <a:xfrm>
            <a:off x="6446520" y="2788920"/>
            <a:ext cx="347472" cy="347472"/>
          </a:xfrm>
          <a:prstGeom prst="ellipse">
            <a:avLst/>
          </a:prstGeom>
          <a:solidFill>
            <a:srgbClr val="1E2761"/>
          </a:solidFill>
          <a:ln w="12700">
            <a:solidFill>
              <a:srgbClr val="1E2761"/>
            </a:solidFill>
            <a:prstDash val="solid"/>
          </a:ln>
        </p:spPr>
        <p:txBody>
          <a:bodyPr/>
          <a:lstStyle/>
          <a:p>
            <a:endParaRPr lang="es-EC"/>
          </a:p>
        </p:txBody>
      </p:sp>
      <p:sp>
        <p:nvSpPr>
          <p:cNvPr id="20" name="Text 18"/>
          <p:cNvSpPr txBox="1"/>
          <p:nvPr/>
        </p:nvSpPr>
        <p:spPr>
          <a:xfrm>
            <a:off x="6446520" y="2788920"/>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6922008" y="2743200"/>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Asignar coordinador a todo vendedor</a:t>
            </a:r>
            <a:endParaRPr lang="en-US" sz="1200" dirty="0"/>
          </a:p>
        </p:txBody>
      </p:sp>
      <p:sp>
        <p:nvSpPr>
          <p:cNvPr id="22" name="Text 20"/>
          <p:cNvSpPr txBox="1"/>
          <p:nvPr/>
        </p:nvSpPr>
        <p:spPr>
          <a:xfrm>
            <a:off x="6537960" y="3136392"/>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Cerrar el vacío de gobernanza de los 283 vendedores “No definido” en Guayaquil.</a:t>
            </a:r>
            <a:endParaRPr lang="en-US" sz="950" dirty="0"/>
          </a:p>
        </p:txBody>
      </p:sp>
      <p:sp>
        <p:nvSpPr>
          <p:cNvPr id="23" name="Shape 21"/>
          <p:cNvSpPr/>
          <p:nvPr/>
        </p:nvSpPr>
        <p:spPr>
          <a:xfrm>
            <a:off x="548640" y="3922776"/>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24" name="Shape 22"/>
          <p:cNvSpPr/>
          <p:nvPr/>
        </p:nvSpPr>
        <p:spPr>
          <a:xfrm>
            <a:off x="731520" y="4087368"/>
            <a:ext cx="347472" cy="347472"/>
          </a:xfrm>
          <a:prstGeom prst="ellipse">
            <a:avLst/>
          </a:prstGeom>
          <a:solidFill>
            <a:srgbClr val="1E2761"/>
          </a:solidFill>
          <a:ln w="12700">
            <a:solidFill>
              <a:srgbClr val="1E2761"/>
            </a:solidFill>
            <a:prstDash val="solid"/>
          </a:ln>
        </p:spPr>
        <p:txBody>
          <a:bodyPr/>
          <a:lstStyle/>
          <a:p>
            <a:endParaRPr lang="es-EC"/>
          </a:p>
        </p:txBody>
      </p:sp>
      <p:sp>
        <p:nvSpPr>
          <p:cNvPr id="25" name="Text 23"/>
          <p:cNvSpPr txBox="1"/>
          <p:nvPr/>
        </p:nvSpPr>
        <p:spPr>
          <a:xfrm>
            <a:off x="731520" y="4087368"/>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1207008" y="4041648"/>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Homologar reglas internas vs. distribuidores</a:t>
            </a:r>
            <a:endParaRPr lang="en-US" sz="1200" dirty="0"/>
          </a:p>
        </p:txBody>
      </p:sp>
      <p:sp>
        <p:nvSpPr>
          <p:cNvPr id="27" name="Text 25"/>
          <p:cNvSpPr txBox="1"/>
          <p:nvPr/>
        </p:nvSpPr>
        <p:spPr>
          <a:xfrm>
            <a:off x="822960" y="4434840"/>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Hoy enfrentan incentivos distintos frente a la misma calidad de venta — fuente de canibalización (hallazgo cualitativo).</a:t>
            </a:r>
            <a:endParaRPr lang="en-US" sz="950" dirty="0"/>
          </a:p>
        </p:txBody>
      </p:sp>
      <p:sp>
        <p:nvSpPr>
          <p:cNvPr id="28" name="Shape 26"/>
          <p:cNvSpPr/>
          <p:nvPr/>
        </p:nvSpPr>
        <p:spPr>
          <a:xfrm>
            <a:off x="6263640" y="3922776"/>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29" name="Shape 27"/>
          <p:cNvSpPr/>
          <p:nvPr/>
        </p:nvSpPr>
        <p:spPr>
          <a:xfrm>
            <a:off x="6446520" y="4087368"/>
            <a:ext cx="347472" cy="347472"/>
          </a:xfrm>
          <a:prstGeom prst="ellipse">
            <a:avLst/>
          </a:prstGeom>
          <a:solidFill>
            <a:srgbClr val="1E2761"/>
          </a:solidFill>
          <a:ln w="12700">
            <a:solidFill>
              <a:srgbClr val="1E2761"/>
            </a:solidFill>
            <a:prstDash val="solid"/>
          </a:ln>
        </p:spPr>
        <p:txBody>
          <a:bodyPr/>
          <a:lstStyle/>
          <a:p>
            <a:endParaRPr lang="es-EC"/>
          </a:p>
        </p:txBody>
      </p:sp>
      <p:sp>
        <p:nvSpPr>
          <p:cNvPr id="30" name="Text 28"/>
          <p:cNvSpPr txBox="1"/>
          <p:nvPr/>
        </p:nvSpPr>
        <p:spPr>
          <a:xfrm>
            <a:off x="6446520" y="4087368"/>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6922008" y="4041648"/>
            <a:ext cx="4553712" cy="365760"/>
          </a:xfrm>
          <a:prstGeom prst="rect">
            <a:avLst/>
          </a:prstGeom>
          <a:noFill/>
          <a:ln/>
        </p:spPr>
        <p:txBody>
          <a:bodyPr wrap="square" rtlCol="0" anchor="ctr"/>
          <a:lstStyle/>
          <a:p>
            <a:pPr marL="0" indent="0">
              <a:buNone/>
            </a:pPr>
            <a:r>
              <a:rPr lang="en-US" sz="1200" b="1" dirty="0" err="1">
                <a:solidFill>
                  <a:srgbClr val="1E2761"/>
                </a:solidFill>
                <a:latin typeface="Calibri" pitchFamily="34" charset="0"/>
                <a:ea typeface="Calibri" pitchFamily="34" charset="-122"/>
                <a:cs typeface="Calibri" pitchFamily="34" charset="-120"/>
              </a:rPr>
              <a:t>Incorporar</a:t>
            </a:r>
            <a:r>
              <a:rPr lang="en-US" sz="1200" b="1" dirty="0">
                <a:solidFill>
                  <a:srgbClr val="1E2761"/>
                </a:solidFill>
                <a:latin typeface="Calibri" pitchFamily="34" charset="0"/>
                <a:ea typeface="Calibri" pitchFamily="34" charset="-122"/>
                <a:cs typeface="Calibri" pitchFamily="34" charset="-120"/>
              </a:rPr>
              <a:t> holdback (</a:t>
            </a:r>
            <a:r>
              <a:rPr lang="en-US" sz="1200" b="1" dirty="0" err="1">
                <a:solidFill>
                  <a:srgbClr val="1E2761"/>
                </a:solidFill>
                <a:latin typeface="Calibri" pitchFamily="34" charset="0"/>
                <a:ea typeface="Calibri" pitchFamily="34" charset="-122"/>
                <a:cs typeface="Calibri" pitchFamily="34" charset="-120"/>
              </a:rPr>
              <a:t>Retención</a:t>
            </a:r>
            <a:r>
              <a:rPr lang="en-US" sz="1200" b="1" dirty="0">
                <a:solidFill>
                  <a:srgbClr val="1E2761"/>
                </a:solidFill>
                <a:latin typeface="Calibri" pitchFamily="34" charset="0"/>
                <a:ea typeface="Calibri" pitchFamily="34" charset="-122"/>
                <a:cs typeface="Calibri" pitchFamily="34" charset="-120"/>
              </a:rPr>
              <a:t>) y reverso</a:t>
            </a:r>
            <a:endParaRPr lang="en-US" sz="1200" dirty="0"/>
          </a:p>
        </p:txBody>
      </p:sp>
      <p:sp>
        <p:nvSpPr>
          <p:cNvPr id="32" name="Text 30"/>
          <p:cNvSpPr txBox="1"/>
          <p:nvPr/>
        </p:nvSpPr>
        <p:spPr>
          <a:xfrm>
            <a:off x="6537960" y="4434840"/>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Ningún pago debe ser definitivo sin retención parcial liberable tras el período crítico de </a:t>
            </a:r>
            <a:r>
              <a:rPr lang="en-US" sz="950" dirty="0" err="1">
                <a:solidFill>
                  <a:srgbClr val="5B6584"/>
                </a:solidFill>
                <a:latin typeface="Calibri" pitchFamily="34" charset="0"/>
                <a:ea typeface="Calibri" pitchFamily="34" charset="-122"/>
                <a:cs typeface="Calibri" pitchFamily="34" charset="-120"/>
              </a:rPr>
              <a:t>permanencia</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Cliente</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en</a:t>
            </a:r>
            <a:r>
              <a:rPr lang="en-US" sz="950" dirty="0">
                <a:solidFill>
                  <a:srgbClr val="5B6584"/>
                </a:solidFill>
                <a:latin typeface="Calibri" pitchFamily="34" charset="0"/>
                <a:ea typeface="Calibri" pitchFamily="34" charset="-122"/>
                <a:cs typeface="Calibri" pitchFamily="34" charset="-120"/>
              </a:rPr>
              <a:t> un </a:t>
            </a:r>
            <a:r>
              <a:rPr lang="en-US" sz="950" dirty="0" err="1">
                <a:solidFill>
                  <a:srgbClr val="5B6584"/>
                </a:solidFill>
                <a:latin typeface="Calibri" pitchFamily="34" charset="0"/>
                <a:ea typeface="Calibri" pitchFamily="34" charset="-122"/>
                <a:cs typeface="Calibri" pitchFamily="34" charset="-120"/>
              </a:rPr>
              <a:t>período</a:t>
            </a:r>
            <a:r>
              <a:rPr lang="en-US" sz="950" dirty="0">
                <a:solidFill>
                  <a:srgbClr val="5B6584"/>
                </a:solidFill>
                <a:latin typeface="Calibri" pitchFamily="34" charset="0"/>
                <a:ea typeface="Calibri" pitchFamily="34" charset="-122"/>
                <a:cs typeface="Calibri" pitchFamily="34" charset="-120"/>
              </a:rPr>
              <a:t> de </a:t>
            </a:r>
            <a:r>
              <a:rPr lang="en-US" sz="950" dirty="0" err="1">
                <a:solidFill>
                  <a:srgbClr val="5B6584"/>
                </a:solidFill>
                <a:latin typeface="Calibri" pitchFamily="34" charset="0"/>
                <a:ea typeface="Calibri" pitchFamily="34" charset="-122"/>
                <a:cs typeface="Calibri" pitchFamily="34" charset="-120"/>
              </a:rPr>
              <a:t>prueba</a:t>
            </a:r>
            <a:r>
              <a:rPr lang="en-US" sz="950" dirty="0">
                <a:solidFill>
                  <a:srgbClr val="5B6584"/>
                </a:solidFill>
                <a:latin typeface="Calibri" pitchFamily="34" charset="0"/>
                <a:ea typeface="Calibri" pitchFamily="34" charset="-122"/>
                <a:cs typeface="Calibri" pitchFamily="34" charset="-120"/>
              </a:rPr>
              <a:t>. </a:t>
            </a:r>
            <a:endParaRPr lang="en-US" sz="950" dirty="0"/>
          </a:p>
        </p:txBody>
      </p:sp>
      <p:sp>
        <p:nvSpPr>
          <p:cNvPr id="33" name="Shape 31"/>
          <p:cNvSpPr/>
          <p:nvPr/>
        </p:nvSpPr>
        <p:spPr>
          <a:xfrm>
            <a:off x="533400" y="5221224"/>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34" name="Shape 32"/>
          <p:cNvSpPr/>
          <p:nvPr/>
        </p:nvSpPr>
        <p:spPr>
          <a:xfrm>
            <a:off x="731520" y="5385816"/>
            <a:ext cx="347472" cy="347472"/>
          </a:xfrm>
          <a:prstGeom prst="ellipse">
            <a:avLst/>
          </a:prstGeom>
          <a:solidFill>
            <a:srgbClr val="1E2761"/>
          </a:solidFill>
          <a:ln w="12700">
            <a:solidFill>
              <a:srgbClr val="1E2761"/>
            </a:solidFill>
            <a:prstDash val="solid"/>
          </a:ln>
        </p:spPr>
        <p:txBody>
          <a:bodyPr/>
          <a:lstStyle/>
          <a:p>
            <a:endParaRPr lang="es-EC"/>
          </a:p>
        </p:txBody>
      </p:sp>
      <p:sp>
        <p:nvSpPr>
          <p:cNvPr id="35" name="Text 33"/>
          <p:cNvSpPr txBox="1"/>
          <p:nvPr/>
        </p:nvSpPr>
        <p:spPr>
          <a:xfrm>
            <a:off x="731520" y="5385816"/>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6" name="Text 34"/>
          <p:cNvSpPr txBox="1"/>
          <p:nvPr/>
        </p:nvSpPr>
        <p:spPr>
          <a:xfrm>
            <a:off x="1207008" y="5340096"/>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Vigilar la concentración Top 3</a:t>
            </a:r>
            <a:endParaRPr lang="en-US" sz="1200" dirty="0"/>
          </a:p>
        </p:txBody>
      </p:sp>
      <p:sp>
        <p:nvSpPr>
          <p:cNvPr id="37" name="Text 35"/>
          <p:cNvSpPr txBox="1"/>
          <p:nvPr/>
        </p:nvSpPr>
        <p:spPr>
          <a:xfrm>
            <a:off x="822960" y="5733288"/>
            <a:ext cx="4846320" cy="621792"/>
          </a:xfrm>
          <a:prstGeom prst="rect">
            <a:avLst/>
          </a:prstGeom>
          <a:noFill/>
          <a:ln/>
        </p:spPr>
        <p:txBody>
          <a:bodyPr wrap="square" rtlCol="0" anchor="ctr"/>
          <a:lstStyle/>
          <a:p>
            <a:r>
              <a:rPr lang="en-US" sz="950" dirty="0">
                <a:solidFill>
                  <a:srgbClr val="5B6584"/>
                </a:solidFill>
                <a:latin typeface="Calibri" pitchFamily="34" charset="0"/>
                <a:ea typeface="Calibri" pitchFamily="34" charset="-122"/>
                <a:cs typeface="Calibri" pitchFamily="34" charset="-120"/>
              </a:rPr>
              <a:t>85% del MRC- </a:t>
            </a:r>
            <a:r>
              <a:rPr lang="es-EC" sz="950" dirty="0" err="1">
                <a:solidFill>
                  <a:srgbClr val="5B6584"/>
                </a:solidFill>
                <a:latin typeface="Calibri" pitchFamily="34" charset="0"/>
                <a:ea typeface="Calibri" pitchFamily="34" charset="-122"/>
                <a:cs typeface="Calibri" pitchFamily="34" charset="-120"/>
              </a:rPr>
              <a:t>Monthly</a:t>
            </a:r>
            <a:r>
              <a:rPr lang="es-EC" sz="950" dirty="0">
                <a:solidFill>
                  <a:srgbClr val="5B6584"/>
                </a:solidFill>
                <a:latin typeface="Calibri" pitchFamily="34" charset="0"/>
                <a:ea typeface="Calibri" pitchFamily="34" charset="-122"/>
                <a:cs typeface="Calibri" pitchFamily="34" charset="-120"/>
              </a:rPr>
              <a:t> </a:t>
            </a:r>
            <a:r>
              <a:rPr lang="es-EC" sz="950" dirty="0" err="1">
                <a:solidFill>
                  <a:srgbClr val="5B6584"/>
                </a:solidFill>
                <a:latin typeface="Calibri" pitchFamily="34" charset="0"/>
                <a:ea typeface="Calibri" pitchFamily="34" charset="-122"/>
                <a:cs typeface="Calibri" pitchFamily="34" charset="-120"/>
              </a:rPr>
              <a:t>Recurring</a:t>
            </a:r>
            <a:r>
              <a:rPr lang="es-EC" sz="950" dirty="0">
                <a:solidFill>
                  <a:srgbClr val="5B6584"/>
                </a:solidFill>
                <a:latin typeface="Calibri" pitchFamily="34" charset="0"/>
                <a:ea typeface="Calibri" pitchFamily="34" charset="-122"/>
                <a:cs typeface="Calibri" pitchFamily="34" charset="-120"/>
              </a:rPr>
              <a:t> </a:t>
            </a:r>
            <a:r>
              <a:rPr lang="es-EC" sz="950" dirty="0" err="1">
                <a:solidFill>
                  <a:srgbClr val="5B6584"/>
                </a:solidFill>
                <a:latin typeface="Calibri" pitchFamily="34" charset="0"/>
                <a:ea typeface="Calibri" pitchFamily="34" charset="-122"/>
                <a:cs typeface="Calibri" pitchFamily="34" charset="-120"/>
              </a:rPr>
              <a:t>Charge</a:t>
            </a:r>
            <a:r>
              <a:rPr lang="es-EC" sz="950" dirty="0">
                <a:solidFill>
                  <a:srgbClr val="5B6584"/>
                </a:solidFill>
                <a:latin typeface="Calibri" pitchFamily="34" charset="0"/>
                <a:ea typeface="Calibri" pitchFamily="34" charset="-122"/>
                <a:cs typeface="Calibri" pitchFamily="34" charset="-120"/>
              </a:rPr>
              <a:t>, </a:t>
            </a:r>
            <a:r>
              <a:rPr lang="en-US" sz="950" dirty="0">
                <a:solidFill>
                  <a:srgbClr val="5B6584"/>
                </a:solidFill>
                <a:latin typeface="Calibri" pitchFamily="34" charset="0"/>
                <a:ea typeface="Calibri" pitchFamily="34" charset="-122"/>
                <a:cs typeface="Calibri" pitchFamily="34" charset="-120"/>
              </a:rPr>
              <a:t> </a:t>
            </a:r>
            <a:r>
              <a:rPr lang="en-US" sz="950" dirty="0" err="1">
                <a:solidFill>
                  <a:srgbClr val="5B6584"/>
                </a:solidFill>
                <a:latin typeface="Calibri" pitchFamily="34" charset="0"/>
                <a:ea typeface="Calibri" pitchFamily="34" charset="-122"/>
                <a:cs typeface="Calibri" pitchFamily="34" charset="-120"/>
              </a:rPr>
              <a:t>promedio</a:t>
            </a:r>
            <a:r>
              <a:rPr lang="en-US" sz="950" dirty="0">
                <a:solidFill>
                  <a:srgbClr val="5B6584"/>
                </a:solidFill>
                <a:latin typeface="Calibri" pitchFamily="34" charset="0"/>
                <a:ea typeface="Calibri" pitchFamily="34" charset="-122"/>
                <a:cs typeface="Calibri" pitchFamily="34" charset="-120"/>
              </a:rPr>
              <a:t> por equipo depende de 3 vendedores — / </a:t>
            </a:r>
            <a:r>
              <a:rPr lang="es-EC" sz="950" dirty="0">
                <a:solidFill>
                  <a:srgbClr val="5B6584"/>
                </a:solidFill>
                <a:latin typeface="Calibri" pitchFamily="34" charset="0"/>
                <a:ea typeface="Calibri" pitchFamily="34" charset="-122"/>
                <a:cs typeface="Calibri" pitchFamily="34" charset="-120"/>
              </a:rPr>
              <a:t>“Este indicador no refleja 3 vendedores estrella dependientes — refleja principalmente que un código no-humano concentra dos tercios del negocio. </a:t>
            </a:r>
            <a:endParaRPr lang="en-US" sz="950" dirty="0">
              <a:solidFill>
                <a:srgbClr val="5B6584"/>
              </a:solidFill>
              <a:latin typeface="Calibri" pitchFamily="34" charset="0"/>
              <a:ea typeface="Calibri" pitchFamily="34" charset="-122"/>
              <a:cs typeface="Calibri" pitchFamily="34" charset="-120"/>
            </a:endParaRPr>
          </a:p>
        </p:txBody>
      </p:sp>
      <p:sp>
        <p:nvSpPr>
          <p:cNvPr id="38" name="Shape 36"/>
          <p:cNvSpPr/>
          <p:nvPr/>
        </p:nvSpPr>
        <p:spPr>
          <a:xfrm>
            <a:off x="6263640" y="5221224"/>
            <a:ext cx="5394960" cy="1170432"/>
          </a:xfrm>
          <a:prstGeom prst="roundRect">
            <a:avLst>
              <a:gd name="adj" fmla="val 6250"/>
            </a:avLst>
          </a:prstGeom>
          <a:solidFill>
            <a:srgbClr val="F4F6FB"/>
          </a:solidFill>
          <a:ln w="12700">
            <a:solidFill>
              <a:srgbClr val="F4F6FB"/>
            </a:solidFill>
            <a:prstDash val="solid"/>
          </a:ln>
        </p:spPr>
        <p:txBody>
          <a:bodyPr/>
          <a:lstStyle/>
          <a:p>
            <a:endParaRPr lang="es-EC"/>
          </a:p>
        </p:txBody>
      </p:sp>
      <p:sp>
        <p:nvSpPr>
          <p:cNvPr id="39" name="Shape 37"/>
          <p:cNvSpPr/>
          <p:nvPr/>
        </p:nvSpPr>
        <p:spPr>
          <a:xfrm>
            <a:off x="6446520" y="5385816"/>
            <a:ext cx="347472" cy="347472"/>
          </a:xfrm>
          <a:prstGeom prst="ellipse">
            <a:avLst/>
          </a:prstGeom>
          <a:solidFill>
            <a:srgbClr val="1E2761"/>
          </a:solidFill>
          <a:ln w="12700">
            <a:solidFill>
              <a:srgbClr val="1E2761"/>
            </a:solidFill>
            <a:prstDash val="solid"/>
          </a:ln>
        </p:spPr>
        <p:txBody>
          <a:bodyPr/>
          <a:lstStyle/>
          <a:p>
            <a:endParaRPr lang="es-EC"/>
          </a:p>
        </p:txBody>
      </p:sp>
      <p:sp>
        <p:nvSpPr>
          <p:cNvPr id="40" name="Text 38"/>
          <p:cNvSpPr txBox="1"/>
          <p:nvPr/>
        </p:nvSpPr>
        <p:spPr>
          <a:xfrm>
            <a:off x="6446520" y="5385816"/>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1" name="Text 39"/>
          <p:cNvSpPr txBox="1"/>
          <p:nvPr/>
        </p:nvSpPr>
        <p:spPr>
          <a:xfrm>
            <a:off x="6922008" y="5340096"/>
            <a:ext cx="4553712" cy="3657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Incorporar campo de discapacidad</a:t>
            </a:r>
            <a:endParaRPr lang="en-US" sz="1200" dirty="0"/>
          </a:p>
        </p:txBody>
      </p:sp>
      <p:sp>
        <p:nvSpPr>
          <p:cNvPr id="42" name="Text 40"/>
          <p:cNvSpPr txBox="1"/>
          <p:nvPr/>
        </p:nvSpPr>
        <p:spPr>
          <a:xfrm>
            <a:off x="6537960" y="5733288"/>
            <a:ext cx="4846320" cy="621792"/>
          </a:xfrm>
          <a:prstGeom prst="rect">
            <a:avLst/>
          </a:prstGeom>
          <a:noFill/>
          <a:ln/>
        </p:spPr>
        <p:txBody>
          <a:bodyPr wrap="square" rtlCol="0" anchor="ctr"/>
          <a:lstStyle/>
          <a:p>
            <a:pPr marL="0" indent="0">
              <a:buNone/>
            </a:pPr>
            <a:r>
              <a:rPr lang="en-US" sz="950" dirty="0">
                <a:solidFill>
                  <a:srgbClr val="5B6584"/>
                </a:solidFill>
                <a:latin typeface="Calibri" pitchFamily="34" charset="0"/>
                <a:ea typeface="Calibri" pitchFamily="34" charset="-122"/>
                <a:cs typeface="Calibri" pitchFamily="34" charset="-120"/>
              </a:rPr>
              <a:t>Necesario para aplicar el beneficio de compensación mencionado en el caso.</a:t>
            </a:r>
            <a:endParaRPr lang="en-US" sz="950" dirty="0"/>
          </a:p>
        </p:txBody>
      </p:sp>
      <p:sp>
        <p:nvSpPr>
          <p:cNvPr id="43" name="Text 41"/>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44" name="Text 42"/>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15</a:t>
            </a:r>
            <a:endParaRPr lang="en-US" sz="900" dirty="0"/>
          </a:p>
        </p:txBody>
      </p:sp>
      <p:pic>
        <p:nvPicPr>
          <p:cNvPr id="46" name="Imagen 45">
            <a:extLst>
              <a:ext uri="{FF2B5EF4-FFF2-40B4-BE49-F238E27FC236}">
                <a16:creationId xmlns:a16="http://schemas.microsoft.com/office/drawing/2014/main" id="{4E521057-21BA-8417-ED2B-2413C58DB13C}"/>
              </a:ext>
            </a:extLst>
          </p:cNvPr>
          <p:cNvPicPr>
            <a:picLocks noChangeAspect="1"/>
          </p:cNvPicPr>
          <p:nvPr/>
        </p:nvPicPr>
        <p:blipFill>
          <a:blip r:embed="rId3"/>
          <a:stretch>
            <a:fillRect/>
          </a:stretch>
        </p:blipFill>
        <p:spPr>
          <a:xfrm>
            <a:off x="8755782" y="100584"/>
            <a:ext cx="2887578" cy="11704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Próxima Fase: Refinamientos que No se </a:t>
            </a:r>
            <a:r>
              <a:rPr lang="en-US" sz="3000" b="1" dirty="0" err="1">
                <a:solidFill>
                  <a:srgbClr val="1E2761"/>
                </a:solidFill>
                <a:latin typeface="Cambria" pitchFamily="34" charset="0"/>
                <a:ea typeface="Cambria" pitchFamily="34" charset="-122"/>
                <a:cs typeface="Cambria" pitchFamily="34" charset="-120"/>
              </a:rPr>
              <a:t>Construyen</a:t>
            </a:r>
            <a:r>
              <a:rPr lang="en-US" sz="3000" b="1" dirty="0">
                <a:solidFill>
                  <a:srgbClr val="1E2761"/>
                </a:solidFill>
                <a:latin typeface="Cambria" pitchFamily="34" charset="0"/>
                <a:ea typeface="Cambria" pitchFamily="34" charset="-122"/>
                <a:cs typeface="Cambria" pitchFamily="34" charset="-120"/>
              </a:rPr>
              <a:t> </a:t>
            </a:r>
            <a:r>
              <a:rPr lang="en-US" sz="3000" b="1" dirty="0" err="1">
                <a:solidFill>
                  <a:srgbClr val="1E2761"/>
                </a:solidFill>
                <a:latin typeface="Cambria" pitchFamily="34" charset="0"/>
                <a:ea typeface="Cambria" pitchFamily="34" charset="-122"/>
                <a:cs typeface="Cambria" pitchFamily="34" charset="-120"/>
              </a:rPr>
              <a:t>Aún</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Priorización consciente: alto valor conceptual, pero requieren más tiempo/datos de </a:t>
            </a:r>
            <a:r>
              <a:rPr lang="en-US" sz="1300" i="1" dirty="0" err="1">
                <a:solidFill>
                  <a:srgbClr val="5B6584"/>
                </a:solidFill>
                <a:latin typeface="Calibri" pitchFamily="34" charset="0"/>
                <a:ea typeface="Calibri" pitchFamily="34" charset="-122"/>
                <a:cs typeface="Calibri" pitchFamily="34" charset="-120"/>
              </a:rPr>
              <a:t>los</a:t>
            </a:r>
            <a:r>
              <a:rPr lang="en-US" sz="1300" i="1" dirty="0">
                <a:solidFill>
                  <a:srgbClr val="5B6584"/>
                </a:solidFill>
                <a:latin typeface="Calibri" pitchFamily="34" charset="0"/>
                <a:ea typeface="Calibri" pitchFamily="34" charset="-122"/>
                <a:cs typeface="Calibri" pitchFamily="34" charset="-120"/>
              </a:rPr>
              <a:t> </a:t>
            </a:r>
            <a:r>
              <a:rPr lang="en-US" sz="1300" i="1" dirty="0" err="1">
                <a:solidFill>
                  <a:srgbClr val="5B6584"/>
                </a:solidFill>
                <a:latin typeface="Calibri" pitchFamily="34" charset="0"/>
                <a:ea typeface="Calibri" pitchFamily="34" charset="-122"/>
                <a:cs typeface="Calibri" pitchFamily="34" charset="-120"/>
              </a:rPr>
              <a:t>disponibles</a:t>
            </a:r>
            <a:r>
              <a:rPr lang="en-US" sz="1300" i="1" dirty="0">
                <a:solidFill>
                  <a:srgbClr val="5B6584"/>
                </a:solidFill>
                <a:latin typeface="Calibri" pitchFamily="34" charset="0"/>
                <a:ea typeface="Calibri" pitchFamily="34" charset="-122"/>
                <a:cs typeface="Calibri" pitchFamily="34" charset="-120"/>
              </a:rPr>
              <a:t>.</a:t>
            </a:r>
            <a:endParaRPr lang="en-US" sz="1300" dirty="0"/>
          </a:p>
        </p:txBody>
      </p:sp>
      <p:sp>
        <p:nvSpPr>
          <p:cNvPr id="4" name="Shape 2"/>
          <p:cNvSpPr/>
          <p:nvPr/>
        </p:nvSpPr>
        <p:spPr>
          <a:xfrm>
            <a:off x="548640" y="1600200"/>
            <a:ext cx="3520440" cy="3291840"/>
          </a:xfrm>
          <a:prstGeom prst="roundRect">
            <a:avLst>
              <a:gd name="adj" fmla="val 2222"/>
            </a:avLst>
          </a:prstGeom>
          <a:solidFill>
            <a:srgbClr val="F4F6FB"/>
          </a:solidFill>
          <a:ln w="12700">
            <a:solidFill>
              <a:srgbClr val="F4F6FB"/>
            </a:solidFill>
            <a:prstDash val="solid"/>
          </a:ln>
        </p:spPr>
        <p:txBody>
          <a:bodyPr/>
          <a:lstStyle/>
          <a:p>
            <a:endParaRPr lang="es-EC"/>
          </a:p>
        </p:txBody>
      </p:sp>
      <p:sp>
        <p:nvSpPr>
          <p:cNvPr id="5" name="Shape 3"/>
          <p:cNvSpPr/>
          <p:nvPr/>
        </p:nvSpPr>
        <p:spPr>
          <a:xfrm>
            <a:off x="777240" y="1828800"/>
            <a:ext cx="411480" cy="411480"/>
          </a:xfrm>
          <a:prstGeom prst="ellipse">
            <a:avLst/>
          </a:prstGeom>
          <a:solidFill>
            <a:srgbClr val="1E2761"/>
          </a:solidFill>
          <a:ln w="12700">
            <a:solidFill>
              <a:srgbClr val="1E2761"/>
            </a:solidFill>
            <a:prstDash val="solid"/>
          </a:ln>
        </p:spPr>
        <p:txBody>
          <a:bodyPr/>
          <a:lstStyle/>
          <a:p>
            <a:endParaRPr lang="es-EC"/>
          </a:p>
        </p:txBody>
      </p:sp>
      <p:sp>
        <p:nvSpPr>
          <p:cNvPr id="6" name="Text 4"/>
          <p:cNvSpPr txBox="1"/>
          <p:nvPr/>
        </p:nvSpPr>
        <p:spPr>
          <a:xfrm>
            <a:off x="777240" y="18288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777240" y="2423160"/>
            <a:ext cx="3063240" cy="64008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Clasificación de 4 niveles</a:t>
            </a:r>
            <a:endParaRPr lang="en-US" sz="1350" dirty="0"/>
          </a:p>
        </p:txBody>
      </p:sp>
      <p:sp>
        <p:nvSpPr>
          <p:cNvPr id="8" name="Text 6"/>
          <p:cNvSpPr txBox="1"/>
          <p:nvPr/>
        </p:nvSpPr>
        <p:spPr>
          <a:xfrm>
            <a:off x="777240" y="3108960"/>
            <a:ext cx="3063240" cy="169164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No elegible / Mala calidad atribuible / Observación / Venta saludable — más matizado que el binario actual “mala venta”. Requiere rediseñar el motor de reglas y sus reportes.</a:t>
            </a:r>
            <a:endParaRPr lang="en-US" sz="1050" dirty="0"/>
          </a:p>
        </p:txBody>
      </p:sp>
      <p:sp>
        <p:nvSpPr>
          <p:cNvPr id="9" name="Shape 7"/>
          <p:cNvSpPr/>
          <p:nvPr/>
        </p:nvSpPr>
        <p:spPr>
          <a:xfrm>
            <a:off x="4325112" y="1600200"/>
            <a:ext cx="3520440" cy="3291840"/>
          </a:xfrm>
          <a:prstGeom prst="roundRect">
            <a:avLst>
              <a:gd name="adj" fmla="val 2222"/>
            </a:avLst>
          </a:prstGeom>
          <a:solidFill>
            <a:srgbClr val="F4F6FB"/>
          </a:solidFill>
          <a:ln w="12700">
            <a:solidFill>
              <a:srgbClr val="F4F6FB"/>
            </a:solidFill>
            <a:prstDash val="solid"/>
          </a:ln>
        </p:spPr>
        <p:txBody>
          <a:bodyPr/>
          <a:lstStyle/>
          <a:p>
            <a:endParaRPr lang="es-EC"/>
          </a:p>
        </p:txBody>
      </p:sp>
      <p:sp>
        <p:nvSpPr>
          <p:cNvPr id="10" name="Shape 8"/>
          <p:cNvSpPr/>
          <p:nvPr/>
        </p:nvSpPr>
        <p:spPr>
          <a:xfrm>
            <a:off x="4553712" y="1828800"/>
            <a:ext cx="411480" cy="411480"/>
          </a:xfrm>
          <a:prstGeom prst="ellipse">
            <a:avLst/>
          </a:prstGeom>
          <a:solidFill>
            <a:srgbClr val="1E2761"/>
          </a:solidFill>
          <a:ln w="12700">
            <a:solidFill>
              <a:srgbClr val="1E2761"/>
            </a:solidFill>
            <a:prstDash val="solid"/>
          </a:ln>
        </p:spPr>
        <p:txBody>
          <a:bodyPr/>
          <a:lstStyle/>
          <a:p>
            <a:endParaRPr lang="es-EC"/>
          </a:p>
        </p:txBody>
      </p:sp>
      <p:sp>
        <p:nvSpPr>
          <p:cNvPr id="11" name="Text 9"/>
          <p:cNvSpPr txBox="1"/>
          <p:nvPr/>
        </p:nvSpPr>
        <p:spPr>
          <a:xfrm>
            <a:off x="4553712" y="18288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4553712" y="2423160"/>
            <a:ext cx="3063240" cy="64008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Desempeño ajustado por territorio</a:t>
            </a:r>
            <a:endParaRPr lang="en-US" sz="1350" dirty="0"/>
          </a:p>
        </p:txBody>
      </p:sp>
      <p:sp>
        <p:nvSpPr>
          <p:cNvPr id="13" name="Text 11"/>
          <p:cNvSpPr txBox="1"/>
          <p:nvPr/>
        </p:nvSpPr>
        <p:spPr>
          <a:xfrm>
            <a:off x="4553712" y="3108960"/>
            <a:ext cx="3063240" cy="169164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Modelo de regresión: MRC esperado según ciudad, canal, riesgo y estacionalidad. El residual (real − esperado) separaría desempeño de oportunidad territorial — hoy solo comparo contra el promedio de la ciudad.</a:t>
            </a:r>
            <a:endParaRPr lang="en-US" sz="1050" dirty="0"/>
          </a:p>
        </p:txBody>
      </p:sp>
      <p:sp>
        <p:nvSpPr>
          <p:cNvPr id="14" name="Shape 12"/>
          <p:cNvSpPr/>
          <p:nvPr/>
        </p:nvSpPr>
        <p:spPr>
          <a:xfrm>
            <a:off x="8101584" y="1600200"/>
            <a:ext cx="3520440" cy="3291840"/>
          </a:xfrm>
          <a:prstGeom prst="roundRect">
            <a:avLst>
              <a:gd name="adj" fmla="val 2222"/>
            </a:avLst>
          </a:prstGeom>
          <a:solidFill>
            <a:srgbClr val="F4F6FB"/>
          </a:solidFill>
          <a:ln w="12700">
            <a:solidFill>
              <a:srgbClr val="F4F6FB"/>
            </a:solidFill>
            <a:prstDash val="solid"/>
          </a:ln>
        </p:spPr>
        <p:txBody>
          <a:bodyPr/>
          <a:lstStyle/>
          <a:p>
            <a:endParaRPr lang="es-EC"/>
          </a:p>
        </p:txBody>
      </p:sp>
      <p:sp>
        <p:nvSpPr>
          <p:cNvPr id="15" name="Shape 13"/>
          <p:cNvSpPr/>
          <p:nvPr/>
        </p:nvSpPr>
        <p:spPr>
          <a:xfrm>
            <a:off x="8330184" y="1828800"/>
            <a:ext cx="411480" cy="411480"/>
          </a:xfrm>
          <a:prstGeom prst="ellipse">
            <a:avLst/>
          </a:prstGeom>
          <a:solidFill>
            <a:srgbClr val="1E2761"/>
          </a:solidFill>
          <a:ln w="12700">
            <a:solidFill>
              <a:srgbClr val="1E2761"/>
            </a:solidFill>
            <a:prstDash val="solid"/>
          </a:ln>
        </p:spPr>
        <p:txBody>
          <a:bodyPr/>
          <a:lstStyle/>
          <a:p>
            <a:endParaRPr lang="es-EC"/>
          </a:p>
        </p:txBody>
      </p:sp>
      <p:sp>
        <p:nvSpPr>
          <p:cNvPr id="16" name="Text 14"/>
          <p:cNvSpPr txBox="1"/>
          <p:nvPr/>
        </p:nvSpPr>
        <p:spPr>
          <a:xfrm>
            <a:off x="8330184" y="182880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330184" y="2423160"/>
            <a:ext cx="3063240" cy="64008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Rotación con metodología causal</a:t>
            </a:r>
            <a:endParaRPr lang="en-US" sz="1350" dirty="0"/>
          </a:p>
        </p:txBody>
      </p:sp>
      <p:sp>
        <p:nvSpPr>
          <p:cNvPr id="18" name="Text 16"/>
          <p:cNvSpPr txBox="1"/>
          <p:nvPr/>
        </p:nvSpPr>
        <p:spPr>
          <a:xfrm>
            <a:off x="8330184" y="3108960"/>
            <a:ext cx="3063240" cy="1691640"/>
          </a:xfrm>
          <a:prstGeom prst="rect">
            <a:avLst/>
          </a:prstGeom>
          <a:noFill/>
          <a:ln/>
        </p:spPr>
        <p:txBody>
          <a:bodyPr wrap="square" rtlCol="0" anchor="ctr"/>
          <a:lstStyle/>
          <a:p>
            <a:pPr marL="0" indent="0">
              <a:buNone/>
            </a:pPr>
            <a:r>
              <a:rPr lang="en-US" sz="1050" dirty="0">
                <a:solidFill>
                  <a:srgbClr val="5B6584"/>
                </a:solidFill>
                <a:latin typeface="Calibri" pitchFamily="34" charset="0"/>
                <a:ea typeface="Calibri" pitchFamily="34" charset="-122"/>
                <a:cs typeface="Calibri" pitchFamily="34" charset="-120"/>
              </a:rPr>
              <a:t>Diferencias-en-diferencias o supervivencia para probar (no solo sugerir) la relación entre rotación y compensación. Bloqueado hoy: 99.6% de los registros no tiene fecha de salida del vendedor.</a:t>
            </a:r>
            <a:endParaRPr lang="en-US" sz="1050" dirty="0"/>
          </a:p>
        </p:txBody>
      </p:sp>
      <p:sp>
        <p:nvSpPr>
          <p:cNvPr id="19" name="Shape 17"/>
          <p:cNvSpPr/>
          <p:nvPr/>
        </p:nvSpPr>
        <p:spPr>
          <a:xfrm>
            <a:off x="548640" y="5166360"/>
            <a:ext cx="11064240" cy="777240"/>
          </a:xfrm>
          <a:prstGeom prst="roundRect">
            <a:avLst>
              <a:gd name="adj" fmla="val 7059"/>
            </a:avLst>
          </a:prstGeom>
          <a:solidFill>
            <a:srgbClr val="EAF1F8"/>
          </a:solidFill>
          <a:ln w="12700">
            <a:solidFill>
              <a:srgbClr val="EAF1F8"/>
            </a:solidFill>
            <a:prstDash val="solid"/>
          </a:ln>
        </p:spPr>
        <p:txBody>
          <a:bodyPr/>
          <a:lstStyle/>
          <a:p>
            <a:endParaRPr lang="es-EC"/>
          </a:p>
        </p:txBody>
      </p:sp>
      <p:sp>
        <p:nvSpPr>
          <p:cNvPr id="20" name="Text 18"/>
          <p:cNvSpPr txBox="1"/>
          <p:nvPr/>
        </p:nvSpPr>
        <p:spPr>
          <a:xfrm>
            <a:off x="731520" y="5212080"/>
            <a:ext cx="10607040" cy="68580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Cada </a:t>
            </a:r>
            <a:r>
              <a:rPr lang="en-US" sz="1100" b="1" dirty="0" err="1">
                <a:solidFill>
                  <a:srgbClr val="1E2761"/>
                </a:solidFill>
                <a:latin typeface="Calibri" pitchFamily="34" charset="0"/>
                <a:ea typeface="Calibri" pitchFamily="34" charset="-122"/>
                <a:cs typeface="Calibri" pitchFamily="34" charset="-120"/>
              </a:rPr>
              <a:t>una</a:t>
            </a:r>
            <a:r>
              <a:rPr lang="en-US" sz="1100" b="1" dirty="0">
                <a:solidFill>
                  <a:srgbClr val="1E2761"/>
                </a:solidFill>
                <a:latin typeface="Calibri" pitchFamily="34" charset="0"/>
                <a:ea typeface="Calibri" pitchFamily="34" charset="-122"/>
                <a:cs typeface="Calibri" pitchFamily="34" charset="-120"/>
              </a:rPr>
              <a:t> de </a:t>
            </a:r>
            <a:r>
              <a:rPr lang="en-US" sz="1100" b="1" dirty="0" err="1">
                <a:solidFill>
                  <a:srgbClr val="1E2761"/>
                </a:solidFill>
                <a:latin typeface="Calibri" pitchFamily="34" charset="0"/>
                <a:ea typeface="Calibri" pitchFamily="34" charset="-122"/>
                <a:cs typeface="Calibri" pitchFamily="34" charset="-120"/>
              </a:rPr>
              <a:t>estas</a:t>
            </a:r>
            <a:r>
              <a:rPr lang="en-US" sz="1100" b="1" dirty="0">
                <a:solidFill>
                  <a:srgbClr val="1E2761"/>
                </a:solidFill>
                <a:latin typeface="Calibri" pitchFamily="34" charset="0"/>
                <a:ea typeface="Calibri" pitchFamily="34" charset="-122"/>
                <a:cs typeface="Calibri" pitchFamily="34" charset="-120"/>
              </a:rPr>
              <a:t> </a:t>
            </a:r>
            <a:r>
              <a:rPr lang="en-US" sz="1100" b="1" dirty="0" err="1">
                <a:solidFill>
                  <a:srgbClr val="1E2761"/>
                </a:solidFill>
                <a:latin typeface="Calibri" pitchFamily="34" charset="0"/>
                <a:ea typeface="Calibri" pitchFamily="34" charset="-122"/>
                <a:cs typeface="Calibri" pitchFamily="34" charset="-120"/>
              </a:rPr>
              <a:t>propuestas</a:t>
            </a:r>
            <a:r>
              <a:rPr lang="en-US" sz="1100" b="1" dirty="0">
                <a:solidFill>
                  <a:srgbClr val="1E2761"/>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exige</a:t>
            </a:r>
            <a:r>
              <a:rPr lang="en-US" sz="1100" dirty="0">
                <a:solidFill>
                  <a:srgbClr val="5B6584"/>
                </a:solidFill>
                <a:latin typeface="Calibri" pitchFamily="34" charset="0"/>
                <a:ea typeface="Calibri" pitchFamily="34" charset="-122"/>
                <a:cs typeface="Calibri" pitchFamily="34" charset="-120"/>
              </a:rPr>
              <a:t> datos que no se </a:t>
            </a:r>
            <a:r>
              <a:rPr lang="en-US" sz="1100" dirty="0" err="1">
                <a:solidFill>
                  <a:srgbClr val="5B6584"/>
                </a:solidFill>
                <a:latin typeface="Calibri" pitchFamily="34" charset="0"/>
                <a:ea typeface="Calibri" pitchFamily="34" charset="-122"/>
                <a:cs typeface="Calibri" pitchFamily="34" charset="-120"/>
              </a:rPr>
              <a:t>disponen</a:t>
            </a:r>
            <a:r>
              <a:rPr lang="en-US" sz="1100" dirty="0">
                <a:solidFill>
                  <a:srgbClr val="5B6584"/>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aún</a:t>
            </a:r>
            <a:r>
              <a:rPr lang="en-US" sz="1100" dirty="0">
                <a:solidFill>
                  <a:srgbClr val="5B6584"/>
                </a:solidFill>
                <a:latin typeface="Calibri" pitchFamily="34" charset="0"/>
                <a:ea typeface="Calibri" pitchFamily="34" charset="-122"/>
                <a:cs typeface="Calibri" pitchFamily="34" charset="-120"/>
              </a:rPr>
              <a:t> (historial de años previos, fechas de salida) o un ciclo de validación estadística </a:t>
            </a:r>
            <a:r>
              <a:rPr lang="en-US" sz="1100" dirty="0" err="1">
                <a:solidFill>
                  <a:srgbClr val="5B6584"/>
                </a:solidFill>
                <a:latin typeface="Calibri" pitchFamily="34" charset="0"/>
                <a:ea typeface="Calibri" pitchFamily="34" charset="-122"/>
                <a:cs typeface="Calibri" pitchFamily="34" charset="-120"/>
              </a:rPr>
              <a:t>que</a:t>
            </a:r>
            <a:r>
              <a:rPr lang="en-US" sz="1100" dirty="0">
                <a:solidFill>
                  <a:srgbClr val="5B6584"/>
                </a:solidFill>
                <a:latin typeface="Calibri" pitchFamily="34" charset="0"/>
                <a:ea typeface="Calibri" pitchFamily="34" charset="-122"/>
                <a:cs typeface="Calibri" pitchFamily="34" charset="-120"/>
              </a:rPr>
              <a:t> require mas de 2 días para </a:t>
            </a:r>
            <a:r>
              <a:rPr lang="en-US" sz="1100" dirty="0" err="1">
                <a:solidFill>
                  <a:srgbClr val="5B6584"/>
                </a:solidFill>
                <a:latin typeface="Calibri" pitchFamily="34" charset="0"/>
                <a:ea typeface="Calibri" pitchFamily="34" charset="-122"/>
                <a:cs typeface="Calibri" pitchFamily="34" charset="-120"/>
              </a:rPr>
              <a:t>su</a:t>
            </a:r>
            <a:r>
              <a:rPr lang="en-US" sz="1100" dirty="0">
                <a:solidFill>
                  <a:srgbClr val="5B6584"/>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análisis</a:t>
            </a:r>
            <a:r>
              <a:rPr lang="en-US" sz="1100" dirty="0">
                <a:solidFill>
                  <a:srgbClr val="5B6584"/>
                </a:solidFill>
                <a:latin typeface="Calibri" pitchFamily="34" charset="0"/>
                <a:ea typeface="Calibri" pitchFamily="34" charset="-122"/>
                <a:cs typeface="Calibri" pitchFamily="34" charset="-120"/>
              </a:rPr>
              <a:t>. </a:t>
            </a:r>
            <a:r>
              <a:rPr lang="en-US" sz="1100" dirty="0" err="1">
                <a:solidFill>
                  <a:srgbClr val="5B6584"/>
                </a:solidFill>
                <a:latin typeface="Calibri" pitchFamily="34" charset="0"/>
                <a:ea typeface="Calibri" pitchFamily="34" charset="-122"/>
                <a:cs typeface="Calibri" pitchFamily="34" charset="-120"/>
              </a:rPr>
              <a:t>Quedarían</a:t>
            </a:r>
            <a:r>
              <a:rPr lang="en-US" sz="1100" dirty="0">
                <a:solidFill>
                  <a:srgbClr val="5B6584"/>
                </a:solidFill>
                <a:latin typeface="Calibri" pitchFamily="34" charset="0"/>
                <a:ea typeface="Calibri" pitchFamily="34" charset="-122"/>
                <a:cs typeface="Calibri" pitchFamily="34" charset="-120"/>
              </a:rPr>
              <a:t> para </a:t>
            </a:r>
            <a:r>
              <a:rPr lang="en-US" sz="1100" dirty="0" err="1">
                <a:solidFill>
                  <a:srgbClr val="5B6584"/>
                </a:solidFill>
                <a:latin typeface="Calibri" pitchFamily="34" charset="0"/>
                <a:ea typeface="Calibri" pitchFamily="34" charset="-122"/>
                <a:cs typeface="Calibri" pitchFamily="34" charset="-120"/>
              </a:rPr>
              <a:t>una</a:t>
            </a:r>
            <a:r>
              <a:rPr lang="en-US" sz="1100" dirty="0">
                <a:solidFill>
                  <a:srgbClr val="5B6584"/>
                </a:solidFill>
                <a:latin typeface="Calibri" pitchFamily="34" charset="0"/>
                <a:ea typeface="Calibri" pitchFamily="34" charset="-122"/>
                <a:cs typeface="Calibri" pitchFamily="34" charset="-120"/>
              </a:rPr>
              <a:t> Segunda Etapa</a:t>
            </a:r>
            <a:endParaRPr lang="en-US" sz="1100" dirty="0"/>
          </a:p>
        </p:txBody>
      </p:sp>
      <p:sp>
        <p:nvSpPr>
          <p:cNvPr id="21" name="Text 19"/>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2" name="Text 20"/>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Respuestas a las Preguntas de Resolución (1/2)</a:t>
            </a:r>
            <a:endParaRPr lang="en-US" sz="3000" dirty="0"/>
          </a:p>
        </p:txBody>
      </p:sp>
      <p:sp>
        <p:nvSpPr>
          <p:cNvPr id="3" name="Shape 1"/>
          <p:cNvSpPr/>
          <p:nvPr/>
        </p:nvSpPr>
        <p:spPr>
          <a:xfrm>
            <a:off x="548640" y="1371600"/>
            <a:ext cx="11064240" cy="1481328"/>
          </a:xfrm>
          <a:prstGeom prst="roundRect">
            <a:avLst>
              <a:gd name="adj" fmla="val 4938"/>
            </a:avLst>
          </a:prstGeom>
          <a:solidFill>
            <a:srgbClr val="F4F6FB"/>
          </a:solidFill>
          <a:ln w="12700">
            <a:solidFill>
              <a:srgbClr val="F4F6FB"/>
            </a:solidFill>
            <a:prstDash val="solid"/>
          </a:ln>
        </p:spPr>
        <p:txBody>
          <a:bodyPr/>
          <a:lstStyle/>
          <a:p>
            <a:endParaRPr lang="es-EC"/>
          </a:p>
        </p:txBody>
      </p:sp>
      <p:sp>
        <p:nvSpPr>
          <p:cNvPr id="4" name="Shape 2"/>
          <p:cNvSpPr/>
          <p:nvPr/>
        </p:nvSpPr>
        <p:spPr>
          <a:xfrm>
            <a:off x="822960" y="1627632"/>
            <a:ext cx="384048" cy="384048"/>
          </a:xfrm>
          <a:prstGeom prst="ellipse">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822960" y="1627632"/>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17320" y="1536192"/>
            <a:ext cx="1005840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¿Qué distingue a un vendedor de bajo desempeño de uno en territorio de bajo potencial?</a:t>
            </a:r>
            <a:endParaRPr lang="en-US" sz="1600" dirty="0"/>
          </a:p>
        </p:txBody>
      </p:sp>
      <p:sp>
        <p:nvSpPr>
          <p:cNvPr id="7" name="Text 5"/>
          <p:cNvSpPr txBox="1"/>
          <p:nvPr/>
        </p:nvSpPr>
        <p:spPr>
          <a:xfrm>
            <a:off x="1417320" y="2029968"/>
            <a:ext cx="10058400" cy="731520"/>
          </a:xfrm>
          <a:prstGeom prst="rect">
            <a:avLst/>
          </a:prstGeom>
          <a:noFill/>
          <a:ln/>
        </p:spPr>
        <p:txBody>
          <a:bodyPr wrap="square" rtlCol="0" anchor="ctr"/>
          <a:lstStyle/>
          <a:p>
            <a:pPr marL="0" indent="0">
              <a:buNone/>
            </a:pPr>
            <a:r>
              <a:rPr lang="en-US" sz="1400" dirty="0">
                <a:solidFill>
                  <a:srgbClr val="5B6584"/>
                </a:solidFill>
                <a:latin typeface="Calibri" pitchFamily="34" charset="0"/>
                <a:ea typeface="Calibri" pitchFamily="34" charset="-122"/>
                <a:cs typeface="Calibri" pitchFamily="34" charset="-120"/>
              </a:rPr>
              <a:t>Comparo cumplimiento vs. el promedio de su ciudad, no vs. la meta nacional. Si todo el centro de costo rinde bajo (ej. Ambato 25%), el problema es de territorio/meta; si un vendedor rinde bajo dentro de un centro sano, es desempeño individual.</a:t>
            </a:r>
            <a:endParaRPr lang="en-US" sz="1400" dirty="0"/>
          </a:p>
        </p:txBody>
      </p:sp>
      <p:sp>
        <p:nvSpPr>
          <p:cNvPr id="8" name="Shape 6"/>
          <p:cNvSpPr/>
          <p:nvPr/>
        </p:nvSpPr>
        <p:spPr>
          <a:xfrm>
            <a:off x="548640" y="3035808"/>
            <a:ext cx="11064240" cy="1481328"/>
          </a:xfrm>
          <a:prstGeom prst="roundRect">
            <a:avLst>
              <a:gd name="adj" fmla="val 4938"/>
            </a:avLst>
          </a:prstGeom>
          <a:solidFill>
            <a:srgbClr val="F4F6FB"/>
          </a:solidFill>
          <a:ln w="12700">
            <a:solidFill>
              <a:srgbClr val="F4F6FB"/>
            </a:solidFill>
            <a:prstDash val="solid"/>
          </a:ln>
        </p:spPr>
        <p:txBody>
          <a:bodyPr/>
          <a:lstStyle/>
          <a:p>
            <a:endParaRPr lang="es-EC"/>
          </a:p>
        </p:txBody>
      </p:sp>
      <p:sp>
        <p:nvSpPr>
          <p:cNvPr id="9" name="Shape 7"/>
          <p:cNvSpPr/>
          <p:nvPr/>
        </p:nvSpPr>
        <p:spPr>
          <a:xfrm>
            <a:off x="822960" y="3291840"/>
            <a:ext cx="384048" cy="384048"/>
          </a:xfrm>
          <a:prstGeom prst="ellipse">
            <a:avLst/>
          </a:prstGeom>
          <a:solidFill>
            <a:srgbClr val="1E2761"/>
          </a:solidFill>
          <a:ln w="12700">
            <a:solidFill>
              <a:srgbClr val="1E2761"/>
            </a:solidFill>
            <a:prstDash val="solid"/>
          </a:ln>
        </p:spPr>
        <p:txBody>
          <a:bodyPr/>
          <a:lstStyle/>
          <a:p>
            <a:endParaRPr lang="es-EC"/>
          </a:p>
        </p:txBody>
      </p:sp>
      <p:sp>
        <p:nvSpPr>
          <p:cNvPr id="10" name="Text 8"/>
          <p:cNvSpPr txBox="1"/>
          <p:nvPr/>
        </p:nvSpPr>
        <p:spPr>
          <a:xfrm>
            <a:off x="822960" y="329184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417320" y="3200400"/>
            <a:ext cx="1005840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¿Qué aristas debe considerar el coordinador al distribuir metas en su equipo?</a:t>
            </a:r>
            <a:endParaRPr lang="en-US" sz="1600" dirty="0"/>
          </a:p>
        </p:txBody>
      </p:sp>
      <p:sp>
        <p:nvSpPr>
          <p:cNvPr id="12" name="Text 10"/>
          <p:cNvSpPr txBox="1"/>
          <p:nvPr/>
        </p:nvSpPr>
        <p:spPr>
          <a:xfrm>
            <a:off x="1417320" y="3694176"/>
            <a:ext cx="10058400" cy="731520"/>
          </a:xfrm>
          <a:prstGeom prst="rect">
            <a:avLst/>
          </a:prstGeom>
          <a:noFill/>
          <a:ln/>
        </p:spPr>
        <p:txBody>
          <a:bodyPr wrap="square" rtlCol="0" anchor="ctr"/>
          <a:lstStyle/>
          <a:p>
            <a:pPr marL="0" indent="0">
              <a:buNone/>
            </a:pPr>
            <a:r>
              <a:rPr lang="en-US" sz="1400" dirty="0">
                <a:solidFill>
                  <a:srgbClr val="5B6584"/>
                </a:solidFill>
                <a:latin typeface="Calibri" pitchFamily="34" charset="0"/>
                <a:ea typeface="Calibri" pitchFamily="34" charset="-122"/>
                <a:cs typeface="Calibri" pitchFamily="34" charset="-120"/>
              </a:rPr>
              <a:t>Mix histórico de ventas del vendedor, antigüedad (fecha_ingreso_vendedor), tasa de mala venta y de early churn — no solo el volumen bruto, para no premiar cantidad sobre calidad.</a:t>
            </a:r>
            <a:endParaRPr lang="en-US" sz="1400" dirty="0"/>
          </a:p>
        </p:txBody>
      </p:sp>
      <p:sp>
        <p:nvSpPr>
          <p:cNvPr id="13" name="Shape 11"/>
          <p:cNvSpPr/>
          <p:nvPr/>
        </p:nvSpPr>
        <p:spPr>
          <a:xfrm>
            <a:off x="548640" y="4700016"/>
            <a:ext cx="11064240" cy="1481328"/>
          </a:xfrm>
          <a:prstGeom prst="roundRect">
            <a:avLst>
              <a:gd name="adj" fmla="val 4938"/>
            </a:avLst>
          </a:prstGeom>
          <a:solidFill>
            <a:srgbClr val="F4F6FB"/>
          </a:solidFill>
          <a:ln w="12700">
            <a:solidFill>
              <a:srgbClr val="F4F6FB"/>
            </a:solidFill>
            <a:prstDash val="solid"/>
          </a:ln>
        </p:spPr>
        <p:txBody>
          <a:bodyPr/>
          <a:lstStyle/>
          <a:p>
            <a:endParaRPr lang="es-EC"/>
          </a:p>
        </p:txBody>
      </p:sp>
      <p:sp>
        <p:nvSpPr>
          <p:cNvPr id="14" name="Shape 12"/>
          <p:cNvSpPr/>
          <p:nvPr/>
        </p:nvSpPr>
        <p:spPr>
          <a:xfrm>
            <a:off x="822960" y="4956048"/>
            <a:ext cx="384048" cy="384048"/>
          </a:xfrm>
          <a:prstGeom prst="ellipse">
            <a:avLst/>
          </a:prstGeom>
          <a:solidFill>
            <a:srgbClr val="1E2761"/>
          </a:solidFill>
          <a:ln w="12700">
            <a:solidFill>
              <a:srgbClr val="1E2761"/>
            </a:solidFill>
            <a:prstDash val="solid"/>
          </a:ln>
        </p:spPr>
        <p:txBody>
          <a:bodyPr/>
          <a:lstStyle/>
          <a:p>
            <a:endParaRPr lang="es-EC"/>
          </a:p>
        </p:txBody>
      </p:sp>
      <p:sp>
        <p:nvSpPr>
          <p:cNvPr id="15" name="Text 13"/>
          <p:cNvSpPr txBox="1"/>
          <p:nvPr/>
        </p:nvSpPr>
        <p:spPr>
          <a:xfrm>
            <a:off x="822960" y="4956048"/>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417320" y="4864608"/>
            <a:ext cx="10058400" cy="50292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Sin una política de compensación existente, ¿qué criterios deben alinear las áreas?</a:t>
            </a:r>
            <a:endParaRPr lang="en-US" sz="1600" dirty="0"/>
          </a:p>
        </p:txBody>
      </p:sp>
      <p:sp>
        <p:nvSpPr>
          <p:cNvPr id="17" name="Text 15"/>
          <p:cNvSpPr txBox="1"/>
          <p:nvPr/>
        </p:nvSpPr>
        <p:spPr>
          <a:xfrm>
            <a:off x="1417320" y="5358384"/>
            <a:ext cx="10058400" cy="731520"/>
          </a:xfrm>
          <a:prstGeom prst="rect">
            <a:avLst/>
          </a:prstGeom>
          <a:noFill/>
          <a:ln/>
        </p:spPr>
        <p:txBody>
          <a:bodyPr wrap="square" rtlCol="0" anchor="ctr"/>
          <a:lstStyle/>
          <a:p>
            <a:pPr marL="0" indent="0">
              <a:buNone/>
            </a:pPr>
            <a:r>
              <a:rPr lang="en-US" sz="1400" dirty="0">
                <a:solidFill>
                  <a:srgbClr val="5B6584"/>
                </a:solidFill>
                <a:latin typeface="Calibri" pitchFamily="34" charset="0"/>
                <a:ea typeface="Calibri" pitchFamily="34" charset="-122"/>
                <a:cs typeface="Calibri" pitchFamily="34" charset="-120"/>
              </a:rPr>
              <a:t>Comercial define el volumen objetivo; Finanzas valida el costo y el techo de comisión; Riesgo/Calidad define el umbral de “mala venta”; RRHH valida equidad entre centros de costo antes de publicar el </a:t>
            </a:r>
            <a:r>
              <a:rPr lang="en-US" sz="1400" dirty="0" err="1">
                <a:solidFill>
                  <a:srgbClr val="5B6584"/>
                </a:solidFill>
                <a:latin typeface="Calibri" pitchFamily="34" charset="0"/>
                <a:ea typeface="Calibri" pitchFamily="34" charset="-122"/>
                <a:cs typeface="Calibri" pitchFamily="34" charset="-120"/>
              </a:rPr>
              <a:t>esquema</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equitativo</a:t>
            </a:r>
            <a:r>
              <a:rPr lang="en-US" sz="1400" dirty="0">
                <a:solidFill>
                  <a:srgbClr val="5B6584"/>
                </a:solidFill>
                <a:latin typeface="Calibri" pitchFamily="34" charset="0"/>
                <a:ea typeface="Calibri" pitchFamily="34" charset="-122"/>
                <a:cs typeface="Calibri" pitchFamily="34" charset="-120"/>
              </a:rPr>
              <a:t> para </a:t>
            </a:r>
            <a:r>
              <a:rPr lang="en-US" sz="1400" dirty="0" err="1">
                <a:solidFill>
                  <a:srgbClr val="5B6584"/>
                </a:solidFill>
                <a:latin typeface="Calibri" pitchFamily="34" charset="0"/>
                <a:ea typeface="Calibri" pitchFamily="34" charset="-122"/>
                <a:cs typeface="Calibri" pitchFamily="34" charset="-120"/>
              </a:rPr>
              <a:t>todos</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los</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vendedores</a:t>
            </a:r>
            <a:r>
              <a:rPr lang="en-US" sz="1400" dirty="0">
                <a:solidFill>
                  <a:srgbClr val="5B6584"/>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9" name="Text 17"/>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Respuestas a las Preguntas de Resolución (2/2)</a:t>
            </a:r>
            <a:endParaRPr lang="en-US" sz="3000" dirty="0"/>
          </a:p>
        </p:txBody>
      </p:sp>
      <p:sp>
        <p:nvSpPr>
          <p:cNvPr id="3" name="Shape 1"/>
          <p:cNvSpPr/>
          <p:nvPr/>
        </p:nvSpPr>
        <p:spPr>
          <a:xfrm>
            <a:off x="548640" y="1463040"/>
            <a:ext cx="11064240" cy="1737360"/>
          </a:xfrm>
          <a:prstGeom prst="roundRect">
            <a:avLst>
              <a:gd name="adj" fmla="val 4211"/>
            </a:avLst>
          </a:prstGeom>
          <a:solidFill>
            <a:srgbClr val="F4F6FB"/>
          </a:solidFill>
          <a:ln w="12700">
            <a:solidFill>
              <a:srgbClr val="F4F6FB"/>
            </a:solidFill>
            <a:prstDash val="solid"/>
          </a:ln>
        </p:spPr>
        <p:txBody>
          <a:bodyPr/>
          <a:lstStyle/>
          <a:p>
            <a:endParaRPr lang="es-EC"/>
          </a:p>
        </p:txBody>
      </p:sp>
      <p:sp>
        <p:nvSpPr>
          <p:cNvPr id="4" name="Shape 2"/>
          <p:cNvSpPr/>
          <p:nvPr/>
        </p:nvSpPr>
        <p:spPr>
          <a:xfrm>
            <a:off x="822960" y="1737360"/>
            <a:ext cx="384048" cy="384048"/>
          </a:xfrm>
          <a:prstGeom prst="ellipse">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822960" y="173736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6" name="Text 4"/>
          <p:cNvSpPr txBox="1"/>
          <p:nvPr/>
        </p:nvSpPr>
        <p:spPr>
          <a:xfrm>
            <a:off x="1417320" y="1645920"/>
            <a:ext cx="10058400" cy="54864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La rotación subió 35% en 6 meses. ¿Cómo determinar si se relaciona con el esquema de compensación?</a:t>
            </a:r>
            <a:endParaRPr lang="en-US" sz="1600" dirty="0"/>
          </a:p>
        </p:txBody>
      </p:sp>
      <p:sp>
        <p:nvSpPr>
          <p:cNvPr id="7" name="Text 5"/>
          <p:cNvSpPr txBox="1"/>
          <p:nvPr/>
        </p:nvSpPr>
        <p:spPr>
          <a:xfrm>
            <a:off x="1417320" y="2194560"/>
            <a:ext cx="10058400" cy="914400"/>
          </a:xfrm>
          <a:prstGeom prst="rect">
            <a:avLst/>
          </a:prstGeom>
          <a:noFill/>
          <a:ln/>
        </p:spPr>
        <p:txBody>
          <a:bodyPr wrap="square" rtlCol="0" anchor="ctr"/>
          <a:lstStyle/>
          <a:p>
            <a:r>
              <a:rPr lang="en-US" sz="1400" dirty="0">
                <a:solidFill>
                  <a:srgbClr val="5B6584"/>
                </a:solidFill>
                <a:latin typeface="Calibri" pitchFamily="34" charset="0"/>
                <a:ea typeface="Calibri" pitchFamily="34" charset="-122"/>
                <a:cs typeface="Calibri" pitchFamily="34" charset="-120"/>
              </a:rPr>
              <a:t>Cruzaría la fecha de salida (</a:t>
            </a:r>
            <a:r>
              <a:rPr lang="en-US" sz="1400" dirty="0" err="1">
                <a:solidFill>
                  <a:srgbClr val="5B6584"/>
                </a:solidFill>
                <a:latin typeface="Calibri" pitchFamily="34" charset="0"/>
                <a:ea typeface="Calibri" pitchFamily="34" charset="-122"/>
                <a:cs typeface="Calibri" pitchFamily="34" charset="-120"/>
              </a:rPr>
              <a:t>dato</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que</a:t>
            </a:r>
            <a:r>
              <a:rPr lang="en-US" sz="1400" dirty="0">
                <a:solidFill>
                  <a:srgbClr val="5B6584"/>
                </a:solidFill>
                <a:latin typeface="Calibri" pitchFamily="34" charset="0"/>
                <a:ea typeface="Calibri" pitchFamily="34" charset="-122"/>
                <a:cs typeface="Calibri" pitchFamily="34" charset="-120"/>
              </a:rPr>
              <a:t> al </a:t>
            </a:r>
            <a:r>
              <a:rPr lang="en-US" sz="1400" dirty="0" err="1">
                <a:solidFill>
                  <a:srgbClr val="5B6584"/>
                </a:solidFill>
                <a:latin typeface="Calibri" pitchFamily="34" charset="0"/>
                <a:ea typeface="Calibri" pitchFamily="34" charset="-122"/>
                <a:cs typeface="Calibri" pitchFamily="34" charset="-120"/>
              </a:rPr>
              <a:t>momento</a:t>
            </a:r>
            <a:r>
              <a:rPr lang="en-US" sz="1400" dirty="0">
                <a:solidFill>
                  <a:srgbClr val="5B6584"/>
                </a:solidFill>
                <a:latin typeface="Calibri" pitchFamily="34" charset="0"/>
                <a:ea typeface="Calibri" pitchFamily="34" charset="-122"/>
                <a:cs typeface="Calibri" pitchFamily="34" charset="-120"/>
              </a:rPr>
              <a:t> no </a:t>
            </a:r>
            <a:r>
              <a:rPr lang="en-US" sz="1400" dirty="0" err="1">
                <a:solidFill>
                  <a:srgbClr val="5B6584"/>
                </a:solidFill>
                <a:latin typeface="Calibri" pitchFamily="34" charset="0"/>
                <a:ea typeface="Calibri" pitchFamily="34" charset="-122"/>
                <a:cs typeface="Calibri" pitchFamily="34" charset="-120"/>
              </a:rPr>
              <a:t>dispongo</a:t>
            </a:r>
            <a:r>
              <a:rPr lang="en-US" sz="1400" dirty="0">
                <a:solidFill>
                  <a:srgbClr val="5B6584"/>
                </a:solidFill>
                <a:latin typeface="Calibri" pitchFamily="34" charset="0"/>
                <a:ea typeface="Calibri" pitchFamily="34" charset="-122"/>
                <a:cs typeface="Calibri" pitchFamily="34" charset="-120"/>
              </a:rPr>
              <a:t>)  contra cambios de parámetros de comisión y </a:t>
            </a:r>
            <a:r>
              <a:rPr lang="en-US" sz="1400" dirty="0" err="1">
                <a:solidFill>
                  <a:srgbClr val="5B6584"/>
                </a:solidFill>
                <a:latin typeface="Calibri" pitchFamily="34" charset="0"/>
                <a:ea typeface="Calibri" pitchFamily="34" charset="-122"/>
                <a:cs typeface="Calibri" pitchFamily="34" charset="-120"/>
              </a:rPr>
              <a:t>cumplimiento</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previo</a:t>
            </a:r>
            <a:r>
              <a:rPr lang="en-US" sz="1400" dirty="0">
                <a:solidFill>
                  <a:srgbClr val="5B6584"/>
                </a:solidFill>
                <a:latin typeface="Calibri" pitchFamily="34" charset="0"/>
                <a:ea typeface="Calibri" pitchFamily="34" charset="-122"/>
                <a:cs typeface="Calibri" pitchFamily="34" charset="-120"/>
              </a:rPr>
              <a:t> —. Antes de afirmar causalidad, se necesita ese dato y, </a:t>
            </a:r>
            <a:r>
              <a:rPr lang="en-US" sz="1400" dirty="0" err="1">
                <a:solidFill>
                  <a:srgbClr val="5B6584"/>
                </a:solidFill>
                <a:latin typeface="Calibri" pitchFamily="34" charset="0"/>
                <a:ea typeface="Calibri" pitchFamily="34" charset="-122"/>
                <a:cs typeface="Calibri" pitchFamily="34" charset="-120"/>
              </a:rPr>
              <a:t>después</a:t>
            </a:r>
            <a:r>
              <a:rPr lang="en-US" sz="1400" dirty="0">
                <a:solidFill>
                  <a:srgbClr val="5B6584"/>
                </a:solidFill>
                <a:latin typeface="Calibri" pitchFamily="34" charset="0"/>
                <a:ea typeface="Calibri" pitchFamily="34" charset="-122"/>
                <a:cs typeface="Calibri" pitchFamily="34" charset="-120"/>
              </a:rPr>
              <a:t>, hay </a:t>
            </a:r>
            <a:r>
              <a:rPr lang="en-US" sz="1400" dirty="0" err="1">
                <a:solidFill>
                  <a:srgbClr val="5B6584"/>
                </a:solidFill>
                <a:latin typeface="Calibri" pitchFamily="34" charset="0"/>
                <a:ea typeface="Calibri" pitchFamily="34" charset="-122"/>
                <a:cs typeface="Calibri" pitchFamily="34" charset="-120"/>
              </a:rPr>
              <a:t>que</a:t>
            </a:r>
            <a:r>
              <a:rPr lang="en-US" sz="1400" dirty="0">
                <a:solidFill>
                  <a:srgbClr val="5B6584"/>
                </a:solidFill>
                <a:latin typeface="Calibri" pitchFamily="34" charset="0"/>
                <a:ea typeface="Calibri" pitchFamily="34" charset="-122"/>
                <a:cs typeface="Calibri" pitchFamily="34" charset="-120"/>
              </a:rPr>
              <a:t> </a:t>
            </a:r>
            <a:r>
              <a:rPr lang="en-US" sz="1400" dirty="0" err="1">
                <a:solidFill>
                  <a:srgbClr val="5B6584"/>
                </a:solidFill>
                <a:latin typeface="Calibri" pitchFamily="34" charset="0"/>
                <a:ea typeface="Calibri" pitchFamily="34" charset="-122"/>
                <a:cs typeface="Calibri" pitchFamily="34" charset="-120"/>
              </a:rPr>
              <a:t>tener</a:t>
            </a:r>
            <a:r>
              <a:rPr lang="en-US" sz="1400" dirty="0">
                <a:solidFill>
                  <a:srgbClr val="5B6584"/>
                </a:solidFill>
                <a:latin typeface="Calibri" pitchFamily="34" charset="0"/>
                <a:ea typeface="Calibri" pitchFamily="34" charset="-122"/>
                <a:cs typeface="Calibri" pitchFamily="34" charset="-120"/>
              </a:rPr>
              <a:t> claro </a:t>
            </a:r>
            <a:r>
              <a:rPr lang="en-US" sz="1400" dirty="0" err="1">
                <a:solidFill>
                  <a:srgbClr val="5B6584"/>
                </a:solidFill>
                <a:latin typeface="Calibri" pitchFamily="34" charset="0"/>
                <a:ea typeface="Calibri" pitchFamily="34" charset="-122"/>
                <a:cs typeface="Calibri" pitchFamily="34" charset="-120"/>
              </a:rPr>
              <a:t>que</a:t>
            </a:r>
            <a:r>
              <a:rPr lang="en-US" sz="1400" dirty="0">
                <a:solidFill>
                  <a:srgbClr val="5B6584"/>
                </a:solidFill>
                <a:latin typeface="Calibri" pitchFamily="34" charset="0"/>
                <a:ea typeface="Calibri" pitchFamily="34" charset="-122"/>
                <a:cs typeface="Calibri" pitchFamily="34" charset="-120"/>
              </a:rPr>
              <a:t> e</a:t>
            </a:r>
            <a:r>
              <a:rPr lang="es-EC" sz="1400" dirty="0">
                <a:solidFill>
                  <a:srgbClr val="5B6584"/>
                </a:solidFill>
                <a:latin typeface="Calibri" pitchFamily="34" charset="0"/>
                <a:ea typeface="Calibri" pitchFamily="34" charset="-122"/>
                <a:cs typeface="Calibri" pitchFamily="34" charset="-120"/>
              </a:rPr>
              <a:t>n vez de solo contar "cuántos se fueron", medir cuánto tiempo permaneció cada persona antes de irse — y ver si ese tiempo se acorta después de algo (como un cambio de comisión).</a:t>
            </a:r>
            <a:r>
              <a:rPr lang="en-US" sz="1400" dirty="0">
                <a:solidFill>
                  <a:srgbClr val="5B6584"/>
                </a:solidFill>
                <a:latin typeface="Calibri" pitchFamily="34" charset="0"/>
                <a:ea typeface="Calibri" pitchFamily="34" charset="-122"/>
                <a:cs typeface="Calibri" pitchFamily="34" charset="-120"/>
              </a:rPr>
              <a:t> para descartar que sea </a:t>
            </a:r>
            <a:r>
              <a:rPr lang="en-US" sz="1400" dirty="0" err="1">
                <a:solidFill>
                  <a:srgbClr val="5B6584"/>
                </a:solidFill>
                <a:latin typeface="Calibri" pitchFamily="34" charset="0"/>
                <a:ea typeface="Calibri" pitchFamily="34" charset="-122"/>
                <a:cs typeface="Calibri" pitchFamily="34" charset="-120"/>
              </a:rPr>
              <a:t>coincidencia</a:t>
            </a:r>
            <a:r>
              <a:rPr lang="en-US" sz="1400" dirty="0">
                <a:solidFill>
                  <a:srgbClr val="5B6584"/>
                </a:solidFill>
                <a:latin typeface="Calibri" pitchFamily="34" charset="0"/>
                <a:ea typeface="Calibri" pitchFamily="34" charset="-122"/>
                <a:cs typeface="Calibri" pitchFamily="34" charset="-120"/>
              </a:rPr>
              <a:t> temporal. (</a:t>
            </a:r>
            <a:r>
              <a:rPr lang="es-EC" sz="1400" dirty="0">
                <a:solidFill>
                  <a:srgbClr val="5B6584"/>
                </a:solidFill>
                <a:latin typeface="Calibri" pitchFamily="34" charset="0"/>
                <a:ea typeface="Calibri" pitchFamily="34" charset="-122"/>
                <a:cs typeface="Calibri" pitchFamily="34" charset="-120"/>
              </a:rPr>
              <a:t>igual de bien a estacionalidad, competencia laboral, o clima organizacional)</a:t>
            </a:r>
            <a:endParaRPr lang="en-US" sz="1400" dirty="0">
              <a:solidFill>
                <a:srgbClr val="5B6584"/>
              </a:solidFill>
              <a:latin typeface="Calibri" pitchFamily="34" charset="0"/>
              <a:ea typeface="Calibri" pitchFamily="34" charset="-122"/>
              <a:cs typeface="Calibri" pitchFamily="34" charset="-120"/>
            </a:endParaRPr>
          </a:p>
        </p:txBody>
      </p:sp>
      <p:sp>
        <p:nvSpPr>
          <p:cNvPr id="8" name="Shape 6"/>
          <p:cNvSpPr/>
          <p:nvPr/>
        </p:nvSpPr>
        <p:spPr>
          <a:xfrm>
            <a:off x="548640" y="3474720"/>
            <a:ext cx="11064240" cy="2611120"/>
          </a:xfrm>
          <a:prstGeom prst="roundRect">
            <a:avLst>
              <a:gd name="adj" fmla="val 4211"/>
            </a:avLst>
          </a:prstGeom>
          <a:solidFill>
            <a:srgbClr val="F4F6FB"/>
          </a:solidFill>
          <a:ln w="12700">
            <a:solidFill>
              <a:srgbClr val="F4F6FB"/>
            </a:solidFill>
            <a:prstDash val="solid"/>
          </a:ln>
        </p:spPr>
        <p:txBody>
          <a:bodyPr/>
          <a:lstStyle/>
          <a:p>
            <a:endParaRPr lang="es-EC"/>
          </a:p>
        </p:txBody>
      </p:sp>
      <p:sp>
        <p:nvSpPr>
          <p:cNvPr id="9" name="Shape 7"/>
          <p:cNvSpPr/>
          <p:nvPr/>
        </p:nvSpPr>
        <p:spPr>
          <a:xfrm>
            <a:off x="822960" y="3749040"/>
            <a:ext cx="384048" cy="384048"/>
          </a:xfrm>
          <a:prstGeom prst="ellipse">
            <a:avLst/>
          </a:prstGeom>
          <a:solidFill>
            <a:srgbClr val="1E2761"/>
          </a:solidFill>
          <a:ln w="12700">
            <a:solidFill>
              <a:srgbClr val="1E2761"/>
            </a:solidFill>
            <a:prstDash val="solid"/>
          </a:ln>
        </p:spPr>
        <p:txBody>
          <a:bodyPr/>
          <a:lstStyle/>
          <a:p>
            <a:endParaRPr lang="es-EC"/>
          </a:p>
        </p:txBody>
      </p:sp>
      <p:sp>
        <p:nvSpPr>
          <p:cNvPr id="10" name="Text 8"/>
          <p:cNvSpPr txBox="1"/>
          <p:nvPr/>
        </p:nvSpPr>
        <p:spPr>
          <a:xfrm>
            <a:off x="822960" y="374904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1" name="Text 9"/>
          <p:cNvSpPr txBox="1"/>
          <p:nvPr/>
        </p:nvSpPr>
        <p:spPr>
          <a:xfrm>
            <a:off x="1417320" y="3657600"/>
            <a:ext cx="10058400" cy="54864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¿Qué métrica sería el objetivo primario y cuáles las de control?</a:t>
            </a:r>
            <a:endParaRPr lang="en-US" sz="1600" dirty="0"/>
          </a:p>
        </p:txBody>
      </p:sp>
      <p:sp>
        <p:nvSpPr>
          <p:cNvPr id="12" name="Text 10"/>
          <p:cNvSpPr txBox="1"/>
          <p:nvPr/>
        </p:nvSpPr>
        <p:spPr>
          <a:xfrm>
            <a:off x="1417320" y="4206240"/>
            <a:ext cx="10058400" cy="1584960"/>
          </a:xfrm>
          <a:prstGeom prst="rect">
            <a:avLst/>
          </a:prstGeom>
          <a:noFill/>
          <a:ln/>
        </p:spPr>
        <p:txBody>
          <a:bodyPr wrap="square" rtlCol="0" anchor="ctr"/>
          <a:lstStyle/>
          <a:p>
            <a:r>
              <a:rPr lang="es-EC" sz="1400" i="1" dirty="0"/>
              <a:t>“</a:t>
            </a:r>
            <a:r>
              <a:rPr lang="es-MX" sz="1400" i="1" dirty="0"/>
              <a:t>No basta con mirar un solo número. Mido el resultado con la comisión final (que ya premia la calidad y castiga la mala venta), pero además vigilo por separado la tasa de mala venta y el </a:t>
            </a:r>
            <a:r>
              <a:rPr lang="es-MX" sz="1400" i="1" dirty="0" err="1"/>
              <a:t>early</a:t>
            </a:r>
            <a:r>
              <a:rPr lang="es-MX" sz="1400" i="1" dirty="0"/>
              <a:t> </a:t>
            </a:r>
            <a:r>
              <a:rPr lang="es-MX" sz="1400" i="1" dirty="0" err="1"/>
              <a:t>churn</a:t>
            </a:r>
            <a:r>
              <a:rPr lang="es-MX" sz="1400" i="1" dirty="0"/>
              <a:t> — porque si esas dos empiezan a subir, es la señal de que alguien está 'jugando' con el sistema para verse bien en el número principal."</a:t>
            </a:r>
            <a:br>
              <a:rPr lang="en-US" sz="1400" dirty="0">
                <a:solidFill>
                  <a:srgbClr val="5B6584"/>
                </a:solidFill>
                <a:latin typeface="Calibri" pitchFamily="34" charset="0"/>
                <a:ea typeface="Calibri" pitchFamily="34" charset="-122"/>
                <a:cs typeface="Calibri" pitchFamily="34" charset="-120"/>
              </a:rPr>
            </a:br>
            <a:br>
              <a:rPr lang="en-US" sz="1400" dirty="0">
                <a:solidFill>
                  <a:srgbClr val="5B6584"/>
                </a:solidFill>
                <a:latin typeface="Calibri" pitchFamily="34" charset="0"/>
                <a:ea typeface="Calibri" pitchFamily="34" charset="-122"/>
                <a:cs typeface="Calibri" pitchFamily="34" charset="-120"/>
              </a:rPr>
            </a:br>
            <a:r>
              <a:rPr lang="en-US" sz="1400" dirty="0" err="1">
                <a:solidFill>
                  <a:srgbClr val="5B6584"/>
                </a:solidFill>
                <a:latin typeface="Calibri" pitchFamily="34" charset="0"/>
                <a:ea typeface="Calibri" pitchFamily="34" charset="-122"/>
                <a:cs typeface="Calibri" pitchFamily="34" charset="-120"/>
              </a:rPr>
              <a:t>Primario</a:t>
            </a:r>
            <a:r>
              <a:rPr lang="en-US" sz="1400" dirty="0">
                <a:solidFill>
                  <a:srgbClr val="5B6584"/>
                </a:solidFill>
                <a:latin typeface="Calibri" pitchFamily="34" charset="0"/>
                <a:ea typeface="Calibri" pitchFamily="34" charset="-122"/>
                <a:cs typeface="Calibri" pitchFamily="34" charset="-120"/>
              </a:rPr>
              <a:t>: % Cumplimiento de Meta ponderado por calidad (no cumplimiento bruto). Control: Tasa de Mala Venta y Tasa de Early Churn — evitan que el primario se optimice sacrificando calidad.</a:t>
            </a:r>
            <a:endParaRPr lang="en-US" sz="1400" dirty="0"/>
          </a:p>
        </p:txBody>
      </p:sp>
      <p:sp>
        <p:nvSpPr>
          <p:cNvPr id="13" name="Text 11"/>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14" name="Text 12"/>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Resumen Ejecutivo y Próximos Pasos</a:t>
            </a:r>
            <a:endParaRPr lang="en-US" sz="3000" dirty="0"/>
          </a:p>
        </p:txBody>
      </p:sp>
      <p:sp>
        <p:nvSpPr>
          <p:cNvPr id="3" name="Text 1"/>
          <p:cNvSpPr txBox="1"/>
          <p:nvPr/>
        </p:nvSpPr>
        <p:spPr>
          <a:xfrm>
            <a:off x="548640" y="1024128"/>
            <a:ext cx="10972800" cy="411480"/>
          </a:xfrm>
          <a:prstGeom prst="rect">
            <a:avLst/>
          </a:prstGeom>
          <a:noFill/>
          <a:ln/>
        </p:spPr>
        <p:txBody>
          <a:bodyPr wrap="square" rtlCol="0" anchor="ctr"/>
          <a:lstStyle/>
          <a:p>
            <a:pPr marL="0" indent="0">
              <a:buNone/>
            </a:pPr>
            <a:r>
              <a:rPr lang="en-US" sz="1300" i="1" dirty="0">
                <a:solidFill>
                  <a:srgbClr val="5B6584"/>
                </a:solidFill>
                <a:latin typeface="Calibri" pitchFamily="34" charset="0"/>
                <a:ea typeface="Calibri" pitchFamily="34" charset="-122"/>
                <a:cs typeface="Calibri" pitchFamily="34" charset="-120"/>
              </a:rPr>
              <a:t>Toda decisión necesita un KPI que confirme si funcionó y una fecha en la que se revisa.</a:t>
            </a:r>
            <a:endParaRPr lang="en-US" sz="1300" dirty="0"/>
          </a:p>
        </p:txBody>
      </p:sp>
      <p:sp>
        <p:nvSpPr>
          <p:cNvPr id="4" name="Shape 2"/>
          <p:cNvSpPr/>
          <p:nvPr/>
        </p:nvSpPr>
        <p:spPr>
          <a:xfrm>
            <a:off x="548640" y="1417320"/>
            <a:ext cx="11064240" cy="822960"/>
          </a:xfrm>
          <a:prstGeom prst="roundRect">
            <a:avLst>
              <a:gd name="adj" fmla="val 8889"/>
            </a:avLst>
          </a:prstGeom>
          <a:solidFill>
            <a:srgbClr val="1E2761"/>
          </a:solidFill>
          <a:ln w="12700">
            <a:solidFill>
              <a:srgbClr val="1E2761"/>
            </a:solidFill>
            <a:prstDash val="solid"/>
          </a:ln>
        </p:spPr>
        <p:txBody>
          <a:bodyPr/>
          <a:lstStyle/>
          <a:p>
            <a:endParaRPr lang="es-EC"/>
          </a:p>
        </p:txBody>
      </p:sp>
      <p:sp>
        <p:nvSpPr>
          <p:cNvPr id="5" name="Text 3"/>
          <p:cNvSpPr txBox="1"/>
          <p:nvPr/>
        </p:nvSpPr>
        <p:spPr>
          <a:xfrm>
            <a:off x="822960" y="1417320"/>
            <a:ext cx="10515600" cy="822960"/>
          </a:xfrm>
          <a:prstGeom prst="rect">
            <a:avLst/>
          </a:prstGeom>
          <a:noFill/>
          <a:ln/>
        </p:spPr>
        <p:txBody>
          <a:bodyPr wrap="square"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Se </a:t>
            </a:r>
            <a:r>
              <a:rPr lang="en-US" sz="1300" dirty="0" err="1">
                <a:solidFill>
                  <a:srgbClr val="FFFFFF"/>
                </a:solidFill>
                <a:latin typeface="Calibri" pitchFamily="34" charset="0"/>
                <a:ea typeface="Calibri" pitchFamily="34" charset="-122"/>
                <a:cs typeface="Calibri" pitchFamily="34" charset="-120"/>
              </a:rPr>
              <a:t>contruyó</a:t>
            </a:r>
            <a:r>
              <a:rPr lang="en-US" sz="1300" dirty="0">
                <a:solidFill>
                  <a:srgbClr val="FFFFFF"/>
                </a:solidFill>
                <a:latin typeface="Calibri" pitchFamily="34" charset="0"/>
                <a:ea typeface="Calibri" pitchFamily="34" charset="-122"/>
                <a:cs typeface="Calibri" pitchFamily="34" charset="-120"/>
              </a:rPr>
              <a:t> un modelo de metas, compensación y calidad de venta 100% funcional en Excel, se </a:t>
            </a:r>
            <a:r>
              <a:rPr lang="en-US" sz="1300" dirty="0" err="1">
                <a:solidFill>
                  <a:srgbClr val="FFFFFF"/>
                </a:solidFill>
                <a:latin typeface="Calibri" pitchFamily="34" charset="0"/>
                <a:ea typeface="Calibri" pitchFamily="34" charset="-122"/>
                <a:cs typeface="Calibri" pitchFamily="34" charset="-120"/>
              </a:rPr>
              <a:t>validó</a:t>
            </a:r>
            <a:r>
              <a:rPr lang="en-US" sz="1300" dirty="0">
                <a:solidFill>
                  <a:srgbClr val="FFFFFF"/>
                </a:solidFill>
                <a:latin typeface="Calibri" pitchFamily="34" charset="0"/>
                <a:ea typeface="Calibri" pitchFamily="34" charset="-122"/>
                <a:cs typeface="Calibri" pitchFamily="34" charset="-120"/>
              </a:rPr>
              <a:t> contra un segundo análisis </a:t>
            </a:r>
            <a:r>
              <a:rPr lang="en-US" sz="1300" dirty="0" err="1">
                <a:solidFill>
                  <a:srgbClr val="FFFFFF"/>
                </a:solidFill>
                <a:latin typeface="Calibri" pitchFamily="34" charset="0"/>
                <a:ea typeface="Calibri" pitchFamily="34" charset="-122"/>
                <a:cs typeface="Calibri" pitchFamily="34" charset="-120"/>
              </a:rPr>
              <a:t>independiente</a:t>
            </a:r>
            <a:r>
              <a:rPr lang="en-US" sz="1300" dirty="0">
                <a:solidFill>
                  <a:srgbClr val="FFFFFF"/>
                </a:solidFill>
                <a:latin typeface="Calibri" pitchFamily="34" charset="0"/>
                <a:ea typeface="Calibri" pitchFamily="34" charset="-122"/>
                <a:cs typeface="Calibri" pitchFamily="34" charset="-120"/>
              </a:rPr>
              <a:t> (GPT -5) y se </a:t>
            </a:r>
            <a:r>
              <a:rPr lang="en-US" sz="1300" dirty="0" err="1">
                <a:solidFill>
                  <a:srgbClr val="FFFFFF"/>
                </a:solidFill>
                <a:latin typeface="Calibri" pitchFamily="34" charset="0"/>
                <a:ea typeface="Calibri" pitchFamily="34" charset="-122"/>
                <a:cs typeface="Calibri" pitchFamily="34" charset="-120"/>
              </a:rPr>
              <a:t>enriqueció</a:t>
            </a:r>
            <a:r>
              <a:rPr lang="en-US" sz="1300" dirty="0">
                <a:solidFill>
                  <a:srgbClr val="FFFFFF"/>
                </a:solidFill>
                <a:latin typeface="Calibri" pitchFamily="34" charset="0"/>
                <a:ea typeface="Calibri" pitchFamily="34" charset="-122"/>
                <a:cs typeface="Calibri" pitchFamily="34" charset="-120"/>
              </a:rPr>
              <a:t> con </a:t>
            </a:r>
            <a:r>
              <a:rPr lang="en-US" sz="1300" dirty="0" err="1">
                <a:solidFill>
                  <a:srgbClr val="FFFFFF"/>
                </a:solidFill>
                <a:latin typeface="Calibri" pitchFamily="34" charset="0"/>
                <a:ea typeface="Calibri" pitchFamily="34" charset="-122"/>
                <a:cs typeface="Calibri" pitchFamily="34" charset="-120"/>
              </a:rPr>
              <a:t>evidencia</a:t>
            </a:r>
            <a:r>
              <a:rPr lang="en-US" sz="1300" dirty="0">
                <a:solidFill>
                  <a:srgbClr val="FFFFFF"/>
                </a:solidFill>
                <a:latin typeface="Calibri" pitchFamily="34" charset="0"/>
                <a:ea typeface="Calibri" pitchFamily="34" charset="-122"/>
                <a:cs typeface="Calibri" pitchFamily="34" charset="-120"/>
              </a:rPr>
              <a:t> cualitativa del </a:t>
            </a:r>
            <a:r>
              <a:rPr lang="en-US" sz="1300" dirty="0" err="1">
                <a:solidFill>
                  <a:srgbClr val="FFFFFF"/>
                </a:solidFill>
                <a:latin typeface="Calibri" pitchFamily="34" charset="0"/>
                <a:ea typeface="Calibri" pitchFamily="34" charset="-122"/>
                <a:cs typeface="Calibri" pitchFamily="34" charset="-120"/>
              </a:rPr>
              <a:t>negocio</a:t>
            </a:r>
            <a:r>
              <a:rPr lang="en-US" sz="1300" dirty="0">
                <a:solidFill>
                  <a:srgbClr val="FFFFFF"/>
                </a:solidFill>
                <a:latin typeface="Calibri" pitchFamily="34" charset="0"/>
                <a:ea typeface="Calibri" pitchFamily="34" charset="-122"/>
                <a:cs typeface="Calibri" pitchFamily="34" charset="-120"/>
              </a:rPr>
              <a:t>, (</a:t>
            </a:r>
            <a:r>
              <a:rPr lang="en-US" sz="1300" dirty="0" err="1">
                <a:solidFill>
                  <a:srgbClr val="FFFFFF"/>
                </a:solidFill>
                <a:latin typeface="Calibri" pitchFamily="34" charset="0"/>
                <a:ea typeface="Calibri" pitchFamily="34" charset="-122"/>
                <a:cs typeface="Calibri" pitchFamily="34" charset="-120"/>
              </a:rPr>
              <a:t>entrevistas</a:t>
            </a:r>
            <a:r>
              <a:rPr lang="en-US" sz="1300" dirty="0">
                <a:solidFill>
                  <a:srgbClr val="FFFFFF"/>
                </a:solidFill>
                <a:latin typeface="Calibri" pitchFamily="34" charset="0"/>
                <a:ea typeface="Calibri" pitchFamily="34" charset="-122"/>
                <a:cs typeface="Calibri" pitchFamily="34" charset="-120"/>
              </a:rPr>
              <a:t>).</a:t>
            </a:r>
            <a:endParaRPr lang="en-US" sz="1300" dirty="0"/>
          </a:p>
        </p:txBody>
      </p:sp>
      <p:sp>
        <p:nvSpPr>
          <p:cNvPr id="6" name="Shape 4"/>
          <p:cNvSpPr/>
          <p:nvPr/>
        </p:nvSpPr>
        <p:spPr>
          <a:xfrm>
            <a:off x="548640" y="2514600"/>
            <a:ext cx="3520440" cy="2286000"/>
          </a:xfrm>
          <a:prstGeom prst="roundRect">
            <a:avLst>
              <a:gd name="adj" fmla="val 3200"/>
            </a:avLst>
          </a:prstGeom>
          <a:solidFill>
            <a:srgbClr val="F4F6FB"/>
          </a:solidFill>
          <a:ln w="12700">
            <a:solidFill>
              <a:srgbClr val="F4F6FB"/>
            </a:solidFill>
            <a:prstDash val="solid"/>
          </a:ln>
        </p:spPr>
        <p:txBody>
          <a:bodyPr/>
          <a:lstStyle/>
          <a:p>
            <a:endParaRPr lang="es-EC"/>
          </a:p>
        </p:txBody>
      </p:sp>
      <p:sp>
        <p:nvSpPr>
          <p:cNvPr id="7" name="Shape 5"/>
          <p:cNvSpPr/>
          <p:nvPr/>
        </p:nvSpPr>
        <p:spPr>
          <a:xfrm>
            <a:off x="777240" y="2743200"/>
            <a:ext cx="384048" cy="384048"/>
          </a:xfrm>
          <a:prstGeom prst="ellipse">
            <a:avLst/>
          </a:prstGeom>
          <a:solidFill>
            <a:srgbClr val="1E2761"/>
          </a:solidFill>
          <a:ln w="12700">
            <a:solidFill>
              <a:srgbClr val="1E2761"/>
            </a:solidFill>
            <a:prstDash val="solid"/>
          </a:ln>
        </p:spPr>
        <p:txBody>
          <a:bodyPr/>
          <a:lstStyle/>
          <a:p>
            <a:endParaRPr lang="es-EC"/>
          </a:p>
        </p:txBody>
      </p:sp>
      <p:sp>
        <p:nvSpPr>
          <p:cNvPr id="8" name="Text 6"/>
          <p:cNvSpPr txBox="1"/>
          <p:nvPr/>
        </p:nvSpPr>
        <p:spPr>
          <a:xfrm>
            <a:off x="777240" y="27432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77240" y="3291840"/>
            <a:ext cx="3063240" cy="5486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KPI que medirá el éxito</a:t>
            </a:r>
            <a:endParaRPr lang="en-US" sz="1300" dirty="0"/>
          </a:p>
        </p:txBody>
      </p:sp>
      <p:sp>
        <p:nvSpPr>
          <p:cNvPr id="10" name="Text 8"/>
          <p:cNvSpPr txBox="1"/>
          <p:nvPr/>
        </p:nvSpPr>
        <p:spPr>
          <a:xfrm>
            <a:off x="777240" y="3886200"/>
            <a:ext cx="3063240" cy="822960"/>
          </a:xfrm>
          <a:prstGeom prst="rect">
            <a:avLst/>
          </a:prstGeom>
          <a:noFill/>
          <a:ln/>
        </p:spPr>
        <p:txBody>
          <a:bodyPr wrap="square" rtlCol="0" anchor="ctr"/>
          <a:lstStyle/>
          <a:p>
            <a:r>
              <a:rPr lang="en-US" sz="1000" dirty="0">
                <a:solidFill>
                  <a:srgbClr val="5B6584"/>
                </a:solidFill>
                <a:latin typeface="Calibri" pitchFamily="34" charset="0"/>
                <a:ea typeface="Calibri" pitchFamily="34" charset="-122"/>
                <a:cs typeface="Calibri" pitchFamily="34" charset="-120"/>
              </a:rPr>
              <a:t>% Cumplimiento de MRC </a:t>
            </a:r>
            <a:r>
              <a:rPr lang="en-US" sz="1000" dirty="0" err="1">
                <a:solidFill>
                  <a:srgbClr val="5B6584"/>
                </a:solidFill>
                <a:latin typeface="Calibri" pitchFamily="34" charset="0"/>
                <a:ea typeface="Calibri" pitchFamily="34" charset="-122"/>
                <a:cs typeface="Calibri" pitchFamily="34" charset="-120"/>
              </a:rPr>
              <a:t>Montly</a:t>
            </a:r>
            <a:r>
              <a:rPr lang="en-US" sz="1000" dirty="0">
                <a:solidFill>
                  <a:srgbClr val="5B6584"/>
                </a:solidFill>
                <a:latin typeface="Calibri" pitchFamily="34" charset="0"/>
                <a:ea typeface="Calibri" pitchFamily="34" charset="-122"/>
                <a:cs typeface="Calibri" pitchFamily="34" charset="-120"/>
              </a:rPr>
              <a:t> Recurring Charge - </a:t>
            </a:r>
            <a:r>
              <a:rPr lang="en-US" sz="1000" dirty="0" err="1">
                <a:solidFill>
                  <a:srgbClr val="5B6584"/>
                </a:solidFill>
                <a:latin typeface="Calibri" pitchFamily="34" charset="0"/>
                <a:ea typeface="Calibri" pitchFamily="34" charset="-122"/>
                <a:cs typeface="Calibri" pitchFamily="34" charset="-120"/>
              </a:rPr>
              <a:t>Recurrente</a:t>
            </a:r>
            <a:r>
              <a:rPr lang="en-US" sz="1000" dirty="0">
                <a:solidFill>
                  <a:srgbClr val="5B6584"/>
                </a:solidFill>
                <a:latin typeface="Calibri" pitchFamily="34" charset="0"/>
                <a:ea typeface="Calibri" pitchFamily="34" charset="-122"/>
                <a:cs typeface="Calibri" pitchFamily="34" charset="-120"/>
              </a:rPr>
              <a:t> neto elegible ponderado por calidad, con Tasa de Mala Venta y Early Churn como métricas de control — no cumplimiento bruto.</a:t>
            </a:r>
            <a:endParaRPr lang="en-US" sz="1000" dirty="0"/>
          </a:p>
        </p:txBody>
      </p:sp>
      <p:sp>
        <p:nvSpPr>
          <p:cNvPr id="11" name="Shape 9"/>
          <p:cNvSpPr/>
          <p:nvPr/>
        </p:nvSpPr>
        <p:spPr>
          <a:xfrm>
            <a:off x="4325112" y="2514600"/>
            <a:ext cx="3520440" cy="2286000"/>
          </a:xfrm>
          <a:prstGeom prst="roundRect">
            <a:avLst>
              <a:gd name="adj" fmla="val 3200"/>
            </a:avLst>
          </a:prstGeom>
          <a:solidFill>
            <a:srgbClr val="F4F6FB"/>
          </a:solidFill>
          <a:ln w="12700">
            <a:solidFill>
              <a:srgbClr val="F4F6FB"/>
            </a:solidFill>
            <a:prstDash val="solid"/>
          </a:ln>
        </p:spPr>
        <p:txBody>
          <a:bodyPr/>
          <a:lstStyle/>
          <a:p>
            <a:endParaRPr lang="es-EC"/>
          </a:p>
        </p:txBody>
      </p:sp>
      <p:sp>
        <p:nvSpPr>
          <p:cNvPr id="12" name="Shape 10"/>
          <p:cNvSpPr/>
          <p:nvPr/>
        </p:nvSpPr>
        <p:spPr>
          <a:xfrm>
            <a:off x="4553712" y="2743200"/>
            <a:ext cx="384048" cy="384048"/>
          </a:xfrm>
          <a:prstGeom prst="ellipse">
            <a:avLst/>
          </a:prstGeom>
          <a:solidFill>
            <a:srgbClr val="1E2761"/>
          </a:solidFill>
          <a:ln w="12700">
            <a:solidFill>
              <a:srgbClr val="1E2761"/>
            </a:solidFill>
            <a:prstDash val="solid"/>
          </a:ln>
        </p:spPr>
        <p:txBody>
          <a:bodyPr/>
          <a:lstStyle/>
          <a:p>
            <a:endParaRPr lang="es-EC"/>
          </a:p>
        </p:txBody>
      </p:sp>
      <p:sp>
        <p:nvSpPr>
          <p:cNvPr id="13" name="Text 11"/>
          <p:cNvSpPr txBox="1"/>
          <p:nvPr/>
        </p:nvSpPr>
        <p:spPr>
          <a:xfrm>
            <a:off x="4553712" y="27432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553712" y="3291840"/>
            <a:ext cx="3063240" cy="5486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Qué se decidió hoy</a:t>
            </a:r>
            <a:endParaRPr lang="en-US" sz="1300" dirty="0"/>
          </a:p>
        </p:txBody>
      </p:sp>
      <p:sp>
        <p:nvSpPr>
          <p:cNvPr id="15" name="Text 13"/>
          <p:cNvSpPr txBox="1"/>
          <p:nvPr/>
        </p:nvSpPr>
        <p:spPr>
          <a:xfrm>
            <a:off x="4553712" y="3886200"/>
            <a:ext cx="3063240" cy="82296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Metodología de limpieza, índice de riesgo (0–4), distribución de metas, fórmula de compensación y semáforo de alertas — documentados y editables en Excel.</a:t>
            </a:r>
            <a:endParaRPr lang="en-US" sz="1000" dirty="0"/>
          </a:p>
        </p:txBody>
      </p:sp>
      <p:sp>
        <p:nvSpPr>
          <p:cNvPr id="16" name="Shape 14"/>
          <p:cNvSpPr/>
          <p:nvPr/>
        </p:nvSpPr>
        <p:spPr>
          <a:xfrm>
            <a:off x="8101584" y="2514600"/>
            <a:ext cx="3520440" cy="2286000"/>
          </a:xfrm>
          <a:prstGeom prst="roundRect">
            <a:avLst>
              <a:gd name="adj" fmla="val 3200"/>
            </a:avLst>
          </a:prstGeom>
          <a:solidFill>
            <a:srgbClr val="F4F6FB"/>
          </a:solidFill>
          <a:ln w="12700">
            <a:solidFill>
              <a:srgbClr val="F4F6FB"/>
            </a:solidFill>
            <a:prstDash val="solid"/>
          </a:ln>
        </p:spPr>
        <p:txBody>
          <a:bodyPr/>
          <a:lstStyle/>
          <a:p>
            <a:endParaRPr lang="es-EC"/>
          </a:p>
        </p:txBody>
      </p:sp>
      <p:sp>
        <p:nvSpPr>
          <p:cNvPr id="17" name="Shape 15"/>
          <p:cNvSpPr/>
          <p:nvPr/>
        </p:nvSpPr>
        <p:spPr>
          <a:xfrm>
            <a:off x="8330184" y="2743200"/>
            <a:ext cx="384048" cy="384048"/>
          </a:xfrm>
          <a:prstGeom prst="ellipse">
            <a:avLst/>
          </a:prstGeom>
          <a:solidFill>
            <a:srgbClr val="1E2761"/>
          </a:solidFill>
          <a:ln w="12700">
            <a:solidFill>
              <a:srgbClr val="1E2761"/>
            </a:solidFill>
            <a:prstDash val="solid"/>
          </a:ln>
        </p:spPr>
        <p:txBody>
          <a:bodyPr/>
          <a:lstStyle/>
          <a:p>
            <a:endParaRPr lang="es-EC"/>
          </a:p>
        </p:txBody>
      </p:sp>
      <p:sp>
        <p:nvSpPr>
          <p:cNvPr id="18" name="Text 16"/>
          <p:cNvSpPr txBox="1"/>
          <p:nvPr/>
        </p:nvSpPr>
        <p:spPr>
          <a:xfrm>
            <a:off x="8330184" y="2743200"/>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30184" y="3291840"/>
            <a:ext cx="3063240" cy="5486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Próxima revisión propuesta</a:t>
            </a:r>
            <a:endParaRPr lang="en-US" sz="1300" dirty="0"/>
          </a:p>
        </p:txBody>
      </p:sp>
      <p:sp>
        <p:nvSpPr>
          <p:cNvPr id="20" name="Text 18"/>
          <p:cNvSpPr txBox="1"/>
          <p:nvPr/>
        </p:nvSpPr>
        <p:spPr>
          <a:xfrm>
            <a:off x="8330184" y="3886200"/>
            <a:ext cx="3063240" cy="822960"/>
          </a:xfrm>
          <a:prstGeom prst="rect">
            <a:avLst/>
          </a:prstGeom>
          <a:noFill/>
          <a:ln/>
        </p:spPr>
        <p:txBody>
          <a:bodyPr wrap="square" rtlCol="0" anchor="ctr"/>
          <a:lstStyle/>
          <a:p>
            <a:pPr marL="0" indent="0">
              <a:buNone/>
            </a:pPr>
            <a:r>
              <a:rPr lang="en-US" sz="1000" dirty="0">
                <a:solidFill>
                  <a:srgbClr val="5B6584"/>
                </a:solidFill>
                <a:latin typeface="Calibri" pitchFamily="34" charset="0"/>
                <a:ea typeface="Calibri" pitchFamily="34" charset="-122"/>
                <a:cs typeface="Calibri" pitchFamily="34" charset="-120"/>
              </a:rPr>
              <a:t>30 días: validar con Comercial/Finanzas la meta oficial (70K) y el piloto en un centro de costo. 90 días: primer corte de resultados reales vs. el modelo.</a:t>
            </a:r>
            <a:endParaRPr lang="en-US" sz="1000" dirty="0"/>
          </a:p>
        </p:txBody>
      </p:sp>
      <p:sp>
        <p:nvSpPr>
          <p:cNvPr id="21" name="Shape 19"/>
          <p:cNvSpPr/>
          <p:nvPr/>
        </p:nvSpPr>
        <p:spPr>
          <a:xfrm>
            <a:off x="557784" y="5180076"/>
            <a:ext cx="11064240" cy="612648"/>
          </a:xfrm>
          <a:prstGeom prst="roundRect">
            <a:avLst>
              <a:gd name="adj" fmla="val 8000"/>
            </a:avLst>
          </a:prstGeom>
          <a:solidFill>
            <a:srgbClr val="EAF1F8"/>
          </a:solidFill>
          <a:ln w="12700">
            <a:solidFill>
              <a:srgbClr val="EAF1F8"/>
            </a:solidFill>
            <a:prstDash val="solid"/>
          </a:ln>
        </p:spPr>
        <p:txBody>
          <a:bodyPr/>
          <a:lstStyle/>
          <a:p>
            <a:r>
              <a:rPr lang="es-EC" sz="1400" b="1" dirty="0" err="1"/>
              <a:t>tiene_tarjeta</a:t>
            </a:r>
            <a:r>
              <a:rPr lang="es-EC" sz="1400" dirty="0"/>
              <a:t> y </a:t>
            </a:r>
            <a:r>
              <a:rPr lang="es-EC" sz="1400" b="1" dirty="0" err="1"/>
              <a:t>estado_potencia_cliente</a:t>
            </a:r>
            <a:r>
              <a:rPr lang="es-EC" sz="1400" dirty="0"/>
              <a:t> — no se usaron en ningún cálculo. </a:t>
            </a:r>
            <a:r>
              <a:rPr lang="es-EC" sz="1400" i="1" dirty="0"/>
              <a:t>"no se encontró una hipótesis de negocio clara para incorporarlos en esta primera versión — quedan como candidatos para una futura iteración del modelo."</a:t>
            </a:r>
            <a:endParaRPr lang="es-EC" dirty="0"/>
          </a:p>
        </p:txBody>
      </p:sp>
      <p:sp>
        <p:nvSpPr>
          <p:cNvPr id="23" name="Text 21"/>
          <p:cNvSpPr txBox="1"/>
          <p:nvPr/>
        </p:nvSpPr>
        <p:spPr>
          <a:xfrm>
            <a:off x="457200" y="6446520"/>
            <a:ext cx="6400800" cy="274320"/>
          </a:xfrm>
          <a:prstGeom prst="rect">
            <a:avLst/>
          </a:prstGeom>
          <a:noFill/>
          <a:ln/>
        </p:spPr>
        <p:txBody>
          <a:bodyPr wrap="square" rtlCol="0" anchor="ctr"/>
          <a:lstStyle/>
          <a:p>
            <a:pPr marL="0" indent="0">
              <a:buNone/>
            </a:pPr>
            <a:r>
              <a:rPr lang="en-US" sz="900" dirty="0">
                <a:solidFill>
                  <a:srgbClr val="5B6584"/>
                </a:solidFill>
                <a:latin typeface="Calibri" pitchFamily="34" charset="0"/>
                <a:ea typeface="Calibri" pitchFamily="34" charset="-122"/>
                <a:cs typeface="Calibri" pitchFamily="34" charset="-120"/>
              </a:rPr>
              <a:t>PUNTONET · Caso DBA — Gobierno de Datos</a:t>
            </a:r>
            <a:endParaRPr lang="en-US" sz="900" dirty="0"/>
          </a:p>
        </p:txBody>
      </p:sp>
      <p:sp>
        <p:nvSpPr>
          <p:cNvPr id="24" name="Text 22"/>
          <p:cNvSpPr txBox="1"/>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41B45"/>
          </a:solidFill>
          <a:ln w="12700">
            <a:solidFill>
              <a:srgbClr val="141B45"/>
            </a:solidFill>
            <a:prstDash val="solid"/>
          </a:ln>
        </p:spPr>
        <p:txBody>
          <a:bodyPr/>
          <a:lstStyle/>
          <a:p>
            <a:endParaRPr lang="es-EC"/>
          </a:p>
        </p:txBody>
      </p:sp>
      <p:sp>
        <p:nvSpPr>
          <p:cNvPr id="3" name="Text 1"/>
          <p:cNvSpPr txBox="1"/>
          <p:nvPr/>
        </p:nvSpPr>
        <p:spPr>
          <a:xfrm>
            <a:off x="-1371600" y="-1371600"/>
            <a:ext cx="4114800" cy="4114800"/>
          </a:xfrm>
          <a:prstGeom prst="rect">
            <a:avLst/>
          </a:prstGeom>
          <a:noFill/>
          <a:ln/>
        </p:spPr>
        <p:txBody>
          <a:bodyPr wrap="square" rtlCol="0" anchor="ctr"/>
          <a:lstStyle/>
          <a:p>
            <a:pPr marL="0" indent="0" algn="ctr">
              <a:buNone/>
            </a:pPr>
            <a:endParaRPr lang="en-US" sz="100" dirty="0"/>
          </a:p>
        </p:txBody>
      </p:sp>
      <p:sp>
        <p:nvSpPr>
          <p:cNvPr id="4" name="Shape 2"/>
          <p:cNvSpPr/>
          <p:nvPr/>
        </p:nvSpPr>
        <p:spPr>
          <a:xfrm>
            <a:off x="10515600" y="4846320"/>
            <a:ext cx="3291840" cy="3291840"/>
          </a:xfrm>
          <a:prstGeom prst="ellipse">
            <a:avLst/>
          </a:prstGeom>
          <a:solidFill>
            <a:srgbClr val="141B45"/>
          </a:solidFill>
          <a:ln w="12700">
            <a:solidFill>
              <a:srgbClr val="141B45"/>
            </a:solidFill>
            <a:prstDash val="solid"/>
          </a:ln>
        </p:spPr>
        <p:txBody>
          <a:bodyPr/>
          <a:lstStyle/>
          <a:p>
            <a:endParaRPr lang="es-EC"/>
          </a:p>
        </p:txBody>
      </p:sp>
      <p:sp>
        <p:nvSpPr>
          <p:cNvPr id="5" name="Text 3"/>
          <p:cNvSpPr txBox="1"/>
          <p:nvPr/>
        </p:nvSpPr>
        <p:spPr>
          <a:xfrm>
            <a:off x="10515600" y="4846320"/>
            <a:ext cx="3291840" cy="3291840"/>
          </a:xfrm>
          <a:prstGeom prst="rect">
            <a:avLst/>
          </a:prstGeom>
          <a:noFill/>
          <a:ln/>
        </p:spPr>
        <p:txBody>
          <a:bodyPr wrap="square" rtlCol="0" anchor="ctr"/>
          <a:lstStyle/>
          <a:p>
            <a:pPr marL="0" indent="0" algn="ctr">
              <a:buNone/>
            </a:pPr>
            <a:endParaRPr lang="en-US" sz="100" dirty="0"/>
          </a:p>
        </p:txBody>
      </p:sp>
      <p:sp>
        <p:nvSpPr>
          <p:cNvPr id="6" name="Text 4"/>
          <p:cNvSpPr txBox="1"/>
          <p:nvPr/>
        </p:nvSpPr>
        <p:spPr>
          <a:xfrm>
            <a:off x="4663440" y="1256097"/>
            <a:ext cx="3845293" cy="914400"/>
          </a:xfrm>
          <a:prstGeom prst="rect">
            <a:avLst/>
          </a:prstGeom>
          <a:noFill/>
          <a:ln/>
        </p:spPr>
        <p:txBody>
          <a:bodyPr wrap="square" rtlCol="0" anchor="ctr"/>
          <a:lstStyle/>
          <a:p>
            <a:pPr marL="0" indent="0">
              <a:buNone/>
            </a:pPr>
            <a:r>
              <a:rPr lang="en-US" sz="4000" b="1" dirty="0" err="1">
                <a:solidFill>
                  <a:srgbClr val="FFFFFF"/>
                </a:solidFill>
                <a:latin typeface="Cambria" pitchFamily="34" charset="0"/>
                <a:ea typeface="Cambria" pitchFamily="34" charset="-122"/>
                <a:cs typeface="Cambria" pitchFamily="34" charset="-120"/>
              </a:rPr>
              <a:t>Muchas</a:t>
            </a:r>
            <a:r>
              <a:rPr lang="en-US" sz="4000" b="1" dirty="0">
                <a:solidFill>
                  <a:srgbClr val="FFFFFF"/>
                </a:solidFill>
                <a:latin typeface="Cambria" pitchFamily="34" charset="0"/>
                <a:ea typeface="Cambria" pitchFamily="34" charset="-122"/>
                <a:cs typeface="Cambria" pitchFamily="34" charset="-120"/>
              </a:rPr>
              <a:t> Gracias</a:t>
            </a:r>
            <a:endParaRPr lang="en-US" sz="4000" dirty="0"/>
          </a:p>
        </p:txBody>
      </p:sp>
      <p:sp>
        <p:nvSpPr>
          <p:cNvPr id="11" name="Text 9"/>
          <p:cNvSpPr txBox="1"/>
          <p:nvPr/>
        </p:nvSpPr>
        <p:spPr>
          <a:xfrm>
            <a:off x="577516" y="3099335"/>
            <a:ext cx="10058400" cy="640080"/>
          </a:xfrm>
          <a:prstGeom prst="rect">
            <a:avLst/>
          </a:prstGeom>
          <a:noFill/>
          <a:ln/>
        </p:spPr>
        <p:txBody>
          <a:bodyPr wrap="square" rtlCol="0" anchor="ctr"/>
          <a:lstStyle/>
          <a:p>
            <a:pPr marL="0" indent="0">
              <a:buNone/>
            </a:pPr>
            <a:r>
              <a:rPr lang="en-US" b="1" i="1" dirty="0">
                <a:solidFill>
                  <a:srgbClr val="FFFFFF"/>
                </a:solidFill>
                <a:latin typeface="Cambria" pitchFamily="34" charset="0"/>
                <a:ea typeface="Cambria" pitchFamily="34" charset="-122"/>
                <a:cs typeface="Cambria" pitchFamily="34" charset="-120"/>
              </a:rPr>
              <a:t>“No basta con vender: </a:t>
            </a:r>
            <a:r>
              <a:rPr lang="en-US" i="1" dirty="0">
                <a:solidFill>
                  <a:srgbClr val="CADCFC"/>
                </a:solidFill>
                <a:latin typeface="Cambria" pitchFamily="34" charset="0"/>
                <a:ea typeface="Cambria" pitchFamily="34" charset="-122"/>
                <a:cs typeface="Cambria" pitchFamily="34" charset="-120"/>
              </a:rPr>
              <a:t>la venta debe permanecer y generar valor.”</a:t>
            </a:r>
            <a:endParaRPr lang="en-US" dirty="0"/>
          </a:p>
        </p:txBody>
      </p:sp>
      <p:sp>
        <p:nvSpPr>
          <p:cNvPr id="12" name="Text 10"/>
          <p:cNvSpPr txBox="1"/>
          <p:nvPr/>
        </p:nvSpPr>
        <p:spPr>
          <a:xfrm>
            <a:off x="731520" y="4937760"/>
            <a:ext cx="731520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Sandra Villamarín Méndez  ·  Data Business Analyst  ·  PUNTONET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1070</TotalTime>
  <Words>3462</Words>
  <Application>Microsoft Office PowerPoint</Application>
  <PresentationFormat>Panorámica</PresentationFormat>
  <Paragraphs>345</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Sandra Elizabeth Villamarin Mendez</cp:lastModifiedBy>
  <cp:revision>1</cp:revision>
  <dcterms:created xsi:type="dcterms:W3CDTF">2026-09-16T17:31:11Z</dcterms:created>
  <dcterms:modified xsi:type="dcterms:W3CDTF">2026-09-17T16:59:41Z</dcterms:modified>
</cp:coreProperties>
</file>